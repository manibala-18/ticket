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0F62FE"/>
              </a:solidFill>
              <a:effectLst/>
            </c:spPr>
          </c:dPt>
          <c:dPt>
            <c:idx val="1"/>
            <c:bubble3D val="0"/>
            <c:spPr>
              <a:solidFill>
                <a:srgbClr val="007D79"/>
              </a:solidFill>
              <a:effectLst/>
            </c:spPr>
          </c:dPt>
          <c:dPt>
            <c:idx val="2"/>
            <c:bubble3D val="0"/>
            <c:spPr>
              <a:solidFill>
                <a:srgbClr val="0043CE"/>
              </a:solidFill>
              <a:effectLst/>
            </c:spPr>
          </c:dPt>
          <c:dPt>
            <c:idx val="3"/>
            <c:bubble3D val="0"/>
            <c:spPr>
              <a:solidFill>
                <a:srgbClr val="E0E0E0"/>
              </a:solidFill>
              <a:effectLst/>
            </c:spPr>
          </c:dPt>
          <c:dLbls>
            <c:dLbl>
              <c:idx val="0"/>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N</c:v>
                </c:pt>
                <c:pt idx="1">
                  <c:v>S</c:v>
                </c:pt>
                <c:pt idx="2">
                  <c:v>E</c:v>
                </c:pt>
                <c:pt idx="3">
                  <c:v>W</c:v>
                </c:pt>
              </c:strCache>
            </c:strRef>
          </c:cat>
          <c:val>
            <c:numRef>
              <c:f>Sheet1!$B$2:$B$5</c:f>
              <c:numCache>
                <c:ptCount val="4"/>
                <c:pt idx="0">
                  <c:v>35</c:v>
                </c:pt>
                <c:pt idx="1">
                  <c:v>25</c:v>
                </c:pt>
                <c:pt idx="2">
                  <c:v>20</c:v>
                </c:pt>
                <c:pt idx="3">
                  <c:v>20</c:v>
                </c:pt>
              </c:numCache>
            </c:numRef>
          </c:val>
        </c:ser>
        <c:firstSliceAng val="0"/>
      </c:pieChart>
      <c:spPr>
        <a:noFill/>
        <a:ln>
          <a:noFill/>
        </a:ln>
        <a:effectLst/>
      </c:spPr>
    </c:plotArea>
    <c:legend>
      <c:legendPos val="b"/>
      <c:overlay val="0"/>
      <c:txPr>
        <a:bodyPr/>
        <a:lstStyle/>
        <a:p>
          <a:pPr>
            <a:defRPr sz="7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this Knowledge Transfer session on IBM Cognos Analytics. Introduce yourself briefly, mention your role and experience with Cognos. Explain that this session is designed for IT professionals who may be new to Cognos but already understand general software and reporting concepts. Set expectations: this will be a 30-40 minute practical overview covering architecture, reporting, dashboards, administration, and career relevance, with time for Q&amp;A at the end. Encourage attendees to ask questions as we go or hold them for the Q&amp;A slide. Speak for about 1-2 minutes here before moving to the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today's agenda at a high level: we'll start with what Cognos is and how it evolved, then move into the architecture and core components so you understand how a request flows end to end. After that we'll cover the user interface and how content is organized, then spend good time on reporting, dashboards and data modules since that's what most of you will use day to day. We'll close with automation, security, performance, integrations, real-world industry use cases, and finish with best practices, career guidance and open Q&amp;A. Mention that speaker notes are available and this session runs about 30-40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IBM Cognos Analytics is a web-based BI suite — a single platform to report, analyze, visualize, and monitor business performance. Explain in simple terms: instead of many teams building their own spreadsheets, Cognos centralizes reporting so everyone works from the same trusted numbers. Purpose: convert raw data from ERP, CRM, and database systems into reports and dashboards that support decisions. Why organizations use it: enterprise reporting plus self-service analytics plus AI-assisted insights, all governed centrally so data stays secure and consistent. Give the retail example — replacing scattered spreadsheets with one governed dashboard. Keep this to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Cognos has a long history — founded in 1969, acquired by IBM in 2008. The classic 'Cognos BI' era had separate authoring tools: Report Studio for reports, Query Studio for ad hoc queries, and Analysis Studio for OLAP analysis — this meant switching tools for different tasks. Cognos Analytics, from version 11 onward, unified all of this into one modern web interface accessible on desktop and mobile. Today's version, Cognos Analytics 12, adds AI capabilities: an AI Assistant that answers natural-language questions, automated insights, and forecasting. Emphasize the key contrast: many disconnected tools versus one unified, intelligent workspace.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architecture diagram shows how a user request flows through Cognos. A user opens the web portal in a browser or mobile app. The request first hits the Gateway, which is the web-server entry point, then passes to the Dispatcher, which routes it to the right service. Inside the Application Tier we have several services: Content Manager, which stores all metadata, security and configuration in the Content Store database; the Report Service, which renders reports on demand; the Batch Report Service, which runs scheduled and bursted jobs; and the Query Service, which executes the actual data queries against source databases. Emphasize: Content Manager is the brain that holds everything together, while Report and Query services do the heavy lifting. This slide typically takes closer to 2-3 minutes since it's foundational.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each core component individually. The Cognos Portal is simply the web interface everyone logs into. Content Manager is the most important service — it stores all metadata, security settings and configuration in the Content Store database. The Dispatcher receives every incoming request and decides which service should handle it. The Gateway sits at the very front, between the web server and Cognos. Query Service executes the actual data queries. Batch Report Service handles anything scheduled or bursted, running in the background. Report Service renders reports live when a user requests them. Reassure the audience: you don't need to memorize every internal detail, just understand each component's role so that when you troubleshoot or read logs, you know which layer to look at.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an illustrative Cognos Analytics welcome page. On the left is a mock browser view — note the top search bar, which doubles as a natural-language question box, and navigation tabs for Home, Recent, My Content, and Team Content. Walk through the right-hand list: the Welcome Page is your personalized landing page; Navigation is the left-side menu; Team Content is shared, governed content the organization curates, while My Content is your personal workspace; Recent gives quick access to items you opened lately; Search finds anything across the system; and the AI Assistant lets you type a plain-English question and get an instant chart or number back. Encourage the audience to explore these tabs hands-on after the session.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in Cognos is organized in a tree, similar to a file system. At the top is the Content Store. Underneath, every user has My Content — a personal, private workspace — and there is Team Content, which is shared and governed by the organization. Inside both, content is organized using Folders, much like file directories. Packages are special: they are published metadata models — built in Framework Manager or as Data Modules — that report authors connect to as their data source. Security is applied at the folder and object level, so administrators control exactly who can view, edit, or run each item. Cognos also keeps version history, so if someone accidentally overwrites a report, earlier versions can be restored. About 1.5 to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Framework Manager is a desktop authoring tool used to build the metadata layer that sits between raw databases and report authors. Its purpose is to shield authors from database complexity. Metadata modeling means importing tables and organizing them into a clean business model. In our example, we import the Customers and Orders tables and define a one-to-many relationship between them through Customer ID. The business layer then renames technical column names, like CUST_ID, into friendly labels like 'Customer ID', so nobody writing a report needs to know SQL. Once the model is complete, it's published as a package — here, a 'Sales Analysis' package — which report authors then use as their data source. Mention best practices: clear naming, using determinants to prevent duplicate rows, and testing before publishing.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Cognos supports many report types, each suited to a different need. A List report is a simple tabular listing — think a transaction log. A Crosstab is a pivot-style summary, useful for comparing Region against Month, for example. Charts — bar, line, pie — visualize trends. Maps plot data geographically, like sales by state. A Repeater repeats a layout once per record, handy for product catalogs. Active Reports are highly interactive and can even work offline, embedding filters directly in the file. Drill-through lets a user click a summary number and jump straight into the underlying transaction detail — for example, from a regional total down to individual invoices. Use the finance example on screen to tie it together.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Dashboards in Cognos are built by dragging widgets onto a canvas. Widgets can be charts, lists, images, or KPI cards, as shown in this illustrative sales dashboard with revenue, growth, order count, and SLA KPIs. Visualizations are auto-suggested based on the shape of your data — bar charts for trends, pie charts for share of total, and so on. Filters, shown at the top of the mockup, let a viewer slice the whole dashboard by region, quarter, or product without editing anything. Drill-down lets you click into a chart segment for more detail, and every widget on a dashboard stays linked — changing one filter updates all the visuals at once. This interactivity is what makes dashboards more powerful than static reports for day-to-day monitoring.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Modules are a newer, web-based alternative to Framework Manager. Where Framework Manager is an IT-managed desktop tool best suited for large, governed, enterprise-wide models, Data Modules let business users build their own lightweight model directly in the browser — much faster to create and iterate on. Key capabilities include joins, where you visually connect two tables like Orders and Products; calculations, such as creating a Profit field from Revenue minus Cost; the ability to upload an Excel or CSV file directly as a data source; and blending that uploaded file with governed enterprise data for true self-service analytics. The rule of thumb: Framework Manager for IT-governed enterprise models, Data Modules for faster, self-service work.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how report authors shape data inside a report. Query subjects are essentially virtual tables — named sets of data items pulled together for a report. Filters restrict rows, for example showing only West region records. Prompts ask the user for input, like a date range, before the report runs; parameters are the values that get passed in behind the scenes. Calculations create new derived fields, such as Profit. Aggregations summarize data using Sum, Average, or Count. Sorting arranges rows, and Grouping clusters rows under a shared value, like grouping orders by region. Walk through the practical example at the bottom, which combines all of these into one realistic sales report.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Automation is one of the most valuable features for reducing manual work. Scheduled reports run automatically on a recurring calendar — daily, weekly, or monthly. Event-driven execution goes further, triggering a report the moment a business event happens, such as a nightly data load finishing. Once a report runs, Email Delivery sends it out as an attachment or a link to a distribution list. Burst Reports take this even further by splitting a single run into personalized copies — for instance, generating one PDF per regional manager, each containing only that manager's data. Report History logs every run so administrators can audit successes and failures and re-run anything that failed. Walk through the finance month-end example to make this concrete.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in Cognos works in layers. Authentication verifies who you are, usually via LDAP, Active Directory, or single sign-on. Authorization then determines what that authenticated user is allowed to access. To manage this at scale, users are bundled into Roles and Groups so permissions can be assigned in bulk rather than one user at a time. Permissions themselves are fine-grained — Read, Write, Execute, and Traverse rights on each object. On the right: Folder Security lets administrators control access at the folder or report level, often inherited from a parent folder. Row-Level Security is powerful — it filters which rows a user sees within the same report, so a regional manager only sees their own region's data. Audit Logging tracks logins, report executions, and administrative changes, which matters for compliance in regulated industries like banking and insurance.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matters once reports scale to hundreds of users. Query optimization means pulling only the columns and rows actually needed — avoid 'select all' style reports. Prompt usage lets you filter data early, before the heavy processing happens, rather than pulling everything and filtering client-side. Indexing on source database tables speeds up filtering, sorting, and joins dramatically. Caching allows Cognos to reuse a recently generated result instead of hitting the database again for the same request. Pagination loads large lists a page at a time instead of rendering thousands of rows in one go. And avoiding unnecessary joins keeps queries lean — every additional join adds processing overhead. For troubleshooting, the tip at the bottom is a good habit: check the query plan and filters before assuming it's a hardware problem.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Cognos connects to a wide range of data sources, shown here as spokes around the platform. On the database side: Oracle, SQL Server, and DB2 are common enterprise relational databases. SAP is frequently used for ERP data. Salesforce represents cloud CRM data. Excel and CSV let business users bring in simple file-based data. Cloud Sources covers modern cloud data warehouses and storage. On top of all this, Cognos exposes REST APIs, so developers can embed reports inside other applications, automate administrative tasks, or extract data programmatically. The key takeaway on the right: organizations don't need to move every piece of data into one warehouse before reporting on it — Cognos can connect to many systems directly, and business users can blend cloud, on-premises, and file data in the same analysis.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Cognos is used across many industries. In Banking, it powers loan portfolio risk reports, branch performance dashboards, and regulatory disclosures. Insurance companies build claims trend analysis, underwriting profitability views, and fraud detection dashboards. Retail organizations rely on sales and inventory dashboards, store comparisons, and demand forecasts. Healthcare providers track patient outcomes, bed occupancy, and staffing compliance. Manufacturing uses it for production yield, downtime analysis, and supply-chain performance. And Finance teams build budget-versus-actuals, month-end close, and cash-flow forecasting reports. The common thread: every industry uses the same platform and skills — reports, dashboards, and data modules — just pointed at different business questions.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table gives a balanced view. IBM Cognos is strong in enterprise reporting, scheduling and bursting, and security and governance — areas that matter for large regulated organizations. Power BI and Tableau tend to be stronger in fast, visual-first self-service analytics, and their AI and natural-language capabilities are evolving quickly too. In terms of limitations, Cognos has a steeper learning curve for full report authoring and typically requires heavier administration than cloud-native tools. Power BI or Tableau may fit better for smaller teams that want fast visual self-service, or organizations already standardized on the Microsoft or Salesforce/Tableau ecosystem. The message for the audience: choose the tool based on organizational needs, not brand preference.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let's cover best practices, career scope, and open the floor for questions. Best practices: model your data once and reuse it everywhere, apply row-level security rather than duplicating reports per region, use prompts and filters to keep things fast, and document your packages and schedules so the next person can maintain them. For interview preparation, be ready to explain the architecture end-to-end, the difference between Framework Manager and Data Modules, how row-level security works, and what bursting is. In terms of career roadmap, most people start as a Report Author, grow into a BI Developer, then a Cognos Administrator, and eventually a BI Architect or Lead role. Point people to IBM's official documentation and community forums for continued learning, and this recorded session for reference. Finally, open the floor for Q&amp;A — thank the group for attending. This closing slide can run about 2-3 minutes plus open Q&amp;A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slideLayout" Target="../slideLayouts/slideLayout1.xml"/><Relationship Id="rId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image" Target="../media/image-11-5.png"/><Relationship Id="rId7" Type="http://schemas.openxmlformats.org/officeDocument/2006/relationships/image" Target="../media/image-11-6.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2.png"/><Relationship Id="rId4" Type="http://schemas.openxmlformats.org/officeDocument/2006/relationships/image" Target="../media/image-17-2.png"/><Relationship Id="rId5" Type="http://schemas.openxmlformats.org/officeDocument/2006/relationships/image" Target="../media/image-17-1.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slideLayout" Target="../slideLayouts/slideLayout1.xml"/><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141"/>
        </a:solidFill>
      </p:bgPr>
    </p:bg>
    <p:spTree>
      <p:nvGrpSpPr>
        <p:cNvPr id="1" name=""/>
        <p:cNvGrpSpPr/>
        <p:nvPr/>
      </p:nvGrpSpPr>
      <p:grpSpPr>
        <a:xfrm>
          <a:off x="0" y="0"/>
          <a:ext cx="0" cy="0"/>
          <a:chOff x="0" y="0"/>
          <a:chExt cx="0" cy="0"/>
        </a:xfrm>
      </p:grpSpPr>
      <p:sp>
        <p:nvSpPr>
          <p:cNvPr id="2" name="Shape 0"/>
          <p:cNvSpPr/>
          <p:nvPr/>
        </p:nvSpPr>
        <p:spPr>
          <a:xfrm>
            <a:off x="9692640" y="-1188720"/>
            <a:ext cx="3840480" cy="3840480"/>
          </a:xfrm>
          <a:prstGeom prst="ellipse">
            <a:avLst/>
          </a:prstGeom>
          <a:solidFill>
            <a:srgbClr val="0043CE"/>
          </a:solidFill>
          <a:ln/>
        </p:spPr>
      </p:sp>
      <p:sp>
        <p:nvSpPr>
          <p:cNvPr id="3" name="Shape 1"/>
          <p:cNvSpPr/>
          <p:nvPr/>
        </p:nvSpPr>
        <p:spPr>
          <a:xfrm>
            <a:off x="10607040" y="4937760"/>
            <a:ext cx="2743200" cy="2743200"/>
          </a:xfrm>
          <a:prstGeom prst="ellipse">
            <a:avLst/>
          </a:prstGeom>
          <a:solidFill>
            <a:srgbClr val="0F62FE"/>
          </a:solidFill>
          <a:ln/>
        </p:spPr>
      </p:sp>
      <p:sp>
        <p:nvSpPr>
          <p:cNvPr id="4" name="Shape 2"/>
          <p:cNvSpPr/>
          <p:nvPr/>
        </p:nvSpPr>
        <p:spPr>
          <a:xfrm>
            <a:off x="-1097280" y="5303520"/>
            <a:ext cx="2377440" cy="2377440"/>
          </a:xfrm>
          <a:prstGeom prst="ellipse">
            <a:avLst/>
          </a:prstGeom>
          <a:solidFill>
            <a:srgbClr val="0043CE"/>
          </a:solidFill>
          <a:ln/>
        </p:spPr>
      </p:sp>
      <p:sp>
        <p:nvSpPr>
          <p:cNvPr id="5" name="Text 3"/>
          <p:cNvSpPr/>
          <p:nvPr/>
        </p:nvSpPr>
        <p:spPr>
          <a:xfrm>
            <a:off x="822960" y="1965960"/>
            <a:ext cx="7315200" cy="365760"/>
          </a:xfrm>
          <a:prstGeom prst="rect">
            <a:avLst/>
          </a:prstGeom>
          <a:noFill/>
          <a:ln/>
        </p:spPr>
        <p:txBody>
          <a:bodyPr wrap="square" rtlCol="0" anchor="ctr"/>
          <a:lstStyle/>
          <a:p>
            <a:pPr indent="0" marL="0">
              <a:buNone/>
            </a:pPr>
            <a:r>
              <a:rPr lang="en-US" sz="1400" b="1" spc="200" kern="0" dirty="0">
                <a:solidFill>
                  <a:srgbClr val="D0E2FF"/>
                </a:solidFill>
                <a:latin typeface="Calibri" pitchFamily="34" charset="0"/>
                <a:ea typeface="Calibri" pitchFamily="34" charset="-122"/>
                <a:cs typeface="Calibri" pitchFamily="34" charset="-120"/>
              </a:rPr>
              <a:t>KNOWLEDGE TRANSFER SESSION</a:t>
            </a:r>
            <a:endParaRPr lang="en-US" sz="1400" dirty="0"/>
          </a:p>
        </p:txBody>
      </p:sp>
      <p:sp>
        <p:nvSpPr>
          <p:cNvPr id="6" name="Text 4"/>
          <p:cNvSpPr/>
          <p:nvPr/>
        </p:nvSpPr>
        <p:spPr>
          <a:xfrm>
            <a:off x="777240" y="2377440"/>
            <a:ext cx="9601200" cy="100584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IBM Cognos Analytics</a:t>
            </a:r>
            <a:endParaRPr lang="en-US" sz="4800" dirty="0"/>
          </a:p>
        </p:txBody>
      </p:sp>
      <p:sp>
        <p:nvSpPr>
          <p:cNvPr id="7" name="Text 5"/>
          <p:cNvSpPr/>
          <p:nvPr/>
        </p:nvSpPr>
        <p:spPr>
          <a:xfrm>
            <a:off x="822960" y="3246120"/>
            <a:ext cx="9601200" cy="731520"/>
          </a:xfrm>
          <a:prstGeom prst="rect">
            <a:avLst/>
          </a:prstGeom>
          <a:noFill/>
          <a:ln/>
        </p:spPr>
        <p:txBody>
          <a:bodyPr wrap="square" rtlCol="0" anchor="ctr"/>
          <a:lstStyle/>
          <a:p>
            <a:pPr indent="0" marL="0">
              <a:buNone/>
            </a:pPr>
            <a:r>
              <a:rPr lang="en-US" sz="3200" b="1" dirty="0">
                <a:solidFill>
                  <a:srgbClr val="0F62FE"/>
                </a:solidFill>
                <a:latin typeface="Cambria" pitchFamily="34" charset="0"/>
                <a:ea typeface="Cambria" pitchFamily="34" charset="-122"/>
                <a:cs typeface="Cambria" pitchFamily="34" charset="-120"/>
              </a:rPr>
              <a:t>Overview</a:t>
            </a:r>
            <a:endParaRPr lang="en-US" sz="3200" dirty="0"/>
          </a:p>
        </p:txBody>
      </p:sp>
      <p:sp>
        <p:nvSpPr>
          <p:cNvPr id="8" name="Shape 6"/>
          <p:cNvSpPr/>
          <p:nvPr/>
        </p:nvSpPr>
        <p:spPr>
          <a:xfrm>
            <a:off x="822960" y="4160520"/>
            <a:ext cx="2011680" cy="36576"/>
          </a:xfrm>
          <a:prstGeom prst="rect">
            <a:avLst/>
          </a:prstGeom>
          <a:solidFill>
            <a:srgbClr val="0F62FE"/>
          </a:solidFill>
          <a:ln/>
        </p:spPr>
      </p:sp>
      <p:sp>
        <p:nvSpPr>
          <p:cNvPr id="9" name="Text 7"/>
          <p:cNvSpPr/>
          <p:nvPr/>
        </p:nvSpPr>
        <p:spPr>
          <a:xfrm>
            <a:off x="822960" y="4343400"/>
            <a:ext cx="8046720" cy="548640"/>
          </a:xfrm>
          <a:prstGeom prst="rect">
            <a:avLst/>
          </a:prstGeom>
          <a:noFill/>
          <a:ln/>
        </p:spPr>
        <p:txBody>
          <a:bodyPr wrap="square" rtlCol="0" anchor="ctr"/>
          <a:lstStyle/>
          <a:p>
            <a:pPr indent="0" marL="0">
              <a:buNone/>
            </a:pPr>
            <a:r>
              <a:rPr lang="en-US" sz="1500" dirty="0">
                <a:solidFill>
                  <a:srgbClr val="E0E0E0"/>
                </a:solidFill>
                <a:latin typeface="Calibri" pitchFamily="34" charset="0"/>
                <a:ea typeface="Calibri" pitchFamily="34" charset="-122"/>
                <a:cs typeface="Calibri" pitchFamily="34" charset="-120"/>
              </a:rPr>
              <a:t>A practical walkthrough of architecture, reporting, dashboards, administration and best practices</a:t>
            </a:r>
            <a:endParaRPr lang="en-US" sz="1500" dirty="0"/>
          </a:p>
        </p:txBody>
      </p:sp>
      <p:sp>
        <p:nvSpPr>
          <p:cNvPr id="10" name="Shape 8"/>
          <p:cNvSpPr/>
          <p:nvPr/>
        </p:nvSpPr>
        <p:spPr>
          <a:xfrm>
            <a:off x="822960" y="5623560"/>
            <a:ext cx="5120640" cy="822960"/>
          </a:xfrm>
          <a:prstGeom prst="roundRect">
            <a:avLst>
              <a:gd name="adj" fmla="val 8889"/>
            </a:avLst>
          </a:prstGeom>
          <a:solidFill>
            <a:srgbClr val="0A2050"/>
          </a:solidFill>
          <a:ln w="9525">
            <a:solidFill>
              <a:srgbClr val="E0E0E0"/>
            </a:solidFill>
            <a:prstDash val="solid"/>
          </a:ln>
        </p:spPr>
      </p:sp>
      <p:pic>
        <p:nvPicPr>
          <p:cNvPr id="11" name="Image 0" descr="/home/claude/icons/users_FFFFFF.png">    </p:cNvPr>
          <p:cNvPicPr>
            <a:picLocks noChangeAspect="1"/>
          </p:cNvPicPr>
          <p:nvPr/>
        </p:nvPicPr>
        <p:blipFill>
          <a:blip r:embed="rId1"/>
          <a:stretch>
            <a:fillRect/>
          </a:stretch>
        </p:blipFill>
        <p:spPr>
          <a:xfrm>
            <a:off x="1051560" y="5833872"/>
            <a:ext cx="411480" cy="411480"/>
          </a:xfrm>
          <a:prstGeom prst="rect">
            <a:avLst/>
          </a:prstGeom>
        </p:spPr>
      </p:pic>
      <p:sp>
        <p:nvSpPr>
          <p:cNvPr id="12" name="Text 9"/>
          <p:cNvSpPr/>
          <p:nvPr/>
        </p:nvSpPr>
        <p:spPr>
          <a:xfrm>
            <a:off x="1600200" y="5760720"/>
            <a:ext cx="420624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Presenter: </a:t>
            </a:r>
            <a:pPr indent="0" marL="0">
              <a:buNone/>
            </a:pPr>
            <a:r>
              <a:rPr lang="en-US" sz="1300" dirty="0">
                <a:solidFill>
                  <a:srgbClr val="E0E0E0"/>
                </a:solidFill>
                <a:latin typeface="Calibri" pitchFamily="34" charset="0"/>
                <a:ea typeface="Calibri" pitchFamily="34" charset="-122"/>
                <a:cs typeface="Calibri" pitchFamily="34" charset="-120"/>
              </a:rPr>
              <a:t>[Presenter Name Placeholder]</a:t>
            </a:r>
            <a:endParaRPr lang="en-US" sz="1300" dirty="0"/>
          </a:p>
        </p:txBody>
      </p:sp>
      <p:sp>
        <p:nvSpPr>
          <p:cNvPr id="13" name="Text 10"/>
          <p:cNvSpPr/>
          <p:nvPr/>
        </p:nvSpPr>
        <p:spPr>
          <a:xfrm>
            <a:off x="1600200" y="6053328"/>
            <a:ext cx="420624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Audience: </a:t>
            </a:r>
            <a:pPr indent="0" marL="0">
              <a:buNone/>
            </a:pPr>
            <a:r>
              <a:rPr lang="en-US" sz="1300" dirty="0">
                <a:solidFill>
                  <a:srgbClr val="E0E0E0"/>
                </a:solidFill>
                <a:latin typeface="Calibri" pitchFamily="34" charset="0"/>
                <a:ea typeface="Calibri" pitchFamily="34" charset="-122"/>
                <a:cs typeface="Calibri" pitchFamily="34" charset="-120"/>
              </a:rPr>
              <a:t>IT Professionals (1–10 yrs experience)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200" b="1" spc="100" kern="0" dirty="0">
                <a:solidFill>
                  <a:srgbClr val="0F62FE"/>
                </a:solidFill>
                <a:latin typeface="Calibri" pitchFamily="34" charset="0"/>
                <a:ea typeface="Calibri" pitchFamily="34" charset="-122"/>
                <a:cs typeface="Calibri" pitchFamily="34" charset="-120"/>
              </a:rPr>
              <a:t>SESSION ROADMAP</a:t>
            </a:r>
            <a:endParaRPr lang="en-US" sz="1200" dirty="0"/>
          </a:p>
        </p:txBody>
      </p:sp>
      <p:sp>
        <p:nvSpPr>
          <p:cNvPr id="3" name="Text 1"/>
          <p:cNvSpPr/>
          <p:nvPr/>
        </p:nvSpPr>
        <p:spPr>
          <a:xfrm>
            <a:off x="548640" y="566928"/>
            <a:ext cx="10789920" cy="685800"/>
          </a:xfrm>
          <a:prstGeom prst="rect">
            <a:avLst/>
          </a:prstGeom>
          <a:noFill/>
          <a:ln/>
        </p:spPr>
        <p:txBody>
          <a:bodyPr wrap="square" rtlCol="0" anchor="ctr"/>
          <a:lstStyle/>
          <a:p>
            <a:pPr indent="0" marL="0">
              <a:buNone/>
            </a:pPr>
            <a:r>
              <a:rPr lang="en-US" sz="3000" b="1" dirty="0">
                <a:solidFill>
                  <a:srgbClr val="161616"/>
                </a:solidFill>
                <a:latin typeface="Cambria" pitchFamily="34" charset="0"/>
                <a:ea typeface="Cambria" pitchFamily="34" charset="-122"/>
                <a:cs typeface="Cambria" pitchFamily="34" charset="-120"/>
              </a:rPr>
              <a:t>Agenda</a:t>
            </a:r>
            <a:endParaRPr lang="en-US" sz="3000" dirty="0"/>
          </a:p>
        </p:txBody>
      </p:sp>
      <p:sp>
        <p:nvSpPr>
          <p:cNvPr id="4" name="Shape 2"/>
          <p:cNvSpPr/>
          <p:nvPr/>
        </p:nvSpPr>
        <p:spPr>
          <a:xfrm>
            <a:off x="548640" y="1298448"/>
            <a:ext cx="11064240" cy="18288"/>
          </a:xfrm>
          <a:prstGeom prst="rect">
            <a:avLst/>
          </a:prstGeom>
          <a:solidFill>
            <a:srgbClr val="E0E0E0"/>
          </a:solidFill>
          <a:ln/>
        </p:spPr>
      </p:sp>
      <p:sp>
        <p:nvSpPr>
          <p:cNvPr id="5" name="Text 3"/>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525252"/>
                </a:solidFill>
                <a:latin typeface="Calibri" pitchFamily="34" charset="0"/>
                <a:ea typeface="Calibri" pitchFamily="34" charset="-122"/>
                <a:cs typeface="Calibri" pitchFamily="34" charset="-120"/>
              </a:rPr>
              <a:t>IBM Cognos Analytics Overview  |  Knowledge Transfer</a:t>
            </a:r>
            <a:endParaRPr lang="en-US" sz="900" dirty="0"/>
          </a:p>
        </p:txBody>
      </p:sp>
      <p:sp>
        <p:nvSpPr>
          <p:cNvPr id="6" name="Text 4"/>
          <p:cNvSpPr/>
          <p:nvPr/>
        </p:nvSpPr>
        <p:spPr>
          <a:xfrm>
            <a:off x="11365992" y="6510528"/>
            <a:ext cx="457200" cy="274320"/>
          </a:xfrm>
          <a:prstGeom prst="rect">
            <a:avLst/>
          </a:prstGeom>
          <a:noFill/>
          <a:ln/>
        </p:spPr>
        <p:txBody>
          <a:bodyPr wrap="square" rtlCol="0" anchor="ctr"/>
          <a:lstStyle/>
          <a:p>
            <a:pPr algn="r" indent="0" marL="0">
              <a:buNone/>
            </a:pPr>
            <a:r>
              <a:rPr lang="en-US" sz="900" dirty="0">
                <a:solidFill>
                  <a:srgbClr val="525252"/>
                </a:solidFill>
                <a:latin typeface="Calibri" pitchFamily="34" charset="0"/>
                <a:ea typeface="Calibri" pitchFamily="34" charset="-122"/>
                <a:cs typeface="Calibri" pitchFamily="34" charset="-120"/>
              </a:rPr>
              <a:t>2</a:t>
            </a:r>
            <a:endParaRPr lang="en-US" sz="900" dirty="0"/>
          </a:p>
        </p:txBody>
      </p:sp>
      <p:sp>
        <p:nvSpPr>
          <p:cNvPr id="7" name="Shape 5"/>
          <p:cNvSpPr/>
          <p:nvPr/>
        </p:nvSpPr>
        <p:spPr>
          <a:xfrm>
            <a:off x="548640" y="1508760"/>
            <a:ext cx="3429000" cy="1536192"/>
          </a:xfrm>
          <a:prstGeom prst="roundRect">
            <a:avLst>
              <a:gd name="adj" fmla="val 4762"/>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749808" y="1709928"/>
            <a:ext cx="502920" cy="502920"/>
          </a:xfrm>
          <a:prstGeom prst="ellipse">
            <a:avLst/>
          </a:prstGeom>
          <a:solidFill>
            <a:srgbClr val="0F62FE"/>
          </a:solidFill>
          <a:ln/>
        </p:spPr>
      </p:sp>
      <p:pic>
        <p:nvPicPr>
          <p:cNvPr id="9" name="Image 0" descr="/home/claude/icons/users_FFFFFF.png">    </p:cNvPr>
          <p:cNvPicPr>
            <a:picLocks noChangeAspect="1"/>
          </p:cNvPicPr>
          <p:nvPr/>
        </p:nvPicPr>
        <p:blipFill>
          <a:blip r:embed="rId1"/>
          <a:stretch>
            <a:fillRect/>
          </a:stretch>
        </p:blipFill>
        <p:spPr>
          <a:xfrm>
            <a:off x="880567" y="1840687"/>
            <a:ext cx="241402" cy="241402"/>
          </a:xfrm>
          <a:prstGeom prst="rect">
            <a:avLst/>
          </a:prstGeom>
        </p:spPr>
      </p:pic>
      <p:sp>
        <p:nvSpPr>
          <p:cNvPr id="10" name="Text 7"/>
          <p:cNvSpPr/>
          <p:nvPr/>
        </p:nvSpPr>
        <p:spPr>
          <a:xfrm>
            <a:off x="3337560" y="1645920"/>
            <a:ext cx="502920" cy="365760"/>
          </a:xfrm>
          <a:prstGeom prst="rect">
            <a:avLst/>
          </a:prstGeom>
          <a:noFill/>
          <a:ln/>
        </p:spPr>
        <p:txBody>
          <a:bodyPr wrap="square" rtlCol="0" anchor="ctr"/>
          <a:lstStyle/>
          <a:p>
            <a:pPr algn="r" indent="0" marL="0">
              <a:buNone/>
            </a:pPr>
            <a:r>
              <a:rPr lang="en-US" sz="1800" b="1" dirty="0">
                <a:solidFill>
                  <a:srgbClr val="E0E0E0"/>
                </a:solidFill>
                <a:latin typeface="Cambria" pitchFamily="34" charset="0"/>
                <a:ea typeface="Cambria" pitchFamily="34" charset="-122"/>
                <a:cs typeface="Cambria" pitchFamily="34" charset="-120"/>
              </a:rPr>
              <a:t>01</a:t>
            </a:r>
            <a:endParaRPr lang="en-US" sz="1800" dirty="0"/>
          </a:p>
        </p:txBody>
      </p:sp>
      <p:sp>
        <p:nvSpPr>
          <p:cNvPr id="11" name="Text 8"/>
          <p:cNvSpPr/>
          <p:nvPr/>
        </p:nvSpPr>
        <p:spPr>
          <a:xfrm>
            <a:off x="749808" y="2313432"/>
            <a:ext cx="3026664" cy="365760"/>
          </a:xfrm>
          <a:prstGeom prst="rect">
            <a:avLst/>
          </a:prstGeom>
          <a:noFill/>
          <a:ln/>
        </p:spPr>
        <p:txBody>
          <a:bodyPr wrap="square" rtlCol="0" anchor="ctr"/>
          <a:lstStyle/>
          <a:p>
            <a:pPr indent="0" marL="0">
              <a:buNone/>
            </a:pPr>
            <a:r>
              <a:rPr lang="en-US" sz="1350" b="1" dirty="0">
                <a:solidFill>
                  <a:srgbClr val="161616"/>
                </a:solidFill>
                <a:latin typeface="Calibri" pitchFamily="34" charset="0"/>
                <a:ea typeface="Calibri" pitchFamily="34" charset="-122"/>
                <a:cs typeface="Calibri" pitchFamily="34" charset="-120"/>
              </a:rPr>
              <a:t>Introduction &amp; Evolution</a:t>
            </a:r>
            <a:endParaRPr lang="en-US" sz="1350" dirty="0"/>
          </a:p>
        </p:txBody>
      </p:sp>
      <p:sp>
        <p:nvSpPr>
          <p:cNvPr id="12" name="Text 9"/>
          <p:cNvSpPr/>
          <p:nvPr/>
        </p:nvSpPr>
        <p:spPr>
          <a:xfrm>
            <a:off x="749808" y="2642616"/>
            <a:ext cx="3026664" cy="365760"/>
          </a:xfrm>
          <a:prstGeom prst="rect">
            <a:avLst/>
          </a:prstGeom>
          <a:noFill/>
          <a:ln/>
        </p:spPr>
        <p:txBody>
          <a:bodyPr wrap="square" rtlCol="0" anchor="ctr"/>
          <a:lstStyle/>
          <a:p>
            <a:pPr indent="0" marL="0">
              <a:buNone/>
            </a:pPr>
            <a:r>
              <a:rPr lang="en-US" sz="1050" dirty="0">
                <a:solidFill>
                  <a:srgbClr val="525252"/>
                </a:solidFill>
                <a:latin typeface="Calibri" pitchFamily="34" charset="0"/>
                <a:ea typeface="Calibri" pitchFamily="34" charset="-122"/>
                <a:cs typeface="Calibri" pitchFamily="34" charset="-120"/>
              </a:rPr>
              <a:t>What Cognos is and how it has evolved</a:t>
            </a:r>
            <a:endParaRPr lang="en-US" sz="1050" dirty="0"/>
          </a:p>
        </p:txBody>
      </p:sp>
      <p:sp>
        <p:nvSpPr>
          <p:cNvPr id="13" name="Shape 10"/>
          <p:cNvSpPr/>
          <p:nvPr/>
        </p:nvSpPr>
        <p:spPr>
          <a:xfrm>
            <a:off x="4206240" y="1508760"/>
            <a:ext cx="3429000" cy="1536192"/>
          </a:xfrm>
          <a:prstGeom prst="roundRect">
            <a:avLst>
              <a:gd name="adj" fmla="val 4762"/>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4" name="Shape 11"/>
          <p:cNvSpPr/>
          <p:nvPr/>
        </p:nvSpPr>
        <p:spPr>
          <a:xfrm>
            <a:off x="4407408" y="1709928"/>
            <a:ext cx="502920" cy="502920"/>
          </a:xfrm>
          <a:prstGeom prst="ellipse">
            <a:avLst/>
          </a:prstGeom>
          <a:solidFill>
            <a:srgbClr val="0F62FE"/>
          </a:solidFill>
          <a:ln/>
        </p:spPr>
      </p:sp>
      <p:pic>
        <p:nvPicPr>
          <p:cNvPr id="15" name="Image 1" descr="/home/claude/icons/sitemap_FFFFFF.png">    </p:cNvPr>
          <p:cNvPicPr>
            <a:picLocks noChangeAspect="1"/>
          </p:cNvPicPr>
          <p:nvPr/>
        </p:nvPicPr>
        <p:blipFill>
          <a:blip r:embed="rId2"/>
          <a:stretch>
            <a:fillRect/>
          </a:stretch>
        </p:blipFill>
        <p:spPr>
          <a:xfrm>
            <a:off x="4538167" y="1840687"/>
            <a:ext cx="241402" cy="241402"/>
          </a:xfrm>
          <a:prstGeom prst="rect">
            <a:avLst/>
          </a:prstGeom>
        </p:spPr>
      </p:pic>
      <p:sp>
        <p:nvSpPr>
          <p:cNvPr id="16" name="Text 12"/>
          <p:cNvSpPr/>
          <p:nvPr/>
        </p:nvSpPr>
        <p:spPr>
          <a:xfrm>
            <a:off x="6995160" y="1645920"/>
            <a:ext cx="502920" cy="365760"/>
          </a:xfrm>
          <a:prstGeom prst="rect">
            <a:avLst/>
          </a:prstGeom>
          <a:noFill/>
          <a:ln/>
        </p:spPr>
        <p:txBody>
          <a:bodyPr wrap="square" rtlCol="0" anchor="ctr"/>
          <a:lstStyle/>
          <a:p>
            <a:pPr algn="r" indent="0" marL="0">
              <a:buNone/>
            </a:pPr>
            <a:r>
              <a:rPr lang="en-US" sz="1800" b="1" dirty="0">
                <a:solidFill>
                  <a:srgbClr val="E0E0E0"/>
                </a:solidFill>
                <a:latin typeface="Cambria" pitchFamily="34" charset="0"/>
                <a:ea typeface="Cambria" pitchFamily="34" charset="-122"/>
                <a:cs typeface="Cambria" pitchFamily="34" charset="-120"/>
              </a:rPr>
              <a:t>02</a:t>
            </a:r>
            <a:endParaRPr lang="en-US" sz="1800" dirty="0"/>
          </a:p>
        </p:txBody>
      </p:sp>
      <p:sp>
        <p:nvSpPr>
          <p:cNvPr id="17" name="Text 13"/>
          <p:cNvSpPr/>
          <p:nvPr/>
        </p:nvSpPr>
        <p:spPr>
          <a:xfrm>
            <a:off x="4407408" y="2313432"/>
            <a:ext cx="3026664" cy="365760"/>
          </a:xfrm>
          <a:prstGeom prst="rect">
            <a:avLst/>
          </a:prstGeom>
          <a:noFill/>
          <a:ln/>
        </p:spPr>
        <p:txBody>
          <a:bodyPr wrap="square" rtlCol="0" anchor="ctr"/>
          <a:lstStyle/>
          <a:p>
            <a:pPr indent="0" marL="0">
              <a:buNone/>
            </a:pPr>
            <a:r>
              <a:rPr lang="en-US" sz="1350" b="1" dirty="0">
                <a:solidFill>
                  <a:srgbClr val="161616"/>
                </a:solidFill>
                <a:latin typeface="Calibri" pitchFamily="34" charset="0"/>
                <a:ea typeface="Calibri" pitchFamily="34" charset="-122"/>
                <a:cs typeface="Calibri" pitchFamily="34" charset="-120"/>
              </a:rPr>
              <a:t>Architecture &amp; Components</a:t>
            </a:r>
            <a:endParaRPr lang="en-US" sz="1350" dirty="0"/>
          </a:p>
        </p:txBody>
      </p:sp>
      <p:sp>
        <p:nvSpPr>
          <p:cNvPr id="18" name="Text 14"/>
          <p:cNvSpPr/>
          <p:nvPr/>
        </p:nvSpPr>
        <p:spPr>
          <a:xfrm>
            <a:off x="4407408" y="2642616"/>
            <a:ext cx="3026664" cy="365760"/>
          </a:xfrm>
          <a:prstGeom prst="rect">
            <a:avLst/>
          </a:prstGeom>
          <a:noFill/>
          <a:ln/>
        </p:spPr>
        <p:txBody>
          <a:bodyPr wrap="square" rtlCol="0" anchor="ctr"/>
          <a:lstStyle/>
          <a:p>
            <a:pPr indent="0" marL="0">
              <a:buNone/>
            </a:pPr>
            <a:r>
              <a:rPr lang="en-US" sz="1050" dirty="0">
                <a:solidFill>
                  <a:srgbClr val="525252"/>
                </a:solidFill>
                <a:latin typeface="Calibri" pitchFamily="34" charset="0"/>
                <a:ea typeface="Calibri" pitchFamily="34" charset="-122"/>
                <a:cs typeface="Calibri" pitchFamily="34" charset="-120"/>
              </a:rPr>
              <a:t>How requests flow through the platform</a:t>
            </a:r>
            <a:endParaRPr lang="en-US" sz="1050" dirty="0"/>
          </a:p>
        </p:txBody>
      </p:sp>
      <p:sp>
        <p:nvSpPr>
          <p:cNvPr id="19" name="Shape 15"/>
          <p:cNvSpPr/>
          <p:nvPr/>
        </p:nvSpPr>
        <p:spPr>
          <a:xfrm>
            <a:off x="7863840" y="1508760"/>
            <a:ext cx="3429000" cy="1536192"/>
          </a:xfrm>
          <a:prstGeom prst="roundRect">
            <a:avLst>
              <a:gd name="adj" fmla="val 4762"/>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0" name="Shape 16"/>
          <p:cNvSpPr/>
          <p:nvPr/>
        </p:nvSpPr>
        <p:spPr>
          <a:xfrm>
            <a:off x="8065008" y="1709928"/>
            <a:ext cx="502920" cy="502920"/>
          </a:xfrm>
          <a:prstGeom prst="ellipse">
            <a:avLst/>
          </a:prstGeom>
          <a:solidFill>
            <a:srgbClr val="0F62FE"/>
          </a:solidFill>
          <a:ln/>
        </p:spPr>
      </p:sp>
      <p:pic>
        <p:nvPicPr>
          <p:cNvPr id="21" name="Image 2" descr="/home/claude/icons/desktop_FFFFFF.png">    </p:cNvPr>
          <p:cNvPicPr>
            <a:picLocks noChangeAspect="1"/>
          </p:cNvPicPr>
          <p:nvPr/>
        </p:nvPicPr>
        <p:blipFill>
          <a:blip r:embed="rId3"/>
          <a:stretch>
            <a:fillRect/>
          </a:stretch>
        </p:blipFill>
        <p:spPr>
          <a:xfrm>
            <a:off x="8195767" y="1840687"/>
            <a:ext cx="241402" cy="241402"/>
          </a:xfrm>
          <a:prstGeom prst="rect">
            <a:avLst/>
          </a:prstGeom>
        </p:spPr>
      </p:pic>
      <p:sp>
        <p:nvSpPr>
          <p:cNvPr id="22" name="Text 17"/>
          <p:cNvSpPr/>
          <p:nvPr/>
        </p:nvSpPr>
        <p:spPr>
          <a:xfrm>
            <a:off x="10652760" y="1645920"/>
            <a:ext cx="502920" cy="365760"/>
          </a:xfrm>
          <a:prstGeom prst="rect">
            <a:avLst/>
          </a:prstGeom>
          <a:noFill/>
          <a:ln/>
        </p:spPr>
        <p:txBody>
          <a:bodyPr wrap="square" rtlCol="0" anchor="ctr"/>
          <a:lstStyle/>
          <a:p>
            <a:pPr algn="r" indent="0" marL="0">
              <a:buNone/>
            </a:pPr>
            <a:r>
              <a:rPr lang="en-US" sz="1800" b="1" dirty="0">
                <a:solidFill>
                  <a:srgbClr val="E0E0E0"/>
                </a:solidFill>
                <a:latin typeface="Cambria" pitchFamily="34" charset="0"/>
                <a:ea typeface="Cambria" pitchFamily="34" charset="-122"/>
                <a:cs typeface="Cambria" pitchFamily="34" charset="-120"/>
              </a:rPr>
              <a:t>03</a:t>
            </a:r>
            <a:endParaRPr lang="en-US" sz="1800" dirty="0"/>
          </a:p>
        </p:txBody>
      </p:sp>
      <p:sp>
        <p:nvSpPr>
          <p:cNvPr id="23" name="Text 18"/>
          <p:cNvSpPr/>
          <p:nvPr/>
        </p:nvSpPr>
        <p:spPr>
          <a:xfrm>
            <a:off x="8065008" y="2313432"/>
            <a:ext cx="3026664" cy="365760"/>
          </a:xfrm>
          <a:prstGeom prst="rect">
            <a:avLst/>
          </a:prstGeom>
          <a:noFill/>
          <a:ln/>
        </p:spPr>
        <p:txBody>
          <a:bodyPr wrap="square" rtlCol="0" anchor="ctr"/>
          <a:lstStyle/>
          <a:p>
            <a:pPr indent="0" marL="0">
              <a:buNone/>
            </a:pPr>
            <a:r>
              <a:rPr lang="en-US" sz="1350" b="1" dirty="0">
                <a:solidFill>
                  <a:srgbClr val="161616"/>
                </a:solidFill>
                <a:latin typeface="Calibri" pitchFamily="34" charset="0"/>
                <a:ea typeface="Calibri" pitchFamily="34" charset="-122"/>
                <a:cs typeface="Calibri" pitchFamily="34" charset="-120"/>
              </a:rPr>
              <a:t>User Interface &amp; Content</a:t>
            </a:r>
            <a:endParaRPr lang="en-US" sz="1350" dirty="0"/>
          </a:p>
        </p:txBody>
      </p:sp>
      <p:sp>
        <p:nvSpPr>
          <p:cNvPr id="24" name="Text 19"/>
          <p:cNvSpPr/>
          <p:nvPr/>
        </p:nvSpPr>
        <p:spPr>
          <a:xfrm>
            <a:off x="8065008" y="2642616"/>
            <a:ext cx="3026664" cy="365760"/>
          </a:xfrm>
          <a:prstGeom prst="rect">
            <a:avLst/>
          </a:prstGeom>
          <a:noFill/>
          <a:ln/>
        </p:spPr>
        <p:txBody>
          <a:bodyPr wrap="square" rtlCol="0" anchor="ctr"/>
          <a:lstStyle/>
          <a:p>
            <a:pPr indent="0" marL="0">
              <a:buNone/>
            </a:pPr>
            <a:r>
              <a:rPr lang="en-US" sz="1050" dirty="0">
                <a:solidFill>
                  <a:srgbClr val="525252"/>
                </a:solidFill>
                <a:latin typeface="Calibri" pitchFamily="34" charset="0"/>
                <a:ea typeface="Calibri" pitchFamily="34" charset="-122"/>
                <a:cs typeface="Calibri" pitchFamily="34" charset="-120"/>
              </a:rPr>
              <a:t>Navigating the portal and organizing content</a:t>
            </a:r>
            <a:endParaRPr lang="en-US" sz="1050" dirty="0"/>
          </a:p>
        </p:txBody>
      </p:sp>
      <p:sp>
        <p:nvSpPr>
          <p:cNvPr id="25" name="Shape 20"/>
          <p:cNvSpPr/>
          <p:nvPr/>
        </p:nvSpPr>
        <p:spPr>
          <a:xfrm>
            <a:off x="548640" y="3227832"/>
            <a:ext cx="3429000" cy="1536192"/>
          </a:xfrm>
          <a:prstGeom prst="roundRect">
            <a:avLst>
              <a:gd name="adj" fmla="val 4762"/>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6" name="Shape 21"/>
          <p:cNvSpPr/>
          <p:nvPr/>
        </p:nvSpPr>
        <p:spPr>
          <a:xfrm>
            <a:off x="749808" y="3429000"/>
            <a:ext cx="502920" cy="502920"/>
          </a:xfrm>
          <a:prstGeom prst="ellipse">
            <a:avLst/>
          </a:prstGeom>
          <a:solidFill>
            <a:srgbClr val="0F62FE"/>
          </a:solidFill>
          <a:ln/>
        </p:spPr>
      </p:sp>
      <p:pic>
        <p:nvPicPr>
          <p:cNvPr id="27" name="Image 3" descr="/home/claude/icons/chartbar_FFFFFF.png">    </p:cNvPr>
          <p:cNvPicPr>
            <a:picLocks noChangeAspect="1"/>
          </p:cNvPicPr>
          <p:nvPr/>
        </p:nvPicPr>
        <p:blipFill>
          <a:blip r:embed="rId4"/>
          <a:stretch>
            <a:fillRect/>
          </a:stretch>
        </p:blipFill>
        <p:spPr>
          <a:xfrm>
            <a:off x="880567" y="3559759"/>
            <a:ext cx="241402" cy="241402"/>
          </a:xfrm>
          <a:prstGeom prst="rect">
            <a:avLst/>
          </a:prstGeom>
        </p:spPr>
      </p:pic>
      <p:sp>
        <p:nvSpPr>
          <p:cNvPr id="28" name="Text 22"/>
          <p:cNvSpPr/>
          <p:nvPr/>
        </p:nvSpPr>
        <p:spPr>
          <a:xfrm>
            <a:off x="3337560" y="3364992"/>
            <a:ext cx="502920" cy="365760"/>
          </a:xfrm>
          <a:prstGeom prst="rect">
            <a:avLst/>
          </a:prstGeom>
          <a:noFill/>
          <a:ln/>
        </p:spPr>
        <p:txBody>
          <a:bodyPr wrap="square" rtlCol="0" anchor="ctr"/>
          <a:lstStyle/>
          <a:p>
            <a:pPr algn="r" indent="0" marL="0">
              <a:buNone/>
            </a:pPr>
            <a:r>
              <a:rPr lang="en-US" sz="1800" b="1" dirty="0">
                <a:solidFill>
                  <a:srgbClr val="E0E0E0"/>
                </a:solidFill>
                <a:latin typeface="Cambria" pitchFamily="34" charset="0"/>
                <a:ea typeface="Cambria" pitchFamily="34" charset="-122"/>
                <a:cs typeface="Cambria" pitchFamily="34" charset="-120"/>
              </a:rPr>
              <a:t>04</a:t>
            </a:r>
            <a:endParaRPr lang="en-US" sz="1800" dirty="0"/>
          </a:p>
        </p:txBody>
      </p:sp>
      <p:sp>
        <p:nvSpPr>
          <p:cNvPr id="29" name="Text 23"/>
          <p:cNvSpPr/>
          <p:nvPr/>
        </p:nvSpPr>
        <p:spPr>
          <a:xfrm>
            <a:off x="749808" y="4032504"/>
            <a:ext cx="3026664" cy="365760"/>
          </a:xfrm>
          <a:prstGeom prst="rect">
            <a:avLst/>
          </a:prstGeom>
          <a:noFill/>
          <a:ln/>
        </p:spPr>
        <p:txBody>
          <a:bodyPr wrap="square" rtlCol="0" anchor="ctr"/>
          <a:lstStyle/>
          <a:p>
            <a:pPr indent="0" marL="0">
              <a:buNone/>
            </a:pPr>
            <a:r>
              <a:rPr lang="en-US" sz="1350" b="1" dirty="0">
                <a:solidFill>
                  <a:srgbClr val="161616"/>
                </a:solidFill>
                <a:latin typeface="Calibri" pitchFamily="34" charset="0"/>
                <a:ea typeface="Calibri" pitchFamily="34" charset="-122"/>
                <a:cs typeface="Calibri" pitchFamily="34" charset="-120"/>
              </a:rPr>
              <a:t>Reporting &amp; Dashboards</a:t>
            </a:r>
            <a:endParaRPr lang="en-US" sz="1350" dirty="0"/>
          </a:p>
        </p:txBody>
      </p:sp>
      <p:sp>
        <p:nvSpPr>
          <p:cNvPr id="30" name="Text 24"/>
          <p:cNvSpPr/>
          <p:nvPr/>
        </p:nvSpPr>
        <p:spPr>
          <a:xfrm>
            <a:off x="749808" y="4361688"/>
            <a:ext cx="3026664" cy="365760"/>
          </a:xfrm>
          <a:prstGeom prst="rect">
            <a:avLst/>
          </a:prstGeom>
          <a:noFill/>
          <a:ln/>
        </p:spPr>
        <p:txBody>
          <a:bodyPr wrap="square" rtlCol="0" anchor="ctr"/>
          <a:lstStyle/>
          <a:p>
            <a:pPr indent="0" marL="0">
              <a:buNone/>
            </a:pPr>
            <a:r>
              <a:rPr lang="en-US" sz="1050" dirty="0">
                <a:solidFill>
                  <a:srgbClr val="525252"/>
                </a:solidFill>
                <a:latin typeface="Calibri" pitchFamily="34" charset="0"/>
                <a:ea typeface="Calibri" pitchFamily="34" charset="-122"/>
                <a:cs typeface="Calibri" pitchFamily="34" charset="-120"/>
              </a:rPr>
              <a:t>Building reports, dashboards, and data modules</a:t>
            </a:r>
            <a:endParaRPr lang="en-US" sz="1050" dirty="0"/>
          </a:p>
        </p:txBody>
      </p:sp>
      <p:sp>
        <p:nvSpPr>
          <p:cNvPr id="31" name="Shape 25"/>
          <p:cNvSpPr/>
          <p:nvPr/>
        </p:nvSpPr>
        <p:spPr>
          <a:xfrm>
            <a:off x="4206240" y="3227832"/>
            <a:ext cx="3429000" cy="1536192"/>
          </a:xfrm>
          <a:prstGeom prst="roundRect">
            <a:avLst>
              <a:gd name="adj" fmla="val 4762"/>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32" name="Shape 26"/>
          <p:cNvSpPr/>
          <p:nvPr/>
        </p:nvSpPr>
        <p:spPr>
          <a:xfrm>
            <a:off x="4407408" y="3429000"/>
            <a:ext cx="502920" cy="502920"/>
          </a:xfrm>
          <a:prstGeom prst="ellipse">
            <a:avLst/>
          </a:prstGeom>
          <a:solidFill>
            <a:srgbClr val="0F62FE"/>
          </a:solidFill>
          <a:ln/>
        </p:spPr>
      </p:sp>
      <p:pic>
        <p:nvPicPr>
          <p:cNvPr id="33" name="Image 4" descr="/home/claude/icons/calendar_FFFFFF.png">    </p:cNvPr>
          <p:cNvPicPr>
            <a:picLocks noChangeAspect="1"/>
          </p:cNvPicPr>
          <p:nvPr/>
        </p:nvPicPr>
        <p:blipFill>
          <a:blip r:embed="rId5"/>
          <a:stretch>
            <a:fillRect/>
          </a:stretch>
        </p:blipFill>
        <p:spPr>
          <a:xfrm>
            <a:off x="4538167" y="3559759"/>
            <a:ext cx="241402" cy="241402"/>
          </a:xfrm>
          <a:prstGeom prst="rect">
            <a:avLst/>
          </a:prstGeom>
        </p:spPr>
      </p:pic>
      <p:sp>
        <p:nvSpPr>
          <p:cNvPr id="34" name="Text 27"/>
          <p:cNvSpPr/>
          <p:nvPr/>
        </p:nvSpPr>
        <p:spPr>
          <a:xfrm>
            <a:off x="6995160" y="3364992"/>
            <a:ext cx="502920" cy="365760"/>
          </a:xfrm>
          <a:prstGeom prst="rect">
            <a:avLst/>
          </a:prstGeom>
          <a:noFill/>
          <a:ln/>
        </p:spPr>
        <p:txBody>
          <a:bodyPr wrap="square" rtlCol="0" anchor="ctr"/>
          <a:lstStyle/>
          <a:p>
            <a:pPr algn="r" indent="0" marL="0">
              <a:buNone/>
            </a:pPr>
            <a:r>
              <a:rPr lang="en-US" sz="1800" b="1" dirty="0">
                <a:solidFill>
                  <a:srgbClr val="E0E0E0"/>
                </a:solidFill>
                <a:latin typeface="Cambria" pitchFamily="34" charset="0"/>
                <a:ea typeface="Cambria" pitchFamily="34" charset="-122"/>
                <a:cs typeface="Cambria" pitchFamily="34" charset="-120"/>
              </a:rPr>
              <a:t>05</a:t>
            </a:r>
            <a:endParaRPr lang="en-US" sz="1800" dirty="0"/>
          </a:p>
        </p:txBody>
      </p:sp>
      <p:sp>
        <p:nvSpPr>
          <p:cNvPr id="35" name="Text 28"/>
          <p:cNvSpPr/>
          <p:nvPr/>
        </p:nvSpPr>
        <p:spPr>
          <a:xfrm>
            <a:off x="4407408" y="4032504"/>
            <a:ext cx="3026664" cy="365760"/>
          </a:xfrm>
          <a:prstGeom prst="rect">
            <a:avLst/>
          </a:prstGeom>
          <a:noFill/>
          <a:ln/>
        </p:spPr>
        <p:txBody>
          <a:bodyPr wrap="square" rtlCol="0" anchor="ctr"/>
          <a:lstStyle/>
          <a:p>
            <a:pPr indent="0" marL="0">
              <a:buNone/>
            </a:pPr>
            <a:r>
              <a:rPr lang="en-US" sz="1350" b="1" dirty="0">
                <a:solidFill>
                  <a:srgbClr val="161616"/>
                </a:solidFill>
                <a:latin typeface="Calibri" pitchFamily="34" charset="0"/>
                <a:ea typeface="Calibri" pitchFamily="34" charset="-122"/>
                <a:cs typeface="Calibri" pitchFamily="34" charset="-120"/>
              </a:rPr>
              <a:t>Automation &amp; Security</a:t>
            </a:r>
            <a:endParaRPr lang="en-US" sz="1350" dirty="0"/>
          </a:p>
        </p:txBody>
      </p:sp>
      <p:sp>
        <p:nvSpPr>
          <p:cNvPr id="36" name="Text 29"/>
          <p:cNvSpPr/>
          <p:nvPr/>
        </p:nvSpPr>
        <p:spPr>
          <a:xfrm>
            <a:off x="4407408" y="4361688"/>
            <a:ext cx="3026664" cy="365760"/>
          </a:xfrm>
          <a:prstGeom prst="rect">
            <a:avLst/>
          </a:prstGeom>
          <a:noFill/>
          <a:ln/>
        </p:spPr>
        <p:txBody>
          <a:bodyPr wrap="square" rtlCol="0" anchor="ctr"/>
          <a:lstStyle/>
          <a:p>
            <a:pPr indent="0" marL="0">
              <a:buNone/>
            </a:pPr>
            <a:r>
              <a:rPr lang="en-US" sz="1050" dirty="0">
                <a:solidFill>
                  <a:srgbClr val="525252"/>
                </a:solidFill>
                <a:latin typeface="Calibri" pitchFamily="34" charset="0"/>
                <a:ea typeface="Calibri" pitchFamily="34" charset="-122"/>
                <a:cs typeface="Calibri" pitchFamily="34" charset="-120"/>
              </a:rPr>
              <a:t>Scheduling, administration, and governance</a:t>
            </a:r>
            <a:endParaRPr lang="en-US" sz="1050" dirty="0"/>
          </a:p>
        </p:txBody>
      </p:sp>
      <p:sp>
        <p:nvSpPr>
          <p:cNvPr id="37" name="Shape 30"/>
          <p:cNvSpPr/>
          <p:nvPr/>
        </p:nvSpPr>
        <p:spPr>
          <a:xfrm>
            <a:off x="7863840" y="3227832"/>
            <a:ext cx="3429000" cy="1536192"/>
          </a:xfrm>
          <a:prstGeom prst="roundRect">
            <a:avLst>
              <a:gd name="adj" fmla="val 4762"/>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38" name="Shape 31"/>
          <p:cNvSpPr/>
          <p:nvPr/>
        </p:nvSpPr>
        <p:spPr>
          <a:xfrm>
            <a:off x="8065008" y="3429000"/>
            <a:ext cx="502920" cy="502920"/>
          </a:xfrm>
          <a:prstGeom prst="ellipse">
            <a:avLst/>
          </a:prstGeom>
          <a:solidFill>
            <a:srgbClr val="0F62FE"/>
          </a:solidFill>
          <a:ln/>
        </p:spPr>
      </p:sp>
      <p:pic>
        <p:nvPicPr>
          <p:cNvPr id="39" name="Image 5" descr="/home/claude/icons/gauge_FFFFFF.png">    </p:cNvPr>
          <p:cNvPicPr>
            <a:picLocks noChangeAspect="1"/>
          </p:cNvPicPr>
          <p:nvPr/>
        </p:nvPicPr>
        <p:blipFill>
          <a:blip r:embed="rId6"/>
          <a:stretch>
            <a:fillRect/>
          </a:stretch>
        </p:blipFill>
        <p:spPr>
          <a:xfrm>
            <a:off x="8195767" y="3559759"/>
            <a:ext cx="241402" cy="241402"/>
          </a:xfrm>
          <a:prstGeom prst="rect">
            <a:avLst/>
          </a:prstGeom>
        </p:spPr>
      </p:pic>
      <p:sp>
        <p:nvSpPr>
          <p:cNvPr id="40" name="Text 32"/>
          <p:cNvSpPr/>
          <p:nvPr/>
        </p:nvSpPr>
        <p:spPr>
          <a:xfrm>
            <a:off x="10652760" y="3364992"/>
            <a:ext cx="502920" cy="365760"/>
          </a:xfrm>
          <a:prstGeom prst="rect">
            <a:avLst/>
          </a:prstGeom>
          <a:noFill/>
          <a:ln/>
        </p:spPr>
        <p:txBody>
          <a:bodyPr wrap="square" rtlCol="0" anchor="ctr"/>
          <a:lstStyle/>
          <a:p>
            <a:pPr algn="r" indent="0" marL="0">
              <a:buNone/>
            </a:pPr>
            <a:r>
              <a:rPr lang="en-US" sz="1800" b="1" dirty="0">
                <a:solidFill>
                  <a:srgbClr val="E0E0E0"/>
                </a:solidFill>
                <a:latin typeface="Cambria" pitchFamily="34" charset="0"/>
                <a:ea typeface="Cambria" pitchFamily="34" charset="-122"/>
                <a:cs typeface="Cambria" pitchFamily="34" charset="-120"/>
              </a:rPr>
              <a:t>06</a:t>
            </a:r>
            <a:endParaRPr lang="en-US" sz="1800" dirty="0"/>
          </a:p>
        </p:txBody>
      </p:sp>
      <p:sp>
        <p:nvSpPr>
          <p:cNvPr id="41" name="Text 33"/>
          <p:cNvSpPr/>
          <p:nvPr/>
        </p:nvSpPr>
        <p:spPr>
          <a:xfrm>
            <a:off x="8065008" y="4032504"/>
            <a:ext cx="3026664" cy="365760"/>
          </a:xfrm>
          <a:prstGeom prst="rect">
            <a:avLst/>
          </a:prstGeom>
          <a:noFill/>
          <a:ln/>
        </p:spPr>
        <p:txBody>
          <a:bodyPr wrap="square" rtlCol="0" anchor="ctr"/>
          <a:lstStyle/>
          <a:p>
            <a:pPr indent="0" marL="0">
              <a:buNone/>
            </a:pPr>
            <a:r>
              <a:rPr lang="en-US" sz="1350" b="1" dirty="0">
                <a:solidFill>
                  <a:srgbClr val="161616"/>
                </a:solidFill>
                <a:latin typeface="Calibri" pitchFamily="34" charset="0"/>
                <a:ea typeface="Calibri" pitchFamily="34" charset="-122"/>
                <a:cs typeface="Calibri" pitchFamily="34" charset="-120"/>
              </a:rPr>
              <a:t>Performance &amp; Integration</a:t>
            </a:r>
            <a:endParaRPr lang="en-US" sz="1350" dirty="0"/>
          </a:p>
        </p:txBody>
      </p:sp>
      <p:sp>
        <p:nvSpPr>
          <p:cNvPr id="42" name="Text 34"/>
          <p:cNvSpPr/>
          <p:nvPr/>
        </p:nvSpPr>
        <p:spPr>
          <a:xfrm>
            <a:off x="8065008" y="4361688"/>
            <a:ext cx="3026664" cy="365760"/>
          </a:xfrm>
          <a:prstGeom prst="rect">
            <a:avLst/>
          </a:prstGeom>
          <a:noFill/>
          <a:ln/>
        </p:spPr>
        <p:txBody>
          <a:bodyPr wrap="square" rtlCol="0" anchor="ctr"/>
          <a:lstStyle/>
          <a:p>
            <a:pPr indent="0" marL="0">
              <a:buNone/>
            </a:pPr>
            <a:r>
              <a:rPr lang="en-US" sz="1050" dirty="0">
                <a:solidFill>
                  <a:srgbClr val="525252"/>
                </a:solidFill>
                <a:latin typeface="Calibri" pitchFamily="34" charset="0"/>
                <a:ea typeface="Calibri" pitchFamily="34" charset="-122"/>
                <a:cs typeface="Calibri" pitchFamily="34" charset="-120"/>
              </a:rPr>
              <a:t>Optimization and connecting to data sources</a:t>
            </a:r>
            <a:endParaRPr lang="en-US" sz="1050" dirty="0"/>
          </a:p>
        </p:txBody>
      </p:sp>
      <p:sp>
        <p:nvSpPr>
          <p:cNvPr id="43" name="Shape 35"/>
          <p:cNvSpPr/>
          <p:nvPr/>
        </p:nvSpPr>
        <p:spPr>
          <a:xfrm>
            <a:off x="548640" y="4946904"/>
            <a:ext cx="3429000" cy="1536192"/>
          </a:xfrm>
          <a:prstGeom prst="roundRect">
            <a:avLst>
              <a:gd name="adj" fmla="val 4762"/>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44" name="Shape 36"/>
          <p:cNvSpPr/>
          <p:nvPr/>
        </p:nvSpPr>
        <p:spPr>
          <a:xfrm>
            <a:off x="749808" y="5148072"/>
            <a:ext cx="502920" cy="502920"/>
          </a:xfrm>
          <a:prstGeom prst="ellipse">
            <a:avLst/>
          </a:prstGeom>
          <a:solidFill>
            <a:srgbClr val="0F62FE"/>
          </a:solidFill>
          <a:ln/>
        </p:spPr>
      </p:sp>
      <p:pic>
        <p:nvPicPr>
          <p:cNvPr id="45" name="Image 6" descr="/home/claude/icons/briefcase_FFFFFF.png">    </p:cNvPr>
          <p:cNvPicPr>
            <a:picLocks noChangeAspect="1"/>
          </p:cNvPicPr>
          <p:nvPr/>
        </p:nvPicPr>
        <p:blipFill>
          <a:blip r:embed="rId7"/>
          <a:stretch>
            <a:fillRect/>
          </a:stretch>
        </p:blipFill>
        <p:spPr>
          <a:xfrm>
            <a:off x="880567" y="5278831"/>
            <a:ext cx="241402" cy="241402"/>
          </a:xfrm>
          <a:prstGeom prst="rect">
            <a:avLst/>
          </a:prstGeom>
        </p:spPr>
      </p:pic>
      <p:sp>
        <p:nvSpPr>
          <p:cNvPr id="46" name="Text 37"/>
          <p:cNvSpPr/>
          <p:nvPr/>
        </p:nvSpPr>
        <p:spPr>
          <a:xfrm>
            <a:off x="3337560" y="5084064"/>
            <a:ext cx="502920" cy="365760"/>
          </a:xfrm>
          <a:prstGeom prst="rect">
            <a:avLst/>
          </a:prstGeom>
          <a:noFill/>
          <a:ln/>
        </p:spPr>
        <p:txBody>
          <a:bodyPr wrap="square" rtlCol="0" anchor="ctr"/>
          <a:lstStyle/>
          <a:p>
            <a:pPr algn="r" indent="0" marL="0">
              <a:buNone/>
            </a:pPr>
            <a:r>
              <a:rPr lang="en-US" sz="1800" b="1" dirty="0">
                <a:solidFill>
                  <a:srgbClr val="E0E0E0"/>
                </a:solidFill>
                <a:latin typeface="Cambria" pitchFamily="34" charset="0"/>
                <a:ea typeface="Cambria" pitchFamily="34" charset="-122"/>
                <a:cs typeface="Cambria" pitchFamily="34" charset="-120"/>
              </a:rPr>
              <a:t>07</a:t>
            </a:r>
            <a:endParaRPr lang="en-US" sz="1800" dirty="0"/>
          </a:p>
        </p:txBody>
      </p:sp>
      <p:sp>
        <p:nvSpPr>
          <p:cNvPr id="47" name="Text 38"/>
          <p:cNvSpPr/>
          <p:nvPr/>
        </p:nvSpPr>
        <p:spPr>
          <a:xfrm>
            <a:off x="749808" y="5751576"/>
            <a:ext cx="3026664" cy="365760"/>
          </a:xfrm>
          <a:prstGeom prst="rect">
            <a:avLst/>
          </a:prstGeom>
          <a:noFill/>
          <a:ln/>
        </p:spPr>
        <p:txBody>
          <a:bodyPr wrap="square" rtlCol="0" anchor="ctr"/>
          <a:lstStyle/>
          <a:p>
            <a:pPr indent="0" marL="0">
              <a:buNone/>
            </a:pPr>
            <a:r>
              <a:rPr lang="en-US" sz="1350" b="1" dirty="0">
                <a:solidFill>
                  <a:srgbClr val="161616"/>
                </a:solidFill>
                <a:latin typeface="Calibri" pitchFamily="34" charset="0"/>
                <a:ea typeface="Calibri" pitchFamily="34" charset="-122"/>
                <a:cs typeface="Calibri" pitchFamily="34" charset="-120"/>
              </a:rPr>
              <a:t>Use Cases &amp; Career</a:t>
            </a:r>
            <a:endParaRPr lang="en-US" sz="1350" dirty="0"/>
          </a:p>
        </p:txBody>
      </p:sp>
      <p:sp>
        <p:nvSpPr>
          <p:cNvPr id="48" name="Text 39"/>
          <p:cNvSpPr/>
          <p:nvPr/>
        </p:nvSpPr>
        <p:spPr>
          <a:xfrm>
            <a:off x="749808" y="6080760"/>
            <a:ext cx="3026664" cy="365760"/>
          </a:xfrm>
          <a:prstGeom prst="rect">
            <a:avLst/>
          </a:prstGeom>
          <a:noFill/>
          <a:ln/>
        </p:spPr>
        <p:txBody>
          <a:bodyPr wrap="square" rtlCol="0" anchor="ctr"/>
          <a:lstStyle/>
          <a:p>
            <a:pPr indent="0" marL="0">
              <a:buNone/>
            </a:pPr>
            <a:r>
              <a:rPr lang="en-US" sz="1050" dirty="0">
                <a:solidFill>
                  <a:srgbClr val="525252"/>
                </a:solidFill>
                <a:latin typeface="Calibri" pitchFamily="34" charset="0"/>
                <a:ea typeface="Calibri" pitchFamily="34" charset="-122"/>
                <a:cs typeface="Calibri" pitchFamily="34" charset="-120"/>
              </a:rPr>
              <a:t>Industry examples, best practices, and Q&amp;A</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200" b="1" spc="100" kern="0" dirty="0">
                <a:solidFill>
                  <a:srgbClr val="0F62FE"/>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566928"/>
            <a:ext cx="10789920" cy="685800"/>
          </a:xfrm>
          <a:prstGeom prst="rect">
            <a:avLst/>
          </a:prstGeom>
          <a:noFill/>
          <a:ln/>
        </p:spPr>
        <p:txBody>
          <a:bodyPr wrap="square" rtlCol="0" anchor="ctr"/>
          <a:lstStyle/>
          <a:p>
            <a:pPr indent="0" marL="0">
              <a:buNone/>
            </a:pPr>
            <a:r>
              <a:rPr lang="en-US" sz="3000" b="1" dirty="0">
                <a:solidFill>
                  <a:srgbClr val="161616"/>
                </a:solidFill>
                <a:latin typeface="Cambria" pitchFamily="34" charset="0"/>
                <a:ea typeface="Cambria" pitchFamily="34" charset="-122"/>
                <a:cs typeface="Cambria" pitchFamily="34" charset="-120"/>
              </a:rPr>
              <a:t>What is IBM Cognos Analytics?</a:t>
            </a:r>
            <a:endParaRPr lang="en-US" sz="3000" dirty="0"/>
          </a:p>
        </p:txBody>
      </p:sp>
      <p:sp>
        <p:nvSpPr>
          <p:cNvPr id="4" name="Shape 2"/>
          <p:cNvSpPr/>
          <p:nvPr/>
        </p:nvSpPr>
        <p:spPr>
          <a:xfrm>
            <a:off x="548640" y="1298448"/>
            <a:ext cx="11064240" cy="18288"/>
          </a:xfrm>
          <a:prstGeom prst="rect">
            <a:avLst/>
          </a:prstGeom>
          <a:solidFill>
            <a:srgbClr val="E0E0E0"/>
          </a:solidFill>
          <a:ln/>
        </p:spPr>
      </p:sp>
      <p:sp>
        <p:nvSpPr>
          <p:cNvPr id="5" name="Text 3"/>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525252"/>
                </a:solidFill>
                <a:latin typeface="Calibri" pitchFamily="34" charset="0"/>
                <a:ea typeface="Calibri" pitchFamily="34" charset="-122"/>
                <a:cs typeface="Calibri" pitchFamily="34" charset="-120"/>
              </a:rPr>
              <a:t>IBM Cognos Analytics Overview  |  Knowledge Transfer</a:t>
            </a:r>
            <a:endParaRPr lang="en-US" sz="900" dirty="0"/>
          </a:p>
        </p:txBody>
      </p:sp>
      <p:sp>
        <p:nvSpPr>
          <p:cNvPr id="6" name="Text 4"/>
          <p:cNvSpPr/>
          <p:nvPr/>
        </p:nvSpPr>
        <p:spPr>
          <a:xfrm>
            <a:off x="11365992" y="6510528"/>
            <a:ext cx="457200" cy="274320"/>
          </a:xfrm>
          <a:prstGeom prst="rect">
            <a:avLst/>
          </a:prstGeom>
          <a:noFill/>
          <a:ln/>
        </p:spPr>
        <p:txBody>
          <a:bodyPr wrap="square" rtlCol="0" anchor="ctr"/>
          <a:lstStyle/>
          <a:p>
            <a:pPr algn="r" indent="0" marL="0">
              <a:buNone/>
            </a:pPr>
            <a:r>
              <a:rPr lang="en-US" sz="900" dirty="0">
                <a:solidFill>
                  <a:srgbClr val="525252"/>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548640" y="1417320"/>
            <a:ext cx="11064240" cy="960120"/>
          </a:xfrm>
          <a:prstGeom prst="roundRect">
            <a:avLst>
              <a:gd name="adj" fmla="val 7619"/>
            </a:avLst>
          </a:prstGeom>
          <a:solidFill>
            <a:srgbClr val="D0E2FF"/>
          </a:solidFill>
          <a:ln/>
        </p:spPr>
      </p:sp>
      <p:sp>
        <p:nvSpPr>
          <p:cNvPr id="8" name="Text 6"/>
          <p:cNvSpPr/>
          <p:nvPr/>
        </p:nvSpPr>
        <p:spPr>
          <a:xfrm>
            <a:off x="822960" y="1536192"/>
            <a:ext cx="10515600" cy="731520"/>
          </a:xfrm>
          <a:prstGeom prst="rect">
            <a:avLst/>
          </a:prstGeom>
          <a:noFill/>
          <a:ln/>
        </p:spPr>
        <p:txBody>
          <a:bodyPr wrap="square" rtlCol="0" anchor="t"/>
          <a:lstStyle/>
          <a:p>
            <a:pPr indent="0" marL="0">
              <a:buNone/>
            </a:pPr>
            <a:r>
              <a:rPr lang="en-US" sz="1500" b="1" dirty="0">
                <a:solidFill>
                  <a:srgbClr val="0043CE"/>
                </a:solidFill>
                <a:latin typeface="Calibri" pitchFamily="34" charset="0"/>
                <a:ea typeface="Calibri" pitchFamily="34" charset="-122"/>
                <a:cs typeface="Calibri" pitchFamily="34" charset="-120"/>
              </a:rPr>
              <a:t>Definition:  </a:t>
            </a:r>
            <a:pPr indent="0" marL="0">
              <a:buNone/>
            </a:pPr>
            <a:r>
              <a:rPr lang="en-US" sz="1500" dirty="0">
                <a:solidFill>
                  <a:srgbClr val="161616"/>
                </a:solidFill>
                <a:latin typeface="Calibri" pitchFamily="34" charset="0"/>
                <a:ea typeface="Calibri" pitchFamily="34" charset="-122"/>
                <a:cs typeface="Calibri" pitchFamily="34" charset="-120"/>
              </a:rPr>
              <a:t>IBM Cognos Analytics is a web-based Business Intelligence (BI) suite that lets organizations report, analyze, and visualize data, and monitor performance — all from one platform.</a:t>
            </a:r>
            <a:endParaRPr lang="en-US" sz="1500" dirty="0"/>
          </a:p>
        </p:txBody>
      </p:sp>
      <p:sp>
        <p:nvSpPr>
          <p:cNvPr id="9" name="Shape 7"/>
          <p:cNvSpPr/>
          <p:nvPr/>
        </p:nvSpPr>
        <p:spPr>
          <a:xfrm>
            <a:off x="548640" y="2697480"/>
            <a:ext cx="3538728" cy="3246120"/>
          </a:xfrm>
          <a:prstGeom prst="roundRect">
            <a:avLst>
              <a:gd name="adj" fmla="val 2254"/>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1952244" y="3017520"/>
            <a:ext cx="731520" cy="731520"/>
          </a:xfrm>
          <a:prstGeom prst="ellipse">
            <a:avLst/>
          </a:prstGeom>
          <a:solidFill>
            <a:srgbClr val="0F62FE"/>
          </a:solidFill>
          <a:ln/>
        </p:spPr>
      </p:sp>
      <p:pic>
        <p:nvPicPr>
          <p:cNvPr id="11" name="Image 0" descr="/home/claude/icons/chartline_FFFFFF.png">    </p:cNvPr>
          <p:cNvPicPr>
            <a:picLocks noChangeAspect="1"/>
          </p:cNvPicPr>
          <p:nvPr/>
        </p:nvPicPr>
        <p:blipFill>
          <a:blip r:embed="rId1"/>
          <a:stretch>
            <a:fillRect/>
          </a:stretch>
        </p:blipFill>
        <p:spPr>
          <a:xfrm>
            <a:off x="2142439" y="3207715"/>
            <a:ext cx="351130" cy="351130"/>
          </a:xfrm>
          <a:prstGeom prst="rect">
            <a:avLst/>
          </a:prstGeom>
        </p:spPr>
      </p:pic>
      <p:sp>
        <p:nvSpPr>
          <p:cNvPr id="12" name="Text 9"/>
          <p:cNvSpPr/>
          <p:nvPr/>
        </p:nvSpPr>
        <p:spPr>
          <a:xfrm>
            <a:off x="777240" y="3931920"/>
            <a:ext cx="3081528" cy="365760"/>
          </a:xfrm>
          <a:prstGeom prst="rect">
            <a:avLst/>
          </a:prstGeom>
          <a:noFill/>
          <a:ln/>
        </p:spPr>
        <p:txBody>
          <a:bodyPr wrap="square" rtlCol="0" anchor="ctr"/>
          <a:lstStyle/>
          <a:p>
            <a:pPr algn="ctr" indent="0" marL="0">
              <a:buNone/>
            </a:pPr>
            <a:r>
              <a:rPr lang="en-US" sz="1500" b="1" dirty="0">
                <a:solidFill>
                  <a:srgbClr val="161616"/>
                </a:solidFill>
                <a:latin typeface="Calibri" pitchFamily="34" charset="0"/>
                <a:ea typeface="Calibri" pitchFamily="34" charset="-122"/>
                <a:cs typeface="Calibri" pitchFamily="34" charset="-120"/>
              </a:rPr>
              <a:t>Purpose</a:t>
            </a:r>
            <a:endParaRPr lang="en-US" sz="1500" dirty="0"/>
          </a:p>
        </p:txBody>
      </p:sp>
      <p:sp>
        <p:nvSpPr>
          <p:cNvPr id="13" name="Text 10"/>
          <p:cNvSpPr/>
          <p:nvPr/>
        </p:nvSpPr>
        <p:spPr>
          <a:xfrm>
            <a:off x="822960" y="4343400"/>
            <a:ext cx="2990088" cy="1417320"/>
          </a:xfrm>
          <a:prstGeom prst="rect">
            <a:avLst/>
          </a:prstGeom>
          <a:noFill/>
          <a:ln/>
        </p:spPr>
        <p:txBody>
          <a:bodyPr wrap="square" rtlCol="0" anchor="t"/>
          <a:lstStyle/>
          <a:p>
            <a:pPr algn="ctr" indent="0" marL="0">
              <a:buNone/>
            </a:pPr>
            <a:r>
              <a:rPr lang="en-US" sz="1250" dirty="0">
                <a:solidFill>
                  <a:srgbClr val="525252"/>
                </a:solidFill>
                <a:latin typeface="Calibri" pitchFamily="34" charset="0"/>
                <a:ea typeface="Calibri" pitchFamily="34" charset="-122"/>
                <a:cs typeface="Calibri" pitchFamily="34" charset="-120"/>
              </a:rPr>
              <a:t>Turns raw data from many systems into reports, dashboards, and insights that support day-to-day decisions.</a:t>
            </a:r>
            <a:endParaRPr lang="en-US" sz="1250" dirty="0"/>
          </a:p>
        </p:txBody>
      </p:sp>
      <p:sp>
        <p:nvSpPr>
          <p:cNvPr id="14" name="Shape 11"/>
          <p:cNvSpPr/>
          <p:nvPr/>
        </p:nvSpPr>
        <p:spPr>
          <a:xfrm>
            <a:off x="4306824" y="2697480"/>
            <a:ext cx="3538728" cy="3246120"/>
          </a:xfrm>
          <a:prstGeom prst="roundRect">
            <a:avLst>
              <a:gd name="adj" fmla="val 2254"/>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5710428" y="3017520"/>
            <a:ext cx="731520" cy="731520"/>
          </a:xfrm>
          <a:prstGeom prst="ellipse">
            <a:avLst/>
          </a:prstGeom>
          <a:solidFill>
            <a:srgbClr val="0F62FE"/>
          </a:solidFill>
          <a:ln/>
        </p:spPr>
      </p:sp>
      <p:pic>
        <p:nvPicPr>
          <p:cNvPr id="16" name="Image 1" descr="/home/claude/icons/briefcase_FFFFFF.png">    </p:cNvPr>
          <p:cNvPicPr>
            <a:picLocks noChangeAspect="1"/>
          </p:cNvPicPr>
          <p:nvPr/>
        </p:nvPicPr>
        <p:blipFill>
          <a:blip r:embed="rId2"/>
          <a:stretch>
            <a:fillRect/>
          </a:stretch>
        </p:blipFill>
        <p:spPr>
          <a:xfrm>
            <a:off x="5900623" y="3207715"/>
            <a:ext cx="351130" cy="351130"/>
          </a:xfrm>
          <a:prstGeom prst="rect">
            <a:avLst/>
          </a:prstGeom>
        </p:spPr>
      </p:pic>
      <p:sp>
        <p:nvSpPr>
          <p:cNvPr id="17" name="Text 13"/>
          <p:cNvSpPr/>
          <p:nvPr/>
        </p:nvSpPr>
        <p:spPr>
          <a:xfrm>
            <a:off x="4535424" y="3931920"/>
            <a:ext cx="3081528" cy="365760"/>
          </a:xfrm>
          <a:prstGeom prst="rect">
            <a:avLst/>
          </a:prstGeom>
          <a:noFill/>
          <a:ln/>
        </p:spPr>
        <p:txBody>
          <a:bodyPr wrap="square" rtlCol="0" anchor="ctr"/>
          <a:lstStyle/>
          <a:p>
            <a:pPr algn="ctr" indent="0" marL="0">
              <a:buNone/>
            </a:pPr>
            <a:r>
              <a:rPr lang="en-US" sz="1500" b="1" dirty="0">
                <a:solidFill>
                  <a:srgbClr val="161616"/>
                </a:solidFill>
                <a:latin typeface="Calibri" pitchFamily="34" charset="0"/>
                <a:ea typeface="Calibri" pitchFamily="34" charset="-122"/>
                <a:cs typeface="Calibri" pitchFamily="34" charset="-120"/>
              </a:rPr>
              <a:t>Why Organizations Use It</a:t>
            </a:r>
            <a:endParaRPr lang="en-US" sz="1500" dirty="0"/>
          </a:p>
        </p:txBody>
      </p:sp>
      <p:sp>
        <p:nvSpPr>
          <p:cNvPr id="18" name="Text 14"/>
          <p:cNvSpPr/>
          <p:nvPr/>
        </p:nvSpPr>
        <p:spPr>
          <a:xfrm>
            <a:off x="4581144" y="4343400"/>
            <a:ext cx="2990088" cy="1417320"/>
          </a:xfrm>
          <a:prstGeom prst="rect">
            <a:avLst/>
          </a:prstGeom>
          <a:noFill/>
          <a:ln/>
        </p:spPr>
        <p:txBody>
          <a:bodyPr wrap="square" rtlCol="0" anchor="t"/>
          <a:lstStyle/>
          <a:p>
            <a:pPr algn="ctr" indent="0" marL="0">
              <a:buNone/>
            </a:pPr>
            <a:r>
              <a:rPr lang="en-US" sz="1250" dirty="0">
                <a:solidFill>
                  <a:srgbClr val="525252"/>
                </a:solidFill>
                <a:latin typeface="Calibri" pitchFamily="34" charset="0"/>
                <a:ea typeface="Calibri" pitchFamily="34" charset="-122"/>
                <a:cs typeface="Calibri" pitchFamily="34" charset="-120"/>
              </a:rPr>
              <a:t>One governed platform for enterprise reporting, self-service analytics, and AI-assisted insights — reducing spreadsheet chaos.</a:t>
            </a:r>
            <a:endParaRPr lang="en-US" sz="1250" dirty="0"/>
          </a:p>
        </p:txBody>
      </p:sp>
      <p:sp>
        <p:nvSpPr>
          <p:cNvPr id="19" name="Shape 15"/>
          <p:cNvSpPr/>
          <p:nvPr/>
        </p:nvSpPr>
        <p:spPr>
          <a:xfrm>
            <a:off x="8065008" y="2697480"/>
            <a:ext cx="3538728" cy="3246120"/>
          </a:xfrm>
          <a:prstGeom prst="roundRect">
            <a:avLst>
              <a:gd name="adj" fmla="val 2254"/>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0" name="Shape 16"/>
          <p:cNvSpPr/>
          <p:nvPr/>
        </p:nvSpPr>
        <p:spPr>
          <a:xfrm>
            <a:off x="9468612" y="3017520"/>
            <a:ext cx="731520" cy="731520"/>
          </a:xfrm>
          <a:prstGeom prst="ellipse">
            <a:avLst/>
          </a:prstGeom>
          <a:solidFill>
            <a:srgbClr val="0F62FE"/>
          </a:solidFill>
          <a:ln/>
        </p:spPr>
      </p:sp>
      <p:pic>
        <p:nvPicPr>
          <p:cNvPr id="21" name="Image 2" descr="/home/claude/icons/shield_FFFFFF.png">    </p:cNvPr>
          <p:cNvPicPr>
            <a:picLocks noChangeAspect="1"/>
          </p:cNvPicPr>
          <p:nvPr/>
        </p:nvPicPr>
        <p:blipFill>
          <a:blip r:embed="rId3"/>
          <a:stretch>
            <a:fillRect/>
          </a:stretch>
        </p:blipFill>
        <p:spPr>
          <a:xfrm>
            <a:off x="9658807" y="3207715"/>
            <a:ext cx="351130" cy="351130"/>
          </a:xfrm>
          <a:prstGeom prst="rect">
            <a:avLst/>
          </a:prstGeom>
        </p:spPr>
      </p:pic>
      <p:sp>
        <p:nvSpPr>
          <p:cNvPr id="22" name="Text 17"/>
          <p:cNvSpPr/>
          <p:nvPr/>
        </p:nvSpPr>
        <p:spPr>
          <a:xfrm>
            <a:off x="8293608" y="3931920"/>
            <a:ext cx="3081528" cy="365760"/>
          </a:xfrm>
          <a:prstGeom prst="rect">
            <a:avLst/>
          </a:prstGeom>
          <a:noFill/>
          <a:ln/>
        </p:spPr>
        <p:txBody>
          <a:bodyPr wrap="square" rtlCol="0" anchor="ctr"/>
          <a:lstStyle/>
          <a:p>
            <a:pPr algn="ctr" indent="0" marL="0">
              <a:buNone/>
            </a:pPr>
            <a:r>
              <a:rPr lang="en-US" sz="1500" b="1" dirty="0">
                <a:solidFill>
                  <a:srgbClr val="161616"/>
                </a:solidFill>
                <a:latin typeface="Calibri" pitchFamily="34" charset="0"/>
                <a:ea typeface="Calibri" pitchFamily="34" charset="-122"/>
                <a:cs typeface="Calibri" pitchFamily="34" charset="-120"/>
              </a:rPr>
              <a:t>Enterprise-Grade</a:t>
            </a:r>
            <a:endParaRPr lang="en-US" sz="1500" dirty="0"/>
          </a:p>
        </p:txBody>
      </p:sp>
      <p:sp>
        <p:nvSpPr>
          <p:cNvPr id="23" name="Text 18"/>
          <p:cNvSpPr/>
          <p:nvPr/>
        </p:nvSpPr>
        <p:spPr>
          <a:xfrm>
            <a:off x="8339328" y="4343400"/>
            <a:ext cx="2990088" cy="1417320"/>
          </a:xfrm>
          <a:prstGeom prst="rect">
            <a:avLst/>
          </a:prstGeom>
          <a:noFill/>
          <a:ln/>
        </p:spPr>
        <p:txBody>
          <a:bodyPr wrap="square" rtlCol="0" anchor="t"/>
          <a:lstStyle/>
          <a:p>
            <a:pPr algn="ctr" indent="0" marL="0">
              <a:buNone/>
            </a:pPr>
            <a:r>
              <a:rPr lang="en-US" sz="1250" dirty="0">
                <a:solidFill>
                  <a:srgbClr val="525252"/>
                </a:solidFill>
                <a:latin typeface="Calibri" pitchFamily="34" charset="0"/>
                <a:ea typeface="Calibri" pitchFamily="34" charset="-122"/>
                <a:cs typeface="Calibri" pitchFamily="34" charset="-120"/>
              </a:rPr>
              <a:t>Built-in security, scalability, and governance make it suitable for banks, insurers, and large manufacturers alike.</a:t>
            </a:r>
            <a:endParaRPr lang="en-US" sz="1250" dirty="0"/>
          </a:p>
        </p:txBody>
      </p:sp>
      <p:sp>
        <p:nvSpPr>
          <p:cNvPr id="24" name="Text 19"/>
          <p:cNvSpPr/>
          <p:nvPr/>
        </p:nvSpPr>
        <p:spPr>
          <a:xfrm>
            <a:off x="548640" y="6108192"/>
            <a:ext cx="11064240" cy="365760"/>
          </a:xfrm>
          <a:prstGeom prst="rect">
            <a:avLst/>
          </a:prstGeom>
          <a:noFill/>
          <a:ln/>
        </p:spPr>
        <p:txBody>
          <a:bodyPr wrap="square" rtlCol="0" anchor="ctr"/>
          <a:lstStyle/>
          <a:p>
            <a:pPr indent="0" marL="0">
              <a:buNone/>
            </a:pPr>
            <a:r>
              <a:rPr lang="en-US" sz="1100" i="1" dirty="0">
                <a:solidFill>
                  <a:srgbClr val="007D79"/>
                </a:solidFill>
                <a:latin typeface="Calibri" pitchFamily="34" charset="0"/>
                <a:ea typeface="Calibri" pitchFamily="34" charset="-122"/>
                <a:cs typeface="Calibri" pitchFamily="34" charset="-120"/>
              </a:rPr>
              <a:t>Real-world example: A retail chain replaces 50+ scattered Excel sales trackers with a single governed Cognos dashboard refreshed nightly.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200" b="1" spc="100" kern="0" dirty="0">
                <a:solidFill>
                  <a:srgbClr val="0F62FE"/>
                </a:solidFill>
                <a:latin typeface="Calibri" pitchFamily="34" charset="0"/>
                <a:ea typeface="Calibri" pitchFamily="34" charset="-122"/>
                <a:cs typeface="Calibri" pitchFamily="34" charset="-120"/>
              </a:rPr>
              <a:t>HISTORY &amp; VERSIONS</a:t>
            </a:r>
            <a:endParaRPr lang="en-US" sz="1200" dirty="0"/>
          </a:p>
        </p:txBody>
      </p:sp>
      <p:sp>
        <p:nvSpPr>
          <p:cNvPr id="3" name="Text 1"/>
          <p:cNvSpPr/>
          <p:nvPr/>
        </p:nvSpPr>
        <p:spPr>
          <a:xfrm>
            <a:off x="548640" y="566928"/>
            <a:ext cx="10789920" cy="685800"/>
          </a:xfrm>
          <a:prstGeom prst="rect">
            <a:avLst/>
          </a:prstGeom>
          <a:noFill/>
          <a:ln/>
        </p:spPr>
        <p:txBody>
          <a:bodyPr wrap="square" rtlCol="0" anchor="ctr"/>
          <a:lstStyle/>
          <a:p>
            <a:pPr indent="0" marL="0">
              <a:buNone/>
            </a:pPr>
            <a:r>
              <a:rPr lang="en-US" sz="3000" b="1" dirty="0">
                <a:solidFill>
                  <a:srgbClr val="161616"/>
                </a:solidFill>
                <a:latin typeface="Cambria" pitchFamily="34" charset="0"/>
                <a:ea typeface="Cambria" pitchFamily="34" charset="-122"/>
                <a:cs typeface="Cambria" pitchFamily="34" charset="-120"/>
              </a:rPr>
              <a:t>Evolution of Cognos</a:t>
            </a:r>
            <a:endParaRPr lang="en-US" sz="3000" dirty="0"/>
          </a:p>
        </p:txBody>
      </p:sp>
      <p:sp>
        <p:nvSpPr>
          <p:cNvPr id="4" name="Shape 2"/>
          <p:cNvSpPr/>
          <p:nvPr/>
        </p:nvSpPr>
        <p:spPr>
          <a:xfrm>
            <a:off x="548640" y="1298448"/>
            <a:ext cx="11064240" cy="18288"/>
          </a:xfrm>
          <a:prstGeom prst="rect">
            <a:avLst/>
          </a:prstGeom>
          <a:solidFill>
            <a:srgbClr val="E0E0E0"/>
          </a:solidFill>
          <a:ln/>
        </p:spPr>
      </p:sp>
      <p:sp>
        <p:nvSpPr>
          <p:cNvPr id="5" name="Text 3"/>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525252"/>
                </a:solidFill>
                <a:latin typeface="Calibri" pitchFamily="34" charset="0"/>
                <a:ea typeface="Calibri" pitchFamily="34" charset="-122"/>
                <a:cs typeface="Calibri" pitchFamily="34" charset="-120"/>
              </a:rPr>
              <a:t>IBM Cognos Analytics Overview  |  Knowledge Transfer</a:t>
            </a:r>
            <a:endParaRPr lang="en-US" sz="900" dirty="0"/>
          </a:p>
        </p:txBody>
      </p:sp>
      <p:sp>
        <p:nvSpPr>
          <p:cNvPr id="6" name="Text 4"/>
          <p:cNvSpPr/>
          <p:nvPr/>
        </p:nvSpPr>
        <p:spPr>
          <a:xfrm>
            <a:off x="11365992" y="6510528"/>
            <a:ext cx="457200" cy="274320"/>
          </a:xfrm>
          <a:prstGeom prst="rect">
            <a:avLst/>
          </a:prstGeom>
          <a:noFill/>
          <a:ln/>
        </p:spPr>
        <p:txBody>
          <a:bodyPr wrap="square" rtlCol="0" anchor="ctr"/>
          <a:lstStyle/>
          <a:p>
            <a:pPr algn="r" indent="0" marL="0">
              <a:buNone/>
            </a:pPr>
            <a:r>
              <a:rPr lang="en-US" sz="900" dirty="0">
                <a:solidFill>
                  <a:srgbClr val="525252"/>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1234440" y="2286000"/>
            <a:ext cx="9692640" cy="0"/>
          </a:xfrm>
          <a:prstGeom prst="line">
            <a:avLst/>
          </a:prstGeom>
          <a:noFill/>
          <a:ln w="38100">
            <a:solidFill>
              <a:srgbClr val="E0E0E0"/>
            </a:solidFill>
            <a:prstDash val="solid"/>
          </a:ln>
        </p:spPr>
      </p:sp>
      <p:sp>
        <p:nvSpPr>
          <p:cNvPr id="8" name="Shape 6"/>
          <p:cNvSpPr/>
          <p:nvPr/>
        </p:nvSpPr>
        <p:spPr>
          <a:xfrm>
            <a:off x="1115568" y="2167128"/>
            <a:ext cx="237744" cy="237744"/>
          </a:xfrm>
          <a:prstGeom prst="ellipse">
            <a:avLst/>
          </a:prstGeom>
          <a:solidFill>
            <a:srgbClr val="0F62FE"/>
          </a:solidFill>
          <a:ln w="25400">
            <a:solidFill>
              <a:srgbClr val="FFFFFF"/>
            </a:solidFill>
            <a:prstDash val="solid"/>
          </a:ln>
        </p:spPr>
      </p:sp>
      <p:sp>
        <p:nvSpPr>
          <p:cNvPr id="9" name="Text 7"/>
          <p:cNvSpPr/>
          <p:nvPr/>
        </p:nvSpPr>
        <p:spPr>
          <a:xfrm>
            <a:off x="502920" y="1627632"/>
            <a:ext cx="1463040" cy="274320"/>
          </a:xfrm>
          <a:prstGeom prst="rect">
            <a:avLst/>
          </a:prstGeom>
          <a:noFill/>
          <a:ln/>
        </p:spPr>
        <p:txBody>
          <a:bodyPr wrap="square" rtlCol="0" anchor="ctr"/>
          <a:lstStyle/>
          <a:p>
            <a:pPr algn="ctr" indent="0" marL="0">
              <a:buNone/>
            </a:pPr>
            <a:r>
              <a:rPr lang="en-US" sz="1150" b="1" dirty="0">
                <a:solidFill>
                  <a:srgbClr val="0043CE"/>
                </a:solidFill>
                <a:latin typeface="Calibri" pitchFamily="34" charset="0"/>
                <a:ea typeface="Calibri" pitchFamily="34" charset="-122"/>
                <a:cs typeface="Calibri" pitchFamily="34" charset="-120"/>
              </a:rPr>
              <a:t>1969</a:t>
            </a:r>
            <a:endParaRPr lang="en-US" sz="1150" dirty="0"/>
          </a:p>
        </p:txBody>
      </p:sp>
      <p:sp>
        <p:nvSpPr>
          <p:cNvPr id="10" name="Shape 8"/>
          <p:cNvSpPr/>
          <p:nvPr/>
        </p:nvSpPr>
        <p:spPr>
          <a:xfrm>
            <a:off x="297180" y="2560320"/>
            <a:ext cx="1874520" cy="1463040"/>
          </a:xfrm>
          <a:prstGeom prst="roundRect">
            <a:avLst>
              <a:gd name="adj" fmla="val 5000"/>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1" name="Text 9"/>
          <p:cNvSpPr/>
          <p:nvPr/>
        </p:nvSpPr>
        <p:spPr>
          <a:xfrm>
            <a:off x="388620" y="2670048"/>
            <a:ext cx="1691640" cy="457200"/>
          </a:xfrm>
          <a:prstGeom prst="rect">
            <a:avLst/>
          </a:prstGeom>
          <a:noFill/>
          <a:ln/>
        </p:spPr>
        <p:txBody>
          <a:bodyPr wrap="square" rtlCol="0" anchor="t"/>
          <a:lstStyle/>
          <a:p>
            <a:pPr algn="ctr" indent="0" marL="0">
              <a:buNone/>
            </a:pPr>
            <a:r>
              <a:rPr lang="en-US" sz="1100" b="1" dirty="0">
                <a:solidFill>
                  <a:srgbClr val="161616"/>
                </a:solidFill>
                <a:latin typeface="Calibri" pitchFamily="34" charset="0"/>
                <a:ea typeface="Calibri" pitchFamily="34" charset="-122"/>
                <a:cs typeface="Calibri" pitchFamily="34" charset="-120"/>
              </a:rPr>
              <a:t>Cognos Founded</a:t>
            </a:r>
            <a:endParaRPr lang="en-US" sz="1100" dirty="0"/>
          </a:p>
        </p:txBody>
      </p:sp>
      <p:sp>
        <p:nvSpPr>
          <p:cNvPr id="12" name="Text 10"/>
          <p:cNvSpPr/>
          <p:nvPr/>
        </p:nvSpPr>
        <p:spPr>
          <a:xfrm>
            <a:off x="388620" y="3108960"/>
            <a:ext cx="1691640" cy="868680"/>
          </a:xfrm>
          <a:prstGeom prst="rect">
            <a:avLst/>
          </a:prstGeom>
          <a:noFill/>
          <a:ln/>
        </p:spPr>
        <p:txBody>
          <a:bodyPr wrap="square" rtlCol="0" anchor="t"/>
          <a:lstStyle/>
          <a:p>
            <a:pPr algn="ctr" indent="0" marL="0">
              <a:buNone/>
            </a:pPr>
            <a:r>
              <a:rPr lang="en-US" sz="900" dirty="0">
                <a:solidFill>
                  <a:srgbClr val="525252"/>
                </a:solidFill>
                <a:latin typeface="Calibri" pitchFamily="34" charset="0"/>
                <a:ea typeface="Calibri" pitchFamily="34" charset="-122"/>
                <a:cs typeface="Calibri" pitchFamily="34" charset="-120"/>
              </a:rPr>
              <a:t>Started in Ottawa, Canada, focused on reporting software.</a:t>
            </a:r>
            <a:endParaRPr lang="en-US" sz="900" dirty="0"/>
          </a:p>
        </p:txBody>
      </p:sp>
      <p:sp>
        <p:nvSpPr>
          <p:cNvPr id="13" name="Shape 11"/>
          <p:cNvSpPr/>
          <p:nvPr/>
        </p:nvSpPr>
        <p:spPr>
          <a:xfrm>
            <a:off x="3538728" y="2167128"/>
            <a:ext cx="237744" cy="237744"/>
          </a:xfrm>
          <a:prstGeom prst="ellipse">
            <a:avLst/>
          </a:prstGeom>
          <a:solidFill>
            <a:srgbClr val="0F62FE"/>
          </a:solidFill>
          <a:ln w="25400">
            <a:solidFill>
              <a:srgbClr val="FFFFFF"/>
            </a:solidFill>
            <a:prstDash val="solid"/>
          </a:ln>
        </p:spPr>
      </p:sp>
      <p:sp>
        <p:nvSpPr>
          <p:cNvPr id="14" name="Text 12"/>
          <p:cNvSpPr/>
          <p:nvPr/>
        </p:nvSpPr>
        <p:spPr>
          <a:xfrm>
            <a:off x="2926080" y="1627632"/>
            <a:ext cx="1463040" cy="274320"/>
          </a:xfrm>
          <a:prstGeom prst="rect">
            <a:avLst/>
          </a:prstGeom>
          <a:noFill/>
          <a:ln/>
        </p:spPr>
        <p:txBody>
          <a:bodyPr wrap="square" rtlCol="0" anchor="ctr"/>
          <a:lstStyle/>
          <a:p>
            <a:pPr algn="ctr" indent="0" marL="0">
              <a:buNone/>
            </a:pPr>
            <a:r>
              <a:rPr lang="en-US" sz="1150" b="1" dirty="0">
                <a:solidFill>
                  <a:srgbClr val="0043CE"/>
                </a:solidFill>
                <a:latin typeface="Calibri" pitchFamily="34" charset="0"/>
                <a:ea typeface="Calibri" pitchFamily="34" charset="-122"/>
                <a:cs typeface="Calibri" pitchFamily="34" charset="-120"/>
              </a:rPr>
              <a:t>2008</a:t>
            </a:r>
            <a:endParaRPr lang="en-US" sz="1150" dirty="0"/>
          </a:p>
        </p:txBody>
      </p:sp>
      <p:sp>
        <p:nvSpPr>
          <p:cNvPr id="15" name="Shape 13"/>
          <p:cNvSpPr/>
          <p:nvPr/>
        </p:nvSpPr>
        <p:spPr>
          <a:xfrm>
            <a:off x="2720340" y="2560320"/>
            <a:ext cx="1874520" cy="1463040"/>
          </a:xfrm>
          <a:prstGeom prst="roundRect">
            <a:avLst>
              <a:gd name="adj" fmla="val 5000"/>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6" name="Text 14"/>
          <p:cNvSpPr/>
          <p:nvPr/>
        </p:nvSpPr>
        <p:spPr>
          <a:xfrm>
            <a:off x="2811780" y="2670048"/>
            <a:ext cx="1691640" cy="457200"/>
          </a:xfrm>
          <a:prstGeom prst="rect">
            <a:avLst/>
          </a:prstGeom>
          <a:noFill/>
          <a:ln/>
        </p:spPr>
        <p:txBody>
          <a:bodyPr wrap="square" rtlCol="0" anchor="t"/>
          <a:lstStyle/>
          <a:p>
            <a:pPr algn="ctr" indent="0" marL="0">
              <a:buNone/>
            </a:pPr>
            <a:r>
              <a:rPr lang="en-US" sz="1100" b="1" dirty="0">
                <a:solidFill>
                  <a:srgbClr val="161616"/>
                </a:solidFill>
                <a:latin typeface="Calibri" pitchFamily="34" charset="0"/>
                <a:ea typeface="Calibri" pitchFamily="34" charset="-122"/>
                <a:cs typeface="Calibri" pitchFamily="34" charset="-120"/>
              </a:rPr>
              <a:t>Acquired by IBM</a:t>
            </a:r>
            <a:endParaRPr lang="en-US" sz="1100" dirty="0"/>
          </a:p>
        </p:txBody>
      </p:sp>
      <p:sp>
        <p:nvSpPr>
          <p:cNvPr id="17" name="Text 15"/>
          <p:cNvSpPr/>
          <p:nvPr/>
        </p:nvSpPr>
        <p:spPr>
          <a:xfrm>
            <a:off x="2811780" y="3108960"/>
            <a:ext cx="1691640" cy="868680"/>
          </a:xfrm>
          <a:prstGeom prst="rect">
            <a:avLst/>
          </a:prstGeom>
          <a:noFill/>
          <a:ln/>
        </p:spPr>
        <p:txBody>
          <a:bodyPr wrap="square" rtlCol="0" anchor="t"/>
          <a:lstStyle/>
          <a:p>
            <a:pPr algn="ctr" indent="0" marL="0">
              <a:buNone/>
            </a:pPr>
            <a:r>
              <a:rPr lang="en-US" sz="900" dirty="0">
                <a:solidFill>
                  <a:srgbClr val="525252"/>
                </a:solidFill>
                <a:latin typeface="Calibri" pitchFamily="34" charset="0"/>
                <a:ea typeface="Calibri" pitchFamily="34" charset="-122"/>
                <a:cs typeface="Calibri" pitchFamily="34" charset="-120"/>
              </a:rPr>
              <a:t>IBM acquires Cognos, integrating it into its analytics portfolio.</a:t>
            </a:r>
            <a:endParaRPr lang="en-US" sz="900" dirty="0"/>
          </a:p>
        </p:txBody>
      </p:sp>
      <p:sp>
        <p:nvSpPr>
          <p:cNvPr id="18" name="Shape 16"/>
          <p:cNvSpPr/>
          <p:nvPr/>
        </p:nvSpPr>
        <p:spPr>
          <a:xfrm>
            <a:off x="5961888" y="2167128"/>
            <a:ext cx="237744" cy="237744"/>
          </a:xfrm>
          <a:prstGeom prst="ellipse">
            <a:avLst/>
          </a:prstGeom>
          <a:solidFill>
            <a:srgbClr val="0F62FE"/>
          </a:solidFill>
          <a:ln w="25400">
            <a:solidFill>
              <a:srgbClr val="FFFFFF"/>
            </a:solidFill>
            <a:prstDash val="solid"/>
          </a:ln>
        </p:spPr>
      </p:sp>
      <p:sp>
        <p:nvSpPr>
          <p:cNvPr id="19" name="Text 17"/>
          <p:cNvSpPr/>
          <p:nvPr/>
        </p:nvSpPr>
        <p:spPr>
          <a:xfrm>
            <a:off x="5349240" y="1627632"/>
            <a:ext cx="1463040" cy="274320"/>
          </a:xfrm>
          <a:prstGeom prst="rect">
            <a:avLst/>
          </a:prstGeom>
          <a:noFill/>
          <a:ln/>
        </p:spPr>
        <p:txBody>
          <a:bodyPr wrap="square" rtlCol="0" anchor="ctr"/>
          <a:lstStyle/>
          <a:p>
            <a:pPr algn="ctr" indent="0" marL="0">
              <a:buNone/>
            </a:pPr>
            <a:r>
              <a:rPr lang="en-US" sz="1150" b="1" dirty="0">
                <a:solidFill>
                  <a:srgbClr val="0043CE"/>
                </a:solidFill>
                <a:latin typeface="Calibri" pitchFamily="34" charset="0"/>
                <a:ea typeface="Calibri" pitchFamily="34" charset="-122"/>
                <a:cs typeface="Calibri" pitchFamily="34" charset="-120"/>
              </a:rPr>
              <a:t>Cognos BI</a:t>
            </a:r>
            <a:endParaRPr lang="en-US" sz="1150" dirty="0"/>
          </a:p>
        </p:txBody>
      </p:sp>
      <p:sp>
        <p:nvSpPr>
          <p:cNvPr id="20" name="Shape 18"/>
          <p:cNvSpPr/>
          <p:nvPr/>
        </p:nvSpPr>
        <p:spPr>
          <a:xfrm>
            <a:off x="5143500" y="2560320"/>
            <a:ext cx="1874520" cy="1463040"/>
          </a:xfrm>
          <a:prstGeom prst="roundRect">
            <a:avLst>
              <a:gd name="adj" fmla="val 5000"/>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1" name="Text 19"/>
          <p:cNvSpPr/>
          <p:nvPr/>
        </p:nvSpPr>
        <p:spPr>
          <a:xfrm>
            <a:off x="5234940" y="2670048"/>
            <a:ext cx="1691640" cy="457200"/>
          </a:xfrm>
          <a:prstGeom prst="rect">
            <a:avLst/>
          </a:prstGeom>
          <a:noFill/>
          <a:ln/>
        </p:spPr>
        <p:txBody>
          <a:bodyPr wrap="square" rtlCol="0" anchor="t"/>
          <a:lstStyle/>
          <a:p>
            <a:pPr algn="ctr" indent="0" marL="0">
              <a:buNone/>
            </a:pPr>
            <a:r>
              <a:rPr lang="en-US" sz="1100" b="1" dirty="0">
                <a:solidFill>
                  <a:srgbClr val="161616"/>
                </a:solidFill>
                <a:latin typeface="Calibri" pitchFamily="34" charset="0"/>
                <a:ea typeface="Calibri" pitchFamily="34" charset="-122"/>
                <a:cs typeface="Calibri" pitchFamily="34" charset="-120"/>
              </a:rPr>
              <a:t>Report Studio Era</a:t>
            </a:r>
            <a:endParaRPr lang="en-US" sz="1100" dirty="0"/>
          </a:p>
        </p:txBody>
      </p:sp>
      <p:sp>
        <p:nvSpPr>
          <p:cNvPr id="22" name="Text 20"/>
          <p:cNvSpPr/>
          <p:nvPr/>
        </p:nvSpPr>
        <p:spPr>
          <a:xfrm>
            <a:off x="5234940" y="3108960"/>
            <a:ext cx="1691640" cy="868680"/>
          </a:xfrm>
          <a:prstGeom prst="rect">
            <a:avLst/>
          </a:prstGeom>
          <a:noFill/>
          <a:ln/>
        </p:spPr>
        <p:txBody>
          <a:bodyPr wrap="square" rtlCol="0" anchor="t"/>
          <a:lstStyle/>
          <a:p>
            <a:pPr algn="ctr" indent="0" marL="0">
              <a:buNone/>
            </a:pPr>
            <a:r>
              <a:rPr lang="en-US" sz="900" dirty="0">
                <a:solidFill>
                  <a:srgbClr val="525252"/>
                </a:solidFill>
                <a:latin typeface="Calibri" pitchFamily="34" charset="0"/>
                <a:ea typeface="Calibri" pitchFamily="34" charset="-122"/>
                <a:cs typeface="Calibri" pitchFamily="34" charset="-120"/>
              </a:rPr>
              <a:t>Separate tools: Report Studio, Query Studio, Analysis Studio.</a:t>
            </a:r>
            <a:endParaRPr lang="en-US" sz="900" dirty="0"/>
          </a:p>
        </p:txBody>
      </p:sp>
      <p:sp>
        <p:nvSpPr>
          <p:cNvPr id="23" name="Shape 21"/>
          <p:cNvSpPr/>
          <p:nvPr/>
        </p:nvSpPr>
        <p:spPr>
          <a:xfrm>
            <a:off x="8385048" y="2167128"/>
            <a:ext cx="237744" cy="237744"/>
          </a:xfrm>
          <a:prstGeom prst="ellipse">
            <a:avLst/>
          </a:prstGeom>
          <a:solidFill>
            <a:srgbClr val="0F62FE"/>
          </a:solidFill>
          <a:ln w="25400">
            <a:solidFill>
              <a:srgbClr val="FFFFFF"/>
            </a:solidFill>
            <a:prstDash val="solid"/>
          </a:ln>
        </p:spPr>
      </p:sp>
      <p:sp>
        <p:nvSpPr>
          <p:cNvPr id="24" name="Text 22"/>
          <p:cNvSpPr/>
          <p:nvPr/>
        </p:nvSpPr>
        <p:spPr>
          <a:xfrm>
            <a:off x="7772400" y="1627632"/>
            <a:ext cx="1463040" cy="274320"/>
          </a:xfrm>
          <a:prstGeom prst="rect">
            <a:avLst/>
          </a:prstGeom>
          <a:noFill/>
          <a:ln/>
        </p:spPr>
        <p:txBody>
          <a:bodyPr wrap="square" rtlCol="0" anchor="ctr"/>
          <a:lstStyle/>
          <a:p>
            <a:pPr algn="ctr" indent="0" marL="0">
              <a:buNone/>
            </a:pPr>
            <a:r>
              <a:rPr lang="en-US" sz="1150" b="1" dirty="0">
                <a:solidFill>
                  <a:srgbClr val="0043CE"/>
                </a:solidFill>
                <a:latin typeface="Calibri" pitchFamily="34" charset="0"/>
                <a:ea typeface="Calibri" pitchFamily="34" charset="-122"/>
                <a:cs typeface="Calibri" pitchFamily="34" charset="-120"/>
              </a:rPr>
              <a:t>Cognos Analytics</a:t>
            </a:r>
            <a:endParaRPr lang="en-US" sz="1150" dirty="0"/>
          </a:p>
        </p:txBody>
      </p:sp>
      <p:sp>
        <p:nvSpPr>
          <p:cNvPr id="25" name="Shape 23"/>
          <p:cNvSpPr/>
          <p:nvPr/>
        </p:nvSpPr>
        <p:spPr>
          <a:xfrm>
            <a:off x="7566660" y="2560320"/>
            <a:ext cx="1874520" cy="1463040"/>
          </a:xfrm>
          <a:prstGeom prst="roundRect">
            <a:avLst>
              <a:gd name="adj" fmla="val 5000"/>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6" name="Text 24"/>
          <p:cNvSpPr/>
          <p:nvPr/>
        </p:nvSpPr>
        <p:spPr>
          <a:xfrm>
            <a:off x="7658100" y="2670048"/>
            <a:ext cx="1691640" cy="457200"/>
          </a:xfrm>
          <a:prstGeom prst="rect">
            <a:avLst/>
          </a:prstGeom>
          <a:noFill/>
          <a:ln/>
        </p:spPr>
        <p:txBody>
          <a:bodyPr wrap="square" rtlCol="0" anchor="t"/>
          <a:lstStyle/>
          <a:p>
            <a:pPr algn="ctr" indent="0" marL="0">
              <a:buNone/>
            </a:pPr>
            <a:r>
              <a:rPr lang="en-US" sz="1100" b="1" dirty="0">
                <a:solidFill>
                  <a:srgbClr val="161616"/>
                </a:solidFill>
                <a:latin typeface="Calibri" pitchFamily="34" charset="0"/>
                <a:ea typeface="Calibri" pitchFamily="34" charset="-122"/>
                <a:cs typeface="Calibri" pitchFamily="34" charset="-120"/>
              </a:rPr>
              <a:t>Unified Platform</a:t>
            </a:r>
            <a:endParaRPr lang="en-US" sz="1100" dirty="0"/>
          </a:p>
        </p:txBody>
      </p:sp>
      <p:sp>
        <p:nvSpPr>
          <p:cNvPr id="27" name="Text 25"/>
          <p:cNvSpPr/>
          <p:nvPr/>
        </p:nvSpPr>
        <p:spPr>
          <a:xfrm>
            <a:off x="7658100" y="3108960"/>
            <a:ext cx="1691640" cy="868680"/>
          </a:xfrm>
          <a:prstGeom prst="rect">
            <a:avLst/>
          </a:prstGeom>
          <a:noFill/>
          <a:ln/>
        </p:spPr>
        <p:txBody>
          <a:bodyPr wrap="square" rtlCol="0" anchor="t"/>
          <a:lstStyle/>
          <a:p>
            <a:pPr algn="ctr" indent="0" marL="0">
              <a:buNone/>
            </a:pPr>
            <a:r>
              <a:rPr lang="en-US" sz="900" dirty="0">
                <a:solidFill>
                  <a:srgbClr val="525252"/>
                </a:solidFill>
                <a:latin typeface="Calibri" pitchFamily="34" charset="0"/>
                <a:ea typeface="Calibri" pitchFamily="34" charset="-122"/>
                <a:cs typeface="Calibri" pitchFamily="34" charset="-120"/>
              </a:rPr>
              <a:t>One web interface merges reporting, dashboards &amp; self-service (v11+).</a:t>
            </a:r>
            <a:endParaRPr lang="en-US" sz="900" dirty="0"/>
          </a:p>
        </p:txBody>
      </p:sp>
      <p:sp>
        <p:nvSpPr>
          <p:cNvPr id="28" name="Shape 26"/>
          <p:cNvSpPr/>
          <p:nvPr/>
        </p:nvSpPr>
        <p:spPr>
          <a:xfrm>
            <a:off x="10808208" y="2167128"/>
            <a:ext cx="237744" cy="237744"/>
          </a:xfrm>
          <a:prstGeom prst="ellipse">
            <a:avLst/>
          </a:prstGeom>
          <a:solidFill>
            <a:srgbClr val="007D79"/>
          </a:solidFill>
          <a:ln w="25400">
            <a:solidFill>
              <a:srgbClr val="FFFFFF"/>
            </a:solidFill>
            <a:prstDash val="solid"/>
          </a:ln>
        </p:spPr>
      </p:sp>
      <p:sp>
        <p:nvSpPr>
          <p:cNvPr id="29" name="Text 27"/>
          <p:cNvSpPr/>
          <p:nvPr/>
        </p:nvSpPr>
        <p:spPr>
          <a:xfrm>
            <a:off x="10195560" y="1627632"/>
            <a:ext cx="1463040" cy="274320"/>
          </a:xfrm>
          <a:prstGeom prst="rect">
            <a:avLst/>
          </a:prstGeom>
          <a:noFill/>
          <a:ln/>
        </p:spPr>
        <p:txBody>
          <a:bodyPr wrap="square" rtlCol="0" anchor="ctr"/>
          <a:lstStyle/>
          <a:p>
            <a:pPr algn="ctr" indent="0" marL="0">
              <a:buNone/>
            </a:pPr>
            <a:r>
              <a:rPr lang="en-US" sz="1150" b="1" dirty="0">
                <a:solidFill>
                  <a:srgbClr val="0043CE"/>
                </a:solidFill>
                <a:latin typeface="Calibri" pitchFamily="34" charset="0"/>
                <a:ea typeface="Calibri" pitchFamily="34" charset="-122"/>
                <a:cs typeface="Calibri" pitchFamily="34" charset="-120"/>
              </a:rPr>
              <a:t>Today</a:t>
            </a:r>
            <a:endParaRPr lang="en-US" sz="1150" dirty="0"/>
          </a:p>
        </p:txBody>
      </p:sp>
      <p:sp>
        <p:nvSpPr>
          <p:cNvPr id="30" name="Shape 28"/>
          <p:cNvSpPr/>
          <p:nvPr/>
        </p:nvSpPr>
        <p:spPr>
          <a:xfrm>
            <a:off x="9989820" y="2560320"/>
            <a:ext cx="1874520" cy="1463040"/>
          </a:xfrm>
          <a:prstGeom prst="roundRect">
            <a:avLst>
              <a:gd name="adj" fmla="val 5000"/>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31" name="Text 29"/>
          <p:cNvSpPr/>
          <p:nvPr/>
        </p:nvSpPr>
        <p:spPr>
          <a:xfrm>
            <a:off x="10081260" y="2670048"/>
            <a:ext cx="1691640" cy="457200"/>
          </a:xfrm>
          <a:prstGeom prst="rect">
            <a:avLst/>
          </a:prstGeom>
          <a:noFill/>
          <a:ln/>
        </p:spPr>
        <p:txBody>
          <a:bodyPr wrap="square" rtlCol="0" anchor="t"/>
          <a:lstStyle/>
          <a:p>
            <a:pPr algn="ctr" indent="0" marL="0">
              <a:buNone/>
            </a:pPr>
            <a:r>
              <a:rPr lang="en-US" sz="1100" b="1" dirty="0">
                <a:solidFill>
                  <a:srgbClr val="161616"/>
                </a:solidFill>
                <a:latin typeface="Calibri" pitchFamily="34" charset="0"/>
                <a:ea typeface="Calibri" pitchFamily="34" charset="-122"/>
                <a:cs typeface="Calibri" pitchFamily="34" charset="-120"/>
              </a:rPr>
              <a:t>AI-Infused (v12)</a:t>
            </a:r>
            <a:endParaRPr lang="en-US" sz="1100" dirty="0"/>
          </a:p>
        </p:txBody>
      </p:sp>
      <p:sp>
        <p:nvSpPr>
          <p:cNvPr id="32" name="Text 30"/>
          <p:cNvSpPr/>
          <p:nvPr/>
        </p:nvSpPr>
        <p:spPr>
          <a:xfrm>
            <a:off x="10081260" y="3108960"/>
            <a:ext cx="1691640" cy="868680"/>
          </a:xfrm>
          <a:prstGeom prst="rect">
            <a:avLst/>
          </a:prstGeom>
          <a:noFill/>
          <a:ln/>
        </p:spPr>
        <p:txBody>
          <a:bodyPr wrap="square" rtlCol="0" anchor="t"/>
          <a:lstStyle/>
          <a:p>
            <a:pPr algn="ctr" indent="0" marL="0">
              <a:buNone/>
            </a:pPr>
            <a:r>
              <a:rPr lang="en-US" sz="900" dirty="0">
                <a:solidFill>
                  <a:srgbClr val="525252"/>
                </a:solidFill>
                <a:latin typeface="Calibri" pitchFamily="34" charset="0"/>
                <a:ea typeface="Calibri" pitchFamily="34" charset="-122"/>
                <a:cs typeface="Calibri" pitchFamily="34" charset="-120"/>
              </a:rPr>
              <a:t>Natural language Q&amp;A, AI Assistant, automated insights, forecasting.</a:t>
            </a:r>
            <a:endParaRPr lang="en-US" sz="900" dirty="0"/>
          </a:p>
        </p:txBody>
      </p:sp>
      <p:sp>
        <p:nvSpPr>
          <p:cNvPr id="33" name="Shape 31"/>
          <p:cNvSpPr/>
          <p:nvPr/>
        </p:nvSpPr>
        <p:spPr>
          <a:xfrm>
            <a:off x="548640" y="4251960"/>
            <a:ext cx="11064240" cy="1417320"/>
          </a:xfrm>
          <a:prstGeom prst="roundRect">
            <a:avLst>
              <a:gd name="adj" fmla="val 5161"/>
            </a:avLst>
          </a:prstGeom>
          <a:solidFill>
            <a:srgbClr val="F4F4F4"/>
          </a:solidFill>
          <a:ln w="9525">
            <a:solidFill>
              <a:srgbClr val="E0E0E0"/>
            </a:solidFill>
            <a:prstDash val="solid"/>
          </a:ln>
        </p:spPr>
      </p:sp>
      <p:sp>
        <p:nvSpPr>
          <p:cNvPr id="34" name="Text 32"/>
          <p:cNvSpPr/>
          <p:nvPr/>
        </p:nvSpPr>
        <p:spPr>
          <a:xfrm>
            <a:off x="777240" y="4370832"/>
            <a:ext cx="4572000" cy="274320"/>
          </a:xfrm>
          <a:prstGeom prst="rect">
            <a:avLst/>
          </a:prstGeom>
          <a:noFill/>
          <a:ln/>
        </p:spPr>
        <p:txBody>
          <a:bodyPr wrap="square" rtlCol="0" anchor="ctr"/>
          <a:lstStyle/>
          <a:p>
            <a:pPr indent="0" marL="0">
              <a:buNone/>
            </a:pPr>
            <a:r>
              <a:rPr lang="en-US" sz="1300" b="1" dirty="0">
                <a:solidFill>
                  <a:srgbClr val="0043CE"/>
                </a:solidFill>
                <a:latin typeface="Calibri" pitchFamily="34" charset="0"/>
                <a:ea typeface="Calibri" pitchFamily="34" charset="-122"/>
                <a:cs typeface="Calibri" pitchFamily="34" charset="-120"/>
              </a:rPr>
              <a:t>Cognos BI  </a:t>
            </a:r>
            <a:pPr indent="0" marL="0">
              <a:buNone/>
            </a:pPr>
            <a:r>
              <a:rPr lang="en-US" sz="1100" dirty="0">
                <a:solidFill>
                  <a:srgbClr val="525252"/>
                </a:solidFill>
                <a:latin typeface="Calibri" pitchFamily="34" charset="0"/>
                <a:ea typeface="Calibri" pitchFamily="34" charset="-122"/>
                <a:cs typeface="Calibri" pitchFamily="34" charset="-120"/>
              </a:rPr>
              <a:t>vs</a:t>
            </a:r>
            <a:pPr indent="0" marL="0">
              <a:buNone/>
            </a:pPr>
            <a:r>
              <a:rPr lang="en-US" sz="1300" b="1" dirty="0">
                <a:solidFill>
                  <a:srgbClr val="007D79"/>
                </a:solidFill>
                <a:latin typeface="Calibri" pitchFamily="34" charset="0"/>
                <a:ea typeface="Calibri" pitchFamily="34" charset="-122"/>
                <a:cs typeface="Calibri" pitchFamily="34" charset="-120"/>
              </a:rPr>
              <a:t>  Cognos Analytics
</a:t>
            </a:r>
            <a:endParaRPr lang="en-US" sz="1300" dirty="0"/>
          </a:p>
        </p:txBody>
      </p:sp>
      <p:sp>
        <p:nvSpPr>
          <p:cNvPr id="35" name="Text 33"/>
          <p:cNvSpPr/>
          <p:nvPr/>
        </p:nvSpPr>
        <p:spPr>
          <a:xfrm>
            <a:off x="777240" y="4690872"/>
            <a:ext cx="5120640" cy="914400"/>
          </a:xfrm>
          <a:prstGeom prst="rect">
            <a:avLst/>
          </a:prstGeom>
          <a:noFill/>
          <a:ln/>
        </p:spPr>
        <p:txBody>
          <a:bodyPr wrap="square" rtlCol="0" anchor="t"/>
          <a:lstStyle/>
          <a:p>
            <a:pPr marL="228600" indent="-228600">
              <a:spcAft>
                <a:spcPts val="600"/>
              </a:spcAft>
              <a:buSzPct val="100000"/>
              <a:buChar char="●"/>
            </a:pPr>
            <a:r>
              <a:rPr lang="en-US" sz="1050" dirty="0">
                <a:solidFill>
                  <a:srgbClr val="161616"/>
                </a:solidFill>
                <a:latin typeface="Calibri" pitchFamily="34" charset="0"/>
                <a:ea typeface="Calibri" pitchFamily="34" charset="-122"/>
                <a:cs typeface="Calibri" pitchFamily="34" charset="-120"/>
              </a:rPr>
              <a:t>Cognos BI: multiple disconnected authoring tools (Report/Query/Analysis Studio)</a:t>
            </a:r>
            <a:endParaRPr lang="en-US" sz="1050" dirty="0"/>
          </a:p>
          <a:p>
            <a:pPr marL="228600" indent="-228600">
              <a:spcAft>
                <a:spcPts val="600"/>
              </a:spcAft>
              <a:buSzPct val="100000"/>
              <a:buChar char="●"/>
            </a:pPr>
            <a:r>
              <a:rPr lang="en-US" sz="1050" dirty="0">
                <a:solidFill>
                  <a:srgbClr val="161616"/>
                </a:solidFill>
                <a:latin typeface="Calibri" pitchFamily="34" charset="0"/>
                <a:ea typeface="Calibri" pitchFamily="34" charset="-122"/>
                <a:cs typeface="Calibri" pitchFamily="34" charset="-120"/>
              </a:rPr>
              <a:t>Cognos Analytics: one unified, web-based, mobile-friendly workspace</a:t>
            </a:r>
            <a:endParaRPr lang="en-US" sz="1050" dirty="0"/>
          </a:p>
        </p:txBody>
      </p:sp>
      <p:sp>
        <p:nvSpPr>
          <p:cNvPr id="36" name="Text 34"/>
          <p:cNvSpPr/>
          <p:nvPr/>
        </p:nvSpPr>
        <p:spPr>
          <a:xfrm>
            <a:off x="6126480" y="4690872"/>
            <a:ext cx="5303520" cy="914400"/>
          </a:xfrm>
          <a:prstGeom prst="rect">
            <a:avLst/>
          </a:prstGeom>
          <a:noFill/>
          <a:ln/>
        </p:spPr>
        <p:txBody>
          <a:bodyPr wrap="square" rtlCol="0" anchor="t"/>
          <a:lstStyle/>
          <a:p>
            <a:pPr marL="228600" indent="-228600">
              <a:spcAft>
                <a:spcPts val="600"/>
              </a:spcAft>
              <a:buSzPct val="100000"/>
              <a:buChar char="●"/>
            </a:pPr>
            <a:r>
              <a:rPr lang="en-US" sz="1050" dirty="0">
                <a:solidFill>
                  <a:srgbClr val="161616"/>
                </a:solidFill>
                <a:latin typeface="Calibri" pitchFamily="34" charset="0"/>
                <a:ea typeface="Calibri" pitchFamily="34" charset="-122"/>
                <a:cs typeface="Calibri" pitchFamily="34" charset="-120"/>
              </a:rPr>
              <a:t>Latest capabilities: AI Assistant for natural-language questions</a:t>
            </a:r>
            <a:endParaRPr lang="en-US" sz="1050" dirty="0"/>
          </a:p>
          <a:p>
            <a:pPr marL="228600" indent="-228600">
              <a:spcAft>
                <a:spcPts val="600"/>
              </a:spcAft>
              <a:buSzPct val="100000"/>
              <a:buChar char="●"/>
            </a:pPr>
            <a:r>
              <a:rPr lang="en-US" sz="1050" dirty="0">
                <a:solidFill>
                  <a:srgbClr val="161616"/>
                </a:solidFill>
                <a:latin typeface="Calibri" pitchFamily="34" charset="0"/>
                <a:ea typeface="Calibri" pitchFamily="34" charset="-122"/>
                <a:cs typeface="Calibri" pitchFamily="34" charset="-120"/>
              </a:rPr>
              <a:t>Automated pattern detection, forecasting, and smart data recommendations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200" b="1" spc="100" kern="0" dirty="0">
                <a:solidFill>
                  <a:srgbClr val="0F62FE"/>
                </a:solidFill>
                <a:latin typeface="Calibri" pitchFamily="34" charset="0"/>
                <a:ea typeface="Calibri" pitchFamily="34" charset="-122"/>
                <a:cs typeface="Calibri" pitchFamily="34" charset="-120"/>
              </a:rPr>
              <a:t>HOW A REQUEST FLOWS</a:t>
            </a:r>
            <a:endParaRPr lang="en-US" sz="1200" dirty="0"/>
          </a:p>
        </p:txBody>
      </p:sp>
      <p:sp>
        <p:nvSpPr>
          <p:cNvPr id="3" name="Text 1"/>
          <p:cNvSpPr/>
          <p:nvPr/>
        </p:nvSpPr>
        <p:spPr>
          <a:xfrm>
            <a:off x="548640" y="566928"/>
            <a:ext cx="10789920" cy="685800"/>
          </a:xfrm>
          <a:prstGeom prst="rect">
            <a:avLst/>
          </a:prstGeom>
          <a:noFill/>
          <a:ln/>
        </p:spPr>
        <p:txBody>
          <a:bodyPr wrap="square" rtlCol="0" anchor="ctr"/>
          <a:lstStyle/>
          <a:p>
            <a:pPr indent="0" marL="0">
              <a:buNone/>
            </a:pPr>
            <a:r>
              <a:rPr lang="en-US" sz="3000" b="1" dirty="0">
                <a:solidFill>
                  <a:srgbClr val="161616"/>
                </a:solidFill>
                <a:latin typeface="Cambria" pitchFamily="34" charset="0"/>
                <a:ea typeface="Cambria" pitchFamily="34" charset="-122"/>
                <a:cs typeface="Cambria" pitchFamily="34" charset="-120"/>
              </a:rPr>
              <a:t>Cognos Architecture</a:t>
            </a:r>
            <a:endParaRPr lang="en-US" sz="3000" dirty="0"/>
          </a:p>
        </p:txBody>
      </p:sp>
      <p:sp>
        <p:nvSpPr>
          <p:cNvPr id="4" name="Shape 2"/>
          <p:cNvSpPr/>
          <p:nvPr/>
        </p:nvSpPr>
        <p:spPr>
          <a:xfrm>
            <a:off x="548640" y="1298448"/>
            <a:ext cx="11064240" cy="18288"/>
          </a:xfrm>
          <a:prstGeom prst="rect">
            <a:avLst/>
          </a:prstGeom>
          <a:solidFill>
            <a:srgbClr val="E0E0E0"/>
          </a:solidFill>
          <a:ln/>
        </p:spPr>
      </p:sp>
      <p:sp>
        <p:nvSpPr>
          <p:cNvPr id="5" name="Text 3"/>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525252"/>
                </a:solidFill>
                <a:latin typeface="Calibri" pitchFamily="34" charset="0"/>
                <a:ea typeface="Calibri" pitchFamily="34" charset="-122"/>
                <a:cs typeface="Calibri" pitchFamily="34" charset="-120"/>
              </a:rPr>
              <a:t>IBM Cognos Analytics Overview  |  Knowledge Transfer</a:t>
            </a:r>
            <a:endParaRPr lang="en-US" sz="900" dirty="0"/>
          </a:p>
        </p:txBody>
      </p:sp>
      <p:sp>
        <p:nvSpPr>
          <p:cNvPr id="6" name="Text 4"/>
          <p:cNvSpPr/>
          <p:nvPr/>
        </p:nvSpPr>
        <p:spPr>
          <a:xfrm>
            <a:off x="11365992" y="6510528"/>
            <a:ext cx="457200" cy="274320"/>
          </a:xfrm>
          <a:prstGeom prst="rect">
            <a:avLst/>
          </a:prstGeom>
          <a:noFill/>
          <a:ln/>
        </p:spPr>
        <p:txBody>
          <a:bodyPr wrap="square" rtlCol="0" anchor="ctr"/>
          <a:lstStyle/>
          <a:p>
            <a:pPr algn="r" indent="0" marL="0">
              <a:buNone/>
            </a:pPr>
            <a:r>
              <a:rPr lang="en-US" sz="900" dirty="0">
                <a:solidFill>
                  <a:srgbClr val="525252"/>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548640" y="1508760"/>
            <a:ext cx="2331720" cy="868680"/>
          </a:xfrm>
          <a:prstGeom prst="roundRect">
            <a:avLst>
              <a:gd name="adj" fmla="val 8421"/>
            </a:avLst>
          </a:prstGeom>
          <a:solidFill>
            <a:srgbClr val="FFFFFF"/>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658368" y="1673352"/>
            <a:ext cx="548640" cy="548640"/>
          </a:xfrm>
          <a:prstGeom prst="ellipse">
            <a:avLst/>
          </a:prstGeom>
          <a:solidFill>
            <a:srgbClr val="0F62FE"/>
          </a:solidFill>
          <a:ln/>
        </p:spPr>
      </p:sp>
      <p:pic>
        <p:nvPicPr>
          <p:cNvPr id="9" name="Image 0" descr="/home/claude/icons/users_FFFFFF.png">    </p:cNvPr>
          <p:cNvPicPr>
            <a:picLocks noChangeAspect="1"/>
          </p:cNvPicPr>
          <p:nvPr/>
        </p:nvPicPr>
        <p:blipFill>
          <a:blip r:embed="rId1"/>
          <a:stretch>
            <a:fillRect/>
          </a:stretch>
        </p:blipFill>
        <p:spPr>
          <a:xfrm>
            <a:off x="801014" y="1815998"/>
            <a:ext cx="263347" cy="263347"/>
          </a:xfrm>
          <a:prstGeom prst="rect">
            <a:avLst/>
          </a:prstGeom>
        </p:spPr>
      </p:pic>
      <p:sp>
        <p:nvSpPr>
          <p:cNvPr id="10" name="Text 7"/>
          <p:cNvSpPr/>
          <p:nvPr/>
        </p:nvSpPr>
        <p:spPr>
          <a:xfrm>
            <a:off x="1298448" y="1600200"/>
            <a:ext cx="1463040" cy="365760"/>
          </a:xfrm>
          <a:prstGeom prst="rect">
            <a:avLst/>
          </a:prstGeom>
          <a:noFill/>
          <a:ln/>
        </p:spPr>
        <p:txBody>
          <a:bodyPr wrap="square" rtlCol="0" anchor="b"/>
          <a:lstStyle/>
          <a:p>
            <a:pPr indent="0" marL="0">
              <a:buNone/>
            </a:pPr>
            <a:r>
              <a:rPr lang="en-US" sz="1250" b="1" dirty="0">
                <a:solidFill>
                  <a:srgbClr val="161616"/>
                </a:solidFill>
                <a:latin typeface="Calibri" pitchFamily="34" charset="0"/>
                <a:ea typeface="Calibri" pitchFamily="34" charset="-122"/>
                <a:cs typeface="Calibri" pitchFamily="34" charset="-120"/>
              </a:rPr>
              <a:t>Users</a:t>
            </a:r>
            <a:endParaRPr lang="en-US" sz="1250" dirty="0"/>
          </a:p>
        </p:txBody>
      </p:sp>
      <p:sp>
        <p:nvSpPr>
          <p:cNvPr id="11" name="Text 8"/>
          <p:cNvSpPr/>
          <p:nvPr/>
        </p:nvSpPr>
        <p:spPr>
          <a:xfrm>
            <a:off x="1298448" y="1947672"/>
            <a:ext cx="1463040" cy="384048"/>
          </a:xfrm>
          <a:prstGeom prst="rect">
            <a:avLst/>
          </a:prstGeom>
          <a:noFill/>
          <a:ln/>
        </p:spPr>
        <p:txBody>
          <a:bodyPr wrap="square" rtlCol="0" anchor="t"/>
          <a:lstStyle/>
          <a:p>
            <a:pPr indent="0" marL="0">
              <a:buNone/>
            </a:pPr>
            <a:r>
              <a:rPr lang="en-US" sz="900" dirty="0">
                <a:solidFill>
                  <a:srgbClr val="525252"/>
                </a:solidFill>
                <a:latin typeface="Calibri" pitchFamily="34" charset="0"/>
                <a:ea typeface="Calibri" pitchFamily="34" charset="-122"/>
                <a:cs typeface="Calibri" pitchFamily="34" charset="-120"/>
              </a:rPr>
              <a:t>Browsers &amp; mobile apps</a:t>
            </a:r>
            <a:endParaRPr lang="en-US" sz="900" dirty="0"/>
          </a:p>
        </p:txBody>
      </p:sp>
      <p:sp>
        <p:nvSpPr>
          <p:cNvPr id="12" name="Shape 9"/>
          <p:cNvSpPr/>
          <p:nvPr/>
        </p:nvSpPr>
        <p:spPr>
          <a:xfrm>
            <a:off x="3246120" y="1508760"/>
            <a:ext cx="2331720" cy="868680"/>
          </a:xfrm>
          <a:prstGeom prst="roundRect">
            <a:avLst>
              <a:gd name="adj" fmla="val 8421"/>
            </a:avLst>
          </a:prstGeom>
          <a:solidFill>
            <a:srgbClr val="FFFFFF"/>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3355848" y="1673352"/>
            <a:ext cx="548640" cy="548640"/>
          </a:xfrm>
          <a:prstGeom prst="ellipse">
            <a:avLst/>
          </a:prstGeom>
          <a:solidFill>
            <a:srgbClr val="0F62FE"/>
          </a:solidFill>
          <a:ln/>
        </p:spPr>
      </p:sp>
      <p:pic>
        <p:nvPicPr>
          <p:cNvPr id="14" name="Image 1" descr="/home/claude/icons/globe_FFFFFF.png">    </p:cNvPr>
          <p:cNvPicPr>
            <a:picLocks noChangeAspect="1"/>
          </p:cNvPicPr>
          <p:nvPr/>
        </p:nvPicPr>
        <p:blipFill>
          <a:blip r:embed="rId2"/>
          <a:stretch>
            <a:fillRect/>
          </a:stretch>
        </p:blipFill>
        <p:spPr>
          <a:xfrm>
            <a:off x="3498494" y="1815998"/>
            <a:ext cx="263347" cy="263347"/>
          </a:xfrm>
          <a:prstGeom prst="rect">
            <a:avLst/>
          </a:prstGeom>
        </p:spPr>
      </p:pic>
      <p:sp>
        <p:nvSpPr>
          <p:cNvPr id="15" name="Text 11"/>
          <p:cNvSpPr/>
          <p:nvPr/>
        </p:nvSpPr>
        <p:spPr>
          <a:xfrm>
            <a:off x="3995928" y="1600200"/>
            <a:ext cx="1463040" cy="365760"/>
          </a:xfrm>
          <a:prstGeom prst="rect">
            <a:avLst/>
          </a:prstGeom>
          <a:noFill/>
          <a:ln/>
        </p:spPr>
        <p:txBody>
          <a:bodyPr wrap="square" rtlCol="0" anchor="b"/>
          <a:lstStyle/>
          <a:p>
            <a:pPr indent="0" marL="0">
              <a:buNone/>
            </a:pPr>
            <a:r>
              <a:rPr lang="en-US" sz="1250" b="1" dirty="0">
                <a:solidFill>
                  <a:srgbClr val="161616"/>
                </a:solidFill>
                <a:latin typeface="Calibri" pitchFamily="34" charset="0"/>
                <a:ea typeface="Calibri" pitchFamily="34" charset="-122"/>
                <a:cs typeface="Calibri" pitchFamily="34" charset="-120"/>
              </a:rPr>
              <a:t>Web Portal</a:t>
            </a:r>
            <a:endParaRPr lang="en-US" sz="1250" dirty="0"/>
          </a:p>
        </p:txBody>
      </p:sp>
      <p:sp>
        <p:nvSpPr>
          <p:cNvPr id="16" name="Text 12"/>
          <p:cNvSpPr/>
          <p:nvPr/>
        </p:nvSpPr>
        <p:spPr>
          <a:xfrm>
            <a:off x="3995928" y="1947672"/>
            <a:ext cx="1463040" cy="384048"/>
          </a:xfrm>
          <a:prstGeom prst="rect">
            <a:avLst/>
          </a:prstGeom>
          <a:noFill/>
          <a:ln/>
        </p:spPr>
        <p:txBody>
          <a:bodyPr wrap="square" rtlCol="0" anchor="t"/>
          <a:lstStyle/>
          <a:p>
            <a:pPr indent="0" marL="0">
              <a:buNone/>
            </a:pPr>
            <a:r>
              <a:rPr lang="en-US" sz="900" dirty="0">
                <a:solidFill>
                  <a:srgbClr val="525252"/>
                </a:solidFill>
                <a:latin typeface="Calibri" pitchFamily="34" charset="0"/>
                <a:ea typeface="Calibri" pitchFamily="34" charset="-122"/>
                <a:cs typeface="Calibri" pitchFamily="34" charset="-120"/>
              </a:rPr>
              <a:t>Cognos Analytics UI</a:t>
            </a:r>
            <a:endParaRPr lang="en-US" sz="900" dirty="0"/>
          </a:p>
        </p:txBody>
      </p:sp>
      <p:sp>
        <p:nvSpPr>
          <p:cNvPr id="17" name="Shape 13"/>
          <p:cNvSpPr/>
          <p:nvPr/>
        </p:nvSpPr>
        <p:spPr>
          <a:xfrm>
            <a:off x="5943600" y="1508760"/>
            <a:ext cx="2331720" cy="868680"/>
          </a:xfrm>
          <a:prstGeom prst="roundRect">
            <a:avLst>
              <a:gd name="adj" fmla="val 8421"/>
            </a:avLst>
          </a:prstGeom>
          <a:solidFill>
            <a:srgbClr val="FFFFFF"/>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8" name="Shape 14"/>
          <p:cNvSpPr/>
          <p:nvPr/>
        </p:nvSpPr>
        <p:spPr>
          <a:xfrm>
            <a:off x="6053328" y="1673352"/>
            <a:ext cx="548640" cy="548640"/>
          </a:xfrm>
          <a:prstGeom prst="ellipse">
            <a:avLst/>
          </a:prstGeom>
          <a:solidFill>
            <a:srgbClr val="0F62FE"/>
          </a:solidFill>
          <a:ln/>
        </p:spPr>
      </p:sp>
      <p:pic>
        <p:nvPicPr>
          <p:cNvPr id="19" name="Image 2" descr="/home/claude/icons/gateway_FFFFFF.png">    </p:cNvPr>
          <p:cNvPicPr>
            <a:picLocks noChangeAspect="1"/>
          </p:cNvPicPr>
          <p:nvPr/>
        </p:nvPicPr>
        <p:blipFill>
          <a:blip r:embed="rId3"/>
          <a:stretch>
            <a:fillRect/>
          </a:stretch>
        </p:blipFill>
        <p:spPr>
          <a:xfrm>
            <a:off x="6195974" y="1815998"/>
            <a:ext cx="263347" cy="263347"/>
          </a:xfrm>
          <a:prstGeom prst="rect">
            <a:avLst/>
          </a:prstGeom>
        </p:spPr>
      </p:pic>
      <p:sp>
        <p:nvSpPr>
          <p:cNvPr id="20" name="Text 15"/>
          <p:cNvSpPr/>
          <p:nvPr/>
        </p:nvSpPr>
        <p:spPr>
          <a:xfrm>
            <a:off x="6693408" y="1600200"/>
            <a:ext cx="1463040" cy="365760"/>
          </a:xfrm>
          <a:prstGeom prst="rect">
            <a:avLst/>
          </a:prstGeom>
          <a:noFill/>
          <a:ln/>
        </p:spPr>
        <p:txBody>
          <a:bodyPr wrap="square" rtlCol="0" anchor="b"/>
          <a:lstStyle/>
          <a:p>
            <a:pPr indent="0" marL="0">
              <a:buNone/>
            </a:pPr>
            <a:r>
              <a:rPr lang="en-US" sz="1250" b="1" dirty="0">
                <a:solidFill>
                  <a:srgbClr val="161616"/>
                </a:solidFill>
                <a:latin typeface="Calibri" pitchFamily="34" charset="0"/>
                <a:ea typeface="Calibri" pitchFamily="34" charset="-122"/>
                <a:cs typeface="Calibri" pitchFamily="34" charset="-120"/>
              </a:rPr>
              <a:t>Gateway</a:t>
            </a:r>
            <a:endParaRPr lang="en-US" sz="1250" dirty="0"/>
          </a:p>
        </p:txBody>
      </p:sp>
      <p:sp>
        <p:nvSpPr>
          <p:cNvPr id="21" name="Text 16"/>
          <p:cNvSpPr/>
          <p:nvPr/>
        </p:nvSpPr>
        <p:spPr>
          <a:xfrm>
            <a:off x="6693408" y="1947672"/>
            <a:ext cx="1463040" cy="384048"/>
          </a:xfrm>
          <a:prstGeom prst="rect">
            <a:avLst/>
          </a:prstGeom>
          <a:noFill/>
          <a:ln/>
        </p:spPr>
        <p:txBody>
          <a:bodyPr wrap="square" rtlCol="0" anchor="t"/>
          <a:lstStyle/>
          <a:p>
            <a:pPr indent="0" marL="0">
              <a:buNone/>
            </a:pPr>
            <a:r>
              <a:rPr lang="en-US" sz="900" dirty="0">
                <a:solidFill>
                  <a:srgbClr val="525252"/>
                </a:solidFill>
                <a:latin typeface="Calibri" pitchFamily="34" charset="0"/>
                <a:ea typeface="Calibri" pitchFamily="34" charset="-122"/>
                <a:cs typeface="Calibri" pitchFamily="34" charset="-120"/>
              </a:rPr>
              <a:t>Web-server entry point</a:t>
            </a:r>
            <a:endParaRPr lang="en-US" sz="900" dirty="0"/>
          </a:p>
        </p:txBody>
      </p:sp>
      <p:sp>
        <p:nvSpPr>
          <p:cNvPr id="22" name="Shape 17"/>
          <p:cNvSpPr/>
          <p:nvPr/>
        </p:nvSpPr>
        <p:spPr>
          <a:xfrm>
            <a:off x="8641080" y="1508760"/>
            <a:ext cx="2999232" cy="868680"/>
          </a:xfrm>
          <a:prstGeom prst="roundRect">
            <a:avLst>
              <a:gd name="adj" fmla="val 8421"/>
            </a:avLst>
          </a:prstGeom>
          <a:solidFill>
            <a:srgbClr val="FFFFFF"/>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8750808" y="1673352"/>
            <a:ext cx="548640" cy="548640"/>
          </a:xfrm>
          <a:prstGeom prst="ellipse">
            <a:avLst/>
          </a:prstGeom>
          <a:solidFill>
            <a:srgbClr val="0F62FE"/>
          </a:solidFill>
          <a:ln/>
        </p:spPr>
      </p:sp>
      <p:pic>
        <p:nvPicPr>
          <p:cNvPr id="24" name="Image 3" descr="/home/claude/icons/dispatch_FFFFFF.png">    </p:cNvPr>
          <p:cNvPicPr>
            <a:picLocks noChangeAspect="1"/>
          </p:cNvPicPr>
          <p:nvPr/>
        </p:nvPicPr>
        <p:blipFill>
          <a:blip r:embed="rId4"/>
          <a:stretch>
            <a:fillRect/>
          </a:stretch>
        </p:blipFill>
        <p:spPr>
          <a:xfrm>
            <a:off x="8893454" y="1815998"/>
            <a:ext cx="263347" cy="263347"/>
          </a:xfrm>
          <a:prstGeom prst="rect">
            <a:avLst/>
          </a:prstGeom>
        </p:spPr>
      </p:pic>
      <p:sp>
        <p:nvSpPr>
          <p:cNvPr id="25" name="Text 19"/>
          <p:cNvSpPr/>
          <p:nvPr/>
        </p:nvSpPr>
        <p:spPr>
          <a:xfrm>
            <a:off x="9390888" y="1600200"/>
            <a:ext cx="2130552" cy="365760"/>
          </a:xfrm>
          <a:prstGeom prst="rect">
            <a:avLst/>
          </a:prstGeom>
          <a:noFill/>
          <a:ln/>
        </p:spPr>
        <p:txBody>
          <a:bodyPr wrap="square" rtlCol="0" anchor="b"/>
          <a:lstStyle/>
          <a:p>
            <a:pPr indent="0" marL="0">
              <a:buNone/>
            </a:pPr>
            <a:r>
              <a:rPr lang="en-US" sz="1250" b="1" dirty="0">
                <a:solidFill>
                  <a:srgbClr val="161616"/>
                </a:solidFill>
                <a:latin typeface="Calibri" pitchFamily="34" charset="0"/>
                <a:ea typeface="Calibri" pitchFamily="34" charset="-122"/>
                <a:cs typeface="Calibri" pitchFamily="34" charset="-120"/>
              </a:rPr>
              <a:t>Dispatcher</a:t>
            </a:r>
            <a:endParaRPr lang="en-US" sz="1250" dirty="0"/>
          </a:p>
        </p:txBody>
      </p:sp>
      <p:sp>
        <p:nvSpPr>
          <p:cNvPr id="26" name="Text 20"/>
          <p:cNvSpPr/>
          <p:nvPr/>
        </p:nvSpPr>
        <p:spPr>
          <a:xfrm>
            <a:off x="9390888" y="1947672"/>
            <a:ext cx="2130552" cy="384048"/>
          </a:xfrm>
          <a:prstGeom prst="rect">
            <a:avLst/>
          </a:prstGeom>
          <a:noFill/>
          <a:ln/>
        </p:spPr>
        <p:txBody>
          <a:bodyPr wrap="square" rtlCol="0" anchor="t"/>
          <a:lstStyle/>
          <a:p>
            <a:pPr indent="0" marL="0">
              <a:buNone/>
            </a:pPr>
            <a:r>
              <a:rPr lang="en-US" sz="900" dirty="0">
                <a:solidFill>
                  <a:srgbClr val="525252"/>
                </a:solidFill>
                <a:latin typeface="Calibri" pitchFamily="34" charset="0"/>
                <a:ea typeface="Calibri" pitchFamily="34" charset="-122"/>
                <a:cs typeface="Calibri" pitchFamily="34" charset="-120"/>
              </a:rPr>
              <a:t>Routes requests to services</a:t>
            </a:r>
            <a:endParaRPr lang="en-US" sz="900" dirty="0"/>
          </a:p>
        </p:txBody>
      </p:sp>
      <p:sp>
        <p:nvSpPr>
          <p:cNvPr id="27" name="Shape 21"/>
          <p:cNvSpPr/>
          <p:nvPr/>
        </p:nvSpPr>
        <p:spPr>
          <a:xfrm>
            <a:off x="2880360" y="1943100"/>
            <a:ext cx="365760" cy="0"/>
          </a:xfrm>
          <a:prstGeom prst="line">
            <a:avLst/>
          </a:prstGeom>
          <a:noFill/>
          <a:ln w="25400">
            <a:solidFill>
              <a:srgbClr val="0F62FE"/>
            </a:solidFill>
            <a:prstDash val="solid"/>
            <a:tailEnd type="triangle"/>
          </a:ln>
        </p:spPr>
      </p:sp>
      <p:sp>
        <p:nvSpPr>
          <p:cNvPr id="28" name="Shape 22"/>
          <p:cNvSpPr/>
          <p:nvPr/>
        </p:nvSpPr>
        <p:spPr>
          <a:xfrm>
            <a:off x="5577840" y="1943100"/>
            <a:ext cx="365760" cy="0"/>
          </a:xfrm>
          <a:prstGeom prst="line">
            <a:avLst/>
          </a:prstGeom>
          <a:noFill/>
          <a:ln w="25400">
            <a:solidFill>
              <a:srgbClr val="0F62FE"/>
            </a:solidFill>
            <a:prstDash val="solid"/>
            <a:tailEnd type="triangle"/>
          </a:ln>
        </p:spPr>
      </p:sp>
      <p:sp>
        <p:nvSpPr>
          <p:cNvPr id="29" name="Shape 23"/>
          <p:cNvSpPr/>
          <p:nvPr/>
        </p:nvSpPr>
        <p:spPr>
          <a:xfrm>
            <a:off x="8275320" y="1943100"/>
            <a:ext cx="365760" cy="0"/>
          </a:xfrm>
          <a:prstGeom prst="line">
            <a:avLst/>
          </a:prstGeom>
          <a:noFill/>
          <a:ln w="25400">
            <a:solidFill>
              <a:srgbClr val="0F62FE"/>
            </a:solidFill>
            <a:prstDash val="solid"/>
            <a:tailEnd type="triangle"/>
          </a:ln>
        </p:spPr>
      </p:sp>
      <p:sp>
        <p:nvSpPr>
          <p:cNvPr id="30" name="Shape 24"/>
          <p:cNvSpPr/>
          <p:nvPr/>
        </p:nvSpPr>
        <p:spPr>
          <a:xfrm>
            <a:off x="10140696" y="2377440"/>
            <a:ext cx="0" cy="411480"/>
          </a:xfrm>
          <a:prstGeom prst="line">
            <a:avLst/>
          </a:prstGeom>
          <a:noFill/>
          <a:ln w="25400">
            <a:solidFill>
              <a:srgbClr val="0F62FE"/>
            </a:solidFill>
            <a:prstDash val="solid"/>
            <a:tailEnd type="triangle"/>
          </a:ln>
        </p:spPr>
      </p:sp>
      <p:sp>
        <p:nvSpPr>
          <p:cNvPr id="31" name="Text 25"/>
          <p:cNvSpPr/>
          <p:nvPr/>
        </p:nvSpPr>
        <p:spPr>
          <a:xfrm>
            <a:off x="548640" y="2834640"/>
            <a:ext cx="3657600" cy="228600"/>
          </a:xfrm>
          <a:prstGeom prst="rect">
            <a:avLst/>
          </a:prstGeom>
          <a:noFill/>
          <a:ln/>
        </p:spPr>
        <p:txBody>
          <a:bodyPr wrap="square" rtlCol="0" anchor="ctr"/>
          <a:lstStyle/>
          <a:p>
            <a:pPr indent="0" marL="0">
              <a:buNone/>
            </a:pPr>
            <a:r>
              <a:rPr lang="en-US" sz="1000" b="1" spc="100" kern="0" dirty="0">
                <a:solidFill>
                  <a:srgbClr val="0043CE"/>
                </a:solidFill>
                <a:latin typeface="Calibri" pitchFamily="34" charset="0"/>
                <a:ea typeface="Calibri" pitchFamily="34" charset="-122"/>
                <a:cs typeface="Calibri" pitchFamily="34" charset="-120"/>
              </a:rPr>
              <a:t>APPLICATION TIER</a:t>
            </a:r>
            <a:endParaRPr lang="en-US" sz="1000" dirty="0"/>
          </a:p>
        </p:txBody>
      </p:sp>
      <p:sp>
        <p:nvSpPr>
          <p:cNvPr id="32" name="Shape 26"/>
          <p:cNvSpPr/>
          <p:nvPr/>
        </p:nvSpPr>
        <p:spPr>
          <a:xfrm>
            <a:off x="548640" y="3154680"/>
            <a:ext cx="2697480" cy="868680"/>
          </a:xfrm>
          <a:prstGeom prst="roundRect">
            <a:avLst>
              <a:gd name="adj" fmla="val 8421"/>
            </a:avLst>
          </a:prstGeom>
          <a:solidFill>
            <a:srgbClr val="FFFFFF"/>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33" name="Shape 27"/>
          <p:cNvSpPr/>
          <p:nvPr/>
        </p:nvSpPr>
        <p:spPr>
          <a:xfrm>
            <a:off x="658368" y="3319272"/>
            <a:ext cx="548640" cy="548640"/>
          </a:xfrm>
          <a:prstGeom prst="ellipse">
            <a:avLst/>
          </a:prstGeom>
          <a:solidFill>
            <a:srgbClr val="0F62FE"/>
          </a:solidFill>
          <a:ln/>
        </p:spPr>
      </p:sp>
      <p:pic>
        <p:nvPicPr>
          <p:cNvPr id="34" name="Image 4" descr="/home/claude/icons/sitemap_FFFFFF.png">    </p:cNvPr>
          <p:cNvPicPr>
            <a:picLocks noChangeAspect="1"/>
          </p:cNvPicPr>
          <p:nvPr/>
        </p:nvPicPr>
        <p:blipFill>
          <a:blip r:embed="rId5"/>
          <a:stretch>
            <a:fillRect/>
          </a:stretch>
        </p:blipFill>
        <p:spPr>
          <a:xfrm>
            <a:off x="801014" y="3461918"/>
            <a:ext cx="263347" cy="263347"/>
          </a:xfrm>
          <a:prstGeom prst="rect">
            <a:avLst/>
          </a:prstGeom>
        </p:spPr>
      </p:pic>
      <p:sp>
        <p:nvSpPr>
          <p:cNvPr id="35" name="Text 28"/>
          <p:cNvSpPr/>
          <p:nvPr/>
        </p:nvSpPr>
        <p:spPr>
          <a:xfrm>
            <a:off x="1298448" y="3246120"/>
            <a:ext cx="1828800" cy="365760"/>
          </a:xfrm>
          <a:prstGeom prst="rect">
            <a:avLst/>
          </a:prstGeom>
          <a:noFill/>
          <a:ln/>
        </p:spPr>
        <p:txBody>
          <a:bodyPr wrap="square" rtlCol="0" anchor="b"/>
          <a:lstStyle/>
          <a:p>
            <a:pPr indent="0" marL="0">
              <a:buNone/>
            </a:pPr>
            <a:r>
              <a:rPr lang="en-US" sz="1250" b="1" dirty="0">
                <a:solidFill>
                  <a:srgbClr val="161616"/>
                </a:solidFill>
                <a:latin typeface="Calibri" pitchFamily="34" charset="0"/>
                <a:ea typeface="Calibri" pitchFamily="34" charset="-122"/>
                <a:cs typeface="Calibri" pitchFamily="34" charset="-120"/>
              </a:rPr>
              <a:t>Content Manager</a:t>
            </a:r>
            <a:endParaRPr lang="en-US" sz="1250" dirty="0"/>
          </a:p>
        </p:txBody>
      </p:sp>
      <p:sp>
        <p:nvSpPr>
          <p:cNvPr id="36" name="Text 29"/>
          <p:cNvSpPr/>
          <p:nvPr/>
        </p:nvSpPr>
        <p:spPr>
          <a:xfrm>
            <a:off x="1298448" y="3593592"/>
            <a:ext cx="1828800" cy="384048"/>
          </a:xfrm>
          <a:prstGeom prst="rect">
            <a:avLst/>
          </a:prstGeom>
          <a:noFill/>
          <a:ln/>
        </p:spPr>
        <p:txBody>
          <a:bodyPr wrap="square" rtlCol="0" anchor="t"/>
          <a:lstStyle/>
          <a:p>
            <a:pPr indent="0" marL="0">
              <a:buNone/>
            </a:pPr>
            <a:r>
              <a:rPr lang="en-US" sz="900" dirty="0">
                <a:solidFill>
                  <a:srgbClr val="525252"/>
                </a:solidFill>
                <a:latin typeface="Calibri" pitchFamily="34" charset="0"/>
                <a:ea typeface="Calibri" pitchFamily="34" charset="-122"/>
                <a:cs typeface="Calibri" pitchFamily="34" charset="-120"/>
              </a:rPr>
              <a:t>Metadata &amp; security store</a:t>
            </a:r>
            <a:endParaRPr lang="en-US" sz="900" dirty="0"/>
          </a:p>
        </p:txBody>
      </p:sp>
      <p:sp>
        <p:nvSpPr>
          <p:cNvPr id="37" name="Shape 30"/>
          <p:cNvSpPr/>
          <p:nvPr/>
        </p:nvSpPr>
        <p:spPr>
          <a:xfrm>
            <a:off x="3520440" y="3154680"/>
            <a:ext cx="2697480" cy="868680"/>
          </a:xfrm>
          <a:prstGeom prst="roundRect">
            <a:avLst>
              <a:gd name="adj" fmla="val 8421"/>
            </a:avLst>
          </a:prstGeom>
          <a:solidFill>
            <a:srgbClr val="FFFFFF"/>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38" name="Shape 31"/>
          <p:cNvSpPr/>
          <p:nvPr/>
        </p:nvSpPr>
        <p:spPr>
          <a:xfrm>
            <a:off x="3630168" y="3319272"/>
            <a:ext cx="548640" cy="548640"/>
          </a:xfrm>
          <a:prstGeom prst="ellipse">
            <a:avLst/>
          </a:prstGeom>
          <a:solidFill>
            <a:srgbClr val="0F62FE"/>
          </a:solidFill>
          <a:ln/>
        </p:spPr>
      </p:sp>
      <p:pic>
        <p:nvPicPr>
          <p:cNvPr id="39" name="Image 5" descr="/home/claude/icons/file_FFFFFF.png">    </p:cNvPr>
          <p:cNvPicPr>
            <a:picLocks noChangeAspect="1"/>
          </p:cNvPicPr>
          <p:nvPr/>
        </p:nvPicPr>
        <p:blipFill>
          <a:blip r:embed="rId6"/>
          <a:stretch>
            <a:fillRect/>
          </a:stretch>
        </p:blipFill>
        <p:spPr>
          <a:xfrm>
            <a:off x="3772814" y="3461918"/>
            <a:ext cx="263347" cy="263347"/>
          </a:xfrm>
          <a:prstGeom prst="rect">
            <a:avLst/>
          </a:prstGeom>
        </p:spPr>
      </p:pic>
      <p:sp>
        <p:nvSpPr>
          <p:cNvPr id="40" name="Text 32"/>
          <p:cNvSpPr/>
          <p:nvPr/>
        </p:nvSpPr>
        <p:spPr>
          <a:xfrm>
            <a:off x="4270248" y="3246120"/>
            <a:ext cx="1828800" cy="365760"/>
          </a:xfrm>
          <a:prstGeom prst="rect">
            <a:avLst/>
          </a:prstGeom>
          <a:noFill/>
          <a:ln/>
        </p:spPr>
        <p:txBody>
          <a:bodyPr wrap="square" rtlCol="0" anchor="b"/>
          <a:lstStyle/>
          <a:p>
            <a:pPr indent="0" marL="0">
              <a:buNone/>
            </a:pPr>
            <a:r>
              <a:rPr lang="en-US" sz="1250" b="1" dirty="0">
                <a:solidFill>
                  <a:srgbClr val="161616"/>
                </a:solidFill>
                <a:latin typeface="Calibri" pitchFamily="34" charset="0"/>
                <a:ea typeface="Calibri" pitchFamily="34" charset="-122"/>
                <a:cs typeface="Calibri" pitchFamily="34" charset="-120"/>
              </a:rPr>
              <a:t>Report Service</a:t>
            </a:r>
            <a:endParaRPr lang="en-US" sz="1250" dirty="0"/>
          </a:p>
        </p:txBody>
      </p:sp>
      <p:sp>
        <p:nvSpPr>
          <p:cNvPr id="41" name="Text 33"/>
          <p:cNvSpPr/>
          <p:nvPr/>
        </p:nvSpPr>
        <p:spPr>
          <a:xfrm>
            <a:off x="4270248" y="3593592"/>
            <a:ext cx="1828800" cy="384048"/>
          </a:xfrm>
          <a:prstGeom prst="rect">
            <a:avLst/>
          </a:prstGeom>
          <a:noFill/>
          <a:ln/>
        </p:spPr>
        <p:txBody>
          <a:bodyPr wrap="square" rtlCol="0" anchor="t"/>
          <a:lstStyle/>
          <a:p>
            <a:pPr indent="0" marL="0">
              <a:buNone/>
            </a:pPr>
            <a:r>
              <a:rPr lang="en-US" sz="900" dirty="0">
                <a:solidFill>
                  <a:srgbClr val="525252"/>
                </a:solidFill>
                <a:latin typeface="Calibri" pitchFamily="34" charset="0"/>
                <a:ea typeface="Calibri" pitchFamily="34" charset="-122"/>
                <a:cs typeface="Calibri" pitchFamily="34" charset="-120"/>
              </a:rPr>
              <a:t>Runs &amp; renders reports</a:t>
            </a:r>
            <a:endParaRPr lang="en-US" sz="900" dirty="0"/>
          </a:p>
        </p:txBody>
      </p:sp>
      <p:sp>
        <p:nvSpPr>
          <p:cNvPr id="42" name="Shape 34"/>
          <p:cNvSpPr/>
          <p:nvPr/>
        </p:nvSpPr>
        <p:spPr>
          <a:xfrm>
            <a:off x="6492240" y="3154680"/>
            <a:ext cx="2697480" cy="868680"/>
          </a:xfrm>
          <a:prstGeom prst="roundRect">
            <a:avLst>
              <a:gd name="adj" fmla="val 8421"/>
            </a:avLst>
          </a:prstGeom>
          <a:solidFill>
            <a:srgbClr val="FFFFFF"/>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43" name="Shape 35"/>
          <p:cNvSpPr/>
          <p:nvPr/>
        </p:nvSpPr>
        <p:spPr>
          <a:xfrm>
            <a:off x="6601968" y="3319272"/>
            <a:ext cx="548640" cy="548640"/>
          </a:xfrm>
          <a:prstGeom prst="ellipse">
            <a:avLst/>
          </a:prstGeom>
          <a:solidFill>
            <a:srgbClr val="0F62FE"/>
          </a:solidFill>
          <a:ln/>
        </p:spPr>
      </p:sp>
      <p:pic>
        <p:nvPicPr>
          <p:cNvPr id="44" name="Image 6" descr="/home/claude/icons/clock_FFFFFF.png">    </p:cNvPr>
          <p:cNvPicPr>
            <a:picLocks noChangeAspect="1"/>
          </p:cNvPicPr>
          <p:nvPr/>
        </p:nvPicPr>
        <p:blipFill>
          <a:blip r:embed="rId7"/>
          <a:stretch>
            <a:fillRect/>
          </a:stretch>
        </p:blipFill>
        <p:spPr>
          <a:xfrm>
            <a:off x="6744614" y="3461918"/>
            <a:ext cx="263347" cy="263347"/>
          </a:xfrm>
          <a:prstGeom prst="rect">
            <a:avLst/>
          </a:prstGeom>
        </p:spPr>
      </p:pic>
      <p:sp>
        <p:nvSpPr>
          <p:cNvPr id="45" name="Text 36"/>
          <p:cNvSpPr/>
          <p:nvPr/>
        </p:nvSpPr>
        <p:spPr>
          <a:xfrm>
            <a:off x="7242048" y="3246120"/>
            <a:ext cx="1828800" cy="365760"/>
          </a:xfrm>
          <a:prstGeom prst="rect">
            <a:avLst/>
          </a:prstGeom>
          <a:noFill/>
          <a:ln/>
        </p:spPr>
        <p:txBody>
          <a:bodyPr wrap="square" rtlCol="0" anchor="b"/>
          <a:lstStyle/>
          <a:p>
            <a:pPr indent="0" marL="0">
              <a:buNone/>
            </a:pPr>
            <a:r>
              <a:rPr lang="en-US" sz="1250" b="1" dirty="0">
                <a:solidFill>
                  <a:srgbClr val="161616"/>
                </a:solidFill>
                <a:latin typeface="Calibri" pitchFamily="34" charset="0"/>
                <a:ea typeface="Calibri" pitchFamily="34" charset="-122"/>
                <a:cs typeface="Calibri" pitchFamily="34" charset="-120"/>
              </a:rPr>
              <a:t>Batch Report Service</a:t>
            </a:r>
            <a:endParaRPr lang="en-US" sz="1250" dirty="0"/>
          </a:p>
        </p:txBody>
      </p:sp>
      <p:sp>
        <p:nvSpPr>
          <p:cNvPr id="46" name="Text 37"/>
          <p:cNvSpPr/>
          <p:nvPr/>
        </p:nvSpPr>
        <p:spPr>
          <a:xfrm>
            <a:off x="7242048" y="3593592"/>
            <a:ext cx="1828800" cy="384048"/>
          </a:xfrm>
          <a:prstGeom prst="rect">
            <a:avLst/>
          </a:prstGeom>
          <a:noFill/>
          <a:ln/>
        </p:spPr>
        <p:txBody>
          <a:bodyPr wrap="square" rtlCol="0" anchor="t"/>
          <a:lstStyle/>
          <a:p>
            <a:pPr indent="0" marL="0">
              <a:buNone/>
            </a:pPr>
            <a:r>
              <a:rPr lang="en-US" sz="900" dirty="0">
                <a:solidFill>
                  <a:srgbClr val="525252"/>
                </a:solidFill>
                <a:latin typeface="Calibri" pitchFamily="34" charset="0"/>
                <a:ea typeface="Calibri" pitchFamily="34" charset="-122"/>
                <a:cs typeface="Calibri" pitchFamily="34" charset="-120"/>
              </a:rPr>
              <a:t>Scheduled &amp; bursted jobs</a:t>
            </a:r>
            <a:endParaRPr lang="en-US" sz="900" dirty="0"/>
          </a:p>
        </p:txBody>
      </p:sp>
      <p:sp>
        <p:nvSpPr>
          <p:cNvPr id="47" name="Shape 38"/>
          <p:cNvSpPr/>
          <p:nvPr/>
        </p:nvSpPr>
        <p:spPr>
          <a:xfrm>
            <a:off x="9464040" y="3154680"/>
            <a:ext cx="2176272" cy="868680"/>
          </a:xfrm>
          <a:prstGeom prst="roundRect">
            <a:avLst>
              <a:gd name="adj" fmla="val 8421"/>
            </a:avLst>
          </a:prstGeom>
          <a:solidFill>
            <a:srgbClr val="FFFFFF"/>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48" name="Shape 39"/>
          <p:cNvSpPr/>
          <p:nvPr/>
        </p:nvSpPr>
        <p:spPr>
          <a:xfrm>
            <a:off x="9573768" y="3319272"/>
            <a:ext cx="548640" cy="548640"/>
          </a:xfrm>
          <a:prstGeom prst="ellipse">
            <a:avLst/>
          </a:prstGeom>
          <a:solidFill>
            <a:srgbClr val="0F62FE"/>
          </a:solidFill>
          <a:ln/>
        </p:spPr>
      </p:sp>
      <p:pic>
        <p:nvPicPr>
          <p:cNvPr id="49" name="Image 7" descr="/home/claude/icons/chartbar_FFFFFF.png">    </p:cNvPr>
          <p:cNvPicPr>
            <a:picLocks noChangeAspect="1"/>
          </p:cNvPicPr>
          <p:nvPr/>
        </p:nvPicPr>
        <p:blipFill>
          <a:blip r:embed="rId8"/>
          <a:stretch>
            <a:fillRect/>
          </a:stretch>
        </p:blipFill>
        <p:spPr>
          <a:xfrm>
            <a:off x="9716414" y="3461918"/>
            <a:ext cx="263347" cy="263347"/>
          </a:xfrm>
          <a:prstGeom prst="rect">
            <a:avLst/>
          </a:prstGeom>
        </p:spPr>
      </p:pic>
      <p:sp>
        <p:nvSpPr>
          <p:cNvPr id="50" name="Text 40"/>
          <p:cNvSpPr/>
          <p:nvPr/>
        </p:nvSpPr>
        <p:spPr>
          <a:xfrm>
            <a:off x="10213848" y="3246120"/>
            <a:ext cx="1307592" cy="365760"/>
          </a:xfrm>
          <a:prstGeom prst="rect">
            <a:avLst/>
          </a:prstGeom>
          <a:noFill/>
          <a:ln/>
        </p:spPr>
        <p:txBody>
          <a:bodyPr wrap="square" rtlCol="0" anchor="b"/>
          <a:lstStyle/>
          <a:p>
            <a:pPr indent="0" marL="0">
              <a:buNone/>
            </a:pPr>
            <a:r>
              <a:rPr lang="en-US" sz="1250" b="1" dirty="0">
                <a:solidFill>
                  <a:srgbClr val="161616"/>
                </a:solidFill>
                <a:latin typeface="Calibri" pitchFamily="34" charset="0"/>
                <a:ea typeface="Calibri" pitchFamily="34" charset="-122"/>
                <a:cs typeface="Calibri" pitchFamily="34" charset="-120"/>
              </a:rPr>
              <a:t>Query Service</a:t>
            </a:r>
            <a:endParaRPr lang="en-US" sz="1250" dirty="0"/>
          </a:p>
        </p:txBody>
      </p:sp>
      <p:sp>
        <p:nvSpPr>
          <p:cNvPr id="51" name="Text 41"/>
          <p:cNvSpPr/>
          <p:nvPr/>
        </p:nvSpPr>
        <p:spPr>
          <a:xfrm>
            <a:off x="10213848" y="3593592"/>
            <a:ext cx="1307592" cy="384048"/>
          </a:xfrm>
          <a:prstGeom prst="rect">
            <a:avLst/>
          </a:prstGeom>
          <a:noFill/>
          <a:ln/>
        </p:spPr>
        <p:txBody>
          <a:bodyPr wrap="square" rtlCol="0" anchor="t"/>
          <a:lstStyle/>
          <a:p>
            <a:pPr indent="0" marL="0">
              <a:buNone/>
            </a:pPr>
            <a:r>
              <a:rPr lang="en-US" sz="900" dirty="0">
                <a:solidFill>
                  <a:srgbClr val="525252"/>
                </a:solidFill>
                <a:latin typeface="Calibri" pitchFamily="34" charset="0"/>
                <a:ea typeface="Calibri" pitchFamily="34" charset="-122"/>
                <a:cs typeface="Calibri" pitchFamily="34" charset="-120"/>
              </a:rPr>
              <a:t>Executes data queries</a:t>
            </a:r>
            <a:endParaRPr lang="en-US" sz="900" dirty="0"/>
          </a:p>
        </p:txBody>
      </p:sp>
      <p:sp>
        <p:nvSpPr>
          <p:cNvPr id="52" name="Shape 42"/>
          <p:cNvSpPr/>
          <p:nvPr/>
        </p:nvSpPr>
        <p:spPr>
          <a:xfrm>
            <a:off x="1828800" y="3044952"/>
            <a:ext cx="8778240" cy="0"/>
          </a:xfrm>
          <a:prstGeom prst="line">
            <a:avLst/>
          </a:prstGeom>
          <a:noFill/>
          <a:ln w="19050">
            <a:solidFill>
              <a:srgbClr val="E0E0E0"/>
            </a:solidFill>
            <a:prstDash val="dash"/>
          </a:ln>
        </p:spPr>
      </p:sp>
      <p:sp>
        <p:nvSpPr>
          <p:cNvPr id="53" name="Shape 43"/>
          <p:cNvSpPr/>
          <p:nvPr/>
        </p:nvSpPr>
        <p:spPr>
          <a:xfrm>
            <a:off x="10140696" y="2788920"/>
            <a:ext cx="-8311896" cy="256032"/>
          </a:xfrm>
          <a:prstGeom prst="line">
            <a:avLst/>
          </a:prstGeom>
          <a:noFill/>
          <a:ln w="19050">
            <a:solidFill>
              <a:srgbClr val="E0E0E0"/>
            </a:solidFill>
            <a:prstDash val="solid"/>
          </a:ln>
        </p:spPr>
      </p:sp>
      <p:sp>
        <p:nvSpPr>
          <p:cNvPr id="54" name="Shape 44"/>
          <p:cNvSpPr/>
          <p:nvPr/>
        </p:nvSpPr>
        <p:spPr>
          <a:xfrm>
            <a:off x="2011680" y="4480560"/>
            <a:ext cx="3566160" cy="868680"/>
          </a:xfrm>
          <a:prstGeom prst="roundRect">
            <a:avLst>
              <a:gd name="adj" fmla="val 8421"/>
            </a:avLst>
          </a:prstGeom>
          <a:solidFill>
            <a:srgbClr val="D0E2FF"/>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55" name="Shape 45"/>
          <p:cNvSpPr/>
          <p:nvPr/>
        </p:nvSpPr>
        <p:spPr>
          <a:xfrm>
            <a:off x="2121408" y="4645152"/>
            <a:ext cx="548640" cy="548640"/>
          </a:xfrm>
          <a:prstGeom prst="ellipse">
            <a:avLst/>
          </a:prstGeom>
          <a:solidFill>
            <a:srgbClr val="0F62FE"/>
          </a:solidFill>
          <a:ln/>
        </p:spPr>
      </p:sp>
      <p:pic>
        <p:nvPicPr>
          <p:cNvPr id="56" name="Image 8" descr="/home/claude/icons/database_FFFFFF.png">    </p:cNvPr>
          <p:cNvPicPr>
            <a:picLocks noChangeAspect="1"/>
          </p:cNvPicPr>
          <p:nvPr/>
        </p:nvPicPr>
        <p:blipFill>
          <a:blip r:embed="rId9"/>
          <a:stretch>
            <a:fillRect/>
          </a:stretch>
        </p:blipFill>
        <p:spPr>
          <a:xfrm>
            <a:off x="2264054" y="4787798"/>
            <a:ext cx="263347" cy="263347"/>
          </a:xfrm>
          <a:prstGeom prst="rect">
            <a:avLst/>
          </a:prstGeom>
        </p:spPr>
      </p:pic>
      <p:sp>
        <p:nvSpPr>
          <p:cNvPr id="57" name="Text 46"/>
          <p:cNvSpPr/>
          <p:nvPr/>
        </p:nvSpPr>
        <p:spPr>
          <a:xfrm>
            <a:off x="2761488" y="4572000"/>
            <a:ext cx="2697480" cy="365760"/>
          </a:xfrm>
          <a:prstGeom prst="rect">
            <a:avLst/>
          </a:prstGeom>
          <a:noFill/>
          <a:ln/>
        </p:spPr>
        <p:txBody>
          <a:bodyPr wrap="square" rtlCol="0" anchor="b"/>
          <a:lstStyle/>
          <a:p>
            <a:pPr indent="0" marL="0">
              <a:buNone/>
            </a:pPr>
            <a:r>
              <a:rPr lang="en-US" sz="1250" b="1" dirty="0">
                <a:solidFill>
                  <a:srgbClr val="161616"/>
                </a:solidFill>
                <a:latin typeface="Calibri" pitchFamily="34" charset="0"/>
                <a:ea typeface="Calibri" pitchFamily="34" charset="-122"/>
                <a:cs typeface="Calibri" pitchFamily="34" charset="-120"/>
              </a:rPr>
              <a:t>Content Store (Database)</a:t>
            </a:r>
            <a:endParaRPr lang="en-US" sz="1250" dirty="0"/>
          </a:p>
        </p:txBody>
      </p:sp>
      <p:sp>
        <p:nvSpPr>
          <p:cNvPr id="58" name="Text 47"/>
          <p:cNvSpPr/>
          <p:nvPr/>
        </p:nvSpPr>
        <p:spPr>
          <a:xfrm>
            <a:off x="2761488" y="4919472"/>
            <a:ext cx="2697480" cy="384048"/>
          </a:xfrm>
          <a:prstGeom prst="rect">
            <a:avLst/>
          </a:prstGeom>
          <a:noFill/>
          <a:ln/>
        </p:spPr>
        <p:txBody>
          <a:bodyPr wrap="square" rtlCol="0" anchor="t"/>
          <a:lstStyle/>
          <a:p>
            <a:pPr indent="0" marL="0">
              <a:buNone/>
            </a:pPr>
            <a:r>
              <a:rPr lang="en-US" sz="900" dirty="0">
                <a:solidFill>
                  <a:srgbClr val="525252"/>
                </a:solidFill>
                <a:latin typeface="Calibri" pitchFamily="34" charset="0"/>
                <a:ea typeface="Calibri" pitchFamily="34" charset="-122"/>
                <a:cs typeface="Calibri" pitchFamily="34" charset="-120"/>
              </a:rPr>
              <a:t>Stores metadata, packages &amp; credentials</a:t>
            </a:r>
            <a:endParaRPr lang="en-US" sz="900" dirty="0"/>
          </a:p>
        </p:txBody>
      </p:sp>
      <p:sp>
        <p:nvSpPr>
          <p:cNvPr id="59" name="Shape 48"/>
          <p:cNvSpPr/>
          <p:nvPr/>
        </p:nvSpPr>
        <p:spPr>
          <a:xfrm>
            <a:off x="6583680" y="4480560"/>
            <a:ext cx="3566160" cy="868680"/>
          </a:xfrm>
          <a:prstGeom prst="roundRect">
            <a:avLst>
              <a:gd name="adj" fmla="val 8421"/>
            </a:avLst>
          </a:prstGeom>
          <a:solidFill>
            <a:srgbClr val="D0E2FF"/>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60" name="Shape 49"/>
          <p:cNvSpPr/>
          <p:nvPr/>
        </p:nvSpPr>
        <p:spPr>
          <a:xfrm>
            <a:off x="6693408" y="4645152"/>
            <a:ext cx="548640" cy="548640"/>
          </a:xfrm>
          <a:prstGeom prst="ellipse">
            <a:avLst/>
          </a:prstGeom>
          <a:solidFill>
            <a:srgbClr val="0F62FE"/>
          </a:solidFill>
          <a:ln/>
        </p:spPr>
      </p:sp>
      <p:pic>
        <p:nvPicPr>
          <p:cNvPr id="61" name="Image 9" descr="/home/claude/icons/server_FFFFFF.png">    </p:cNvPr>
          <p:cNvPicPr>
            <a:picLocks noChangeAspect="1"/>
          </p:cNvPicPr>
          <p:nvPr/>
        </p:nvPicPr>
        <p:blipFill>
          <a:blip r:embed="rId10"/>
          <a:stretch>
            <a:fillRect/>
          </a:stretch>
        </p:blipFill>
        <p:spPr>
          <a:xfrm>
            <a:off x="6836054" y="4787798"/>
            <a:ext cx="263347" cy="263347"/>
          </a:xfrm>
          <a:prstGeom prst="rect">
            <a:avLst/>
          </a:prstGeom>
        </p:spPr>
      </p:pic>
      <p:sp>
        <p:nvSpPr>
          <p:cNvPr id="62" name="Text 50"/>
          <p:cNvSpPr/>
          <p:nvPr/>
        </p:nvSpPr>
        <p:spPr>
          <a:xfrm>
            <a:off x="7333488" y="4572000"/>
            <a:ext cx="2697480" cy="365760"/>
          </a:xfrm>
          <a:prstGeom prst="rect">
            <a:avLst/>
          </a:prstGeom>
          <a:noFill/>
          <a:ln/>
        </p:spPr>
        <p:txBody>
          <a:bodyPr wrap="square" rtlCol="0" anchor="b"/>
          <a:lstStyle/>
          <a:p>
            <a:pPr indent="0" marL="0">
              <a:buNone/>
            </a:pPr>
            <a:r>
              <a:rPr lang="en-US" sz="1250" b="1" dirty="0">
                <a:solidFill>
                  <a:srgbClr val="161616"/>
                </a:solidFill>
                <a:latin typeface="Calibri" pitchFamily="34" charset="0"/>
                <a:ea typeface="Calibri" pitchFamily="34" charset="-122"/>
                <a:cs typeface="Calibri" pitchFamily="34" charset="-120"/>
              </a:rPr>
              <a:t>Report Server / Data Sources</a:t>
            </a:r>
            <a:endParaRPr lang="en-US" sz="1250" dirty="0"/>
          </a:p>
        </p:txBody>
      </p:sp>
      <p:sp>
        <p:nvSpPr>
          <p:cNvPr id="63" name="Text 51"/>
          <p:cNvSpPr/>
          <p:nvPr/>
        </p:nvSpPr>
        <p:spPr>
          <a:xfrm>
            <a:off x="7333488" y="4919472"/>
            <a:ext cx="2697480" cy="384048"/>
          </a:xfrm>
          <a:prstGeom prst="rect">
            <a:avLst/>
          </a:prstGeom>
          <a:noFill/>
          <a:ln/>
        </p:spPr>
        <p:txBody>
          <a:bodyPr wrap="square" rtlCol="0" anchor="t"/>
          <a:lstStyle/>
          <a:p>
            <a:pPr indent="0" marL="0">
              <a:buNone/>
            </a:pPr>
            <a:r>
              <a:rPr lang="en-US" sz="900" dirty="0">
                <a:solidFill>
                  <a:srgbClr val="525252"/>
                </a:solidFill>
                <a:latin typeface="Calibri" pitchFamily="34" charset="0"/>
                <a:ea typeface="Calibri" pitchFamily="34" charset="-122"/>
                <a:cs typeface="Calibri" pitchFamily="34" charset="-120"/>
              </a:rPr>
              <a:t>Reads from DBs, files &amp; cloud sources</a:t>
            </a:r>
            <a:endParaRPr lang="en-US" sz="900" dirty="0"/>
          </a:p>
        </p:txBody>
      </p:sp>
      <p:sp>
        <p:nvSpPr>
          <p:cNvPr id="64" name="Shape 52"/>
          <p:cNvSpPr/>
          <p:nvPr/>
        </p:nvSpPr>
        <p:spPr>
          <a:xfrm>
            <a:off x="4869180" y="4023360"/>
            <a:ext cx="-1074420" cy="457200"/>
          </a:xfrm>
          <a:prstGeom prst="line">
            <a:avLst/>
          </a:prstGeom>
          <a:noFill/>
          <a:ln w="25400">
            <a:solidFill>
              <a:srgbClr val="0F62FE"/>
            </a:solidFill>
            <a:prstDash val="solid"/>
            <a:tailEnd type="triangle"/>
          </a:ln>
        </p:spPr>
      </p:sp>
      <p:sp>
        <p:nvSpPr>
          <p:cNvPr id="65" name="Shape 53"/>
          <p:cNvSpPr/>
          <p:nvPr/>
        </p:nvSpPr>
        <p:spPr>
          <a:xfrm>
            <a:off x="7840980" y="4023360"/>
            <a:ext cx="525780" cy="457200"/>
          </a:xfrm>
          <a:prstGeom prst="line">
            <a:avLst/>
          </a:prstGeom>
          <a:noFill/>
          <a:ln w="25400">
            <a:solidFill>
              <a:srgbClr val="0F62FE"/>
            </a:solidFill>
            <a:prstDash val="solid"/>
            <a:tailEnd type="triangle"/>
          </a:ln>
        </p:spPr>
      </p:sp>
      <p:sp>
        <p:nvSpPr>
          <p:cNvPr id="66" name="Shape 54"/>
          <p:cNvSpPr/>
          <p:nvPr/>
        </p:nvSpPr>
        <p:spPr>
          <a:xfrm>
            <a:off x="10552176" y="4023360"/>
            <a:ext cx="-2185416" cy="457200"/>
          </a:xfrm>
          <a:prstGeom prst="line">
            <a:avLst/>
          </a:prstGeom>
          <a:noFill/>
          <a:ln w="25400">
            <a:solidFill>
              <a:srgbClr val="0F62FE"/>
            </a:solidFill>
            <a:prstDash val="solid"/>
            <a:tailEnd type="triangle"/>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200" b="1" spc="100" kern="0" dirty="0">
                <a:solidFill>
                  <a:srgbClr val="0F62FE"/>
                </a:solidFill>
                <a:latin typeface="Calibri" pitchFamily="34" charset="0"/>
                <a:ea typeface="Calibri" pitchFamily="34" charset="-122"/>
                <a:cs typeface="Calibri" pitchFamily="34" charset="-120"/>
              </a:rPr>
              <a:t>BUILDING BLOCKS OF THE PLATFORM</a:t>
            </a:r>
            <a:endParaRPr lang="en-US" sz="1200" dirty="0"/>
          </a:p>
        </p:txBody>
      </p:sp>
      <p:sp>
        <p:nvSpPr>
          <p:cNvPr id="3" name="Text 1"/>
          <p:cNvSpPr/>
          <p:nvPr/>
        </p:nvSpPr>
        <p:spPr>
          <a:xfrm>
            <a:off x="548640" y="566928"/>
            <a:ext cx="10789920" cy="685800"/>
          </a:xfrm>
          <a:prstGeom prst="rect">
            <a:avLst/>
          </a:prstGeom>
          <a:noFill/>
          <a:ln/>
        </p:spPr>
        <p:txBody>
          <a:bodyPr wrap="square" rtlCol="0" anchor="ctr"/>
          <a:lstStyle/>
          <a:p>
            <a:pPr indent="0" marL="0">
              <a:buNone/>
            </a:pPr>
            <a:r>
              <a:rPr lang="en-US" sz="3000" b="1" dirty="0">
                <a:solidFill>
                  <a:srgbClr val="161616"/>
                </a:solidFill>
                <a:latin typeface="Cambria" pitchFamily="34" charset="0"/>
                <a:ea typeface="Cambria" pitchFamily="34" charset="-122"/>
                <a:cs typeface="Cambria" pitchFamily="34" charset="-120"/>
              </a:rPr>
              <a:t>Core Components</a:t>
            </a:r>
            <a:endParaRPr lang="en-US" sz="3000" dirty="0"/>
          </a:p>
        </p:txBody>
      </p:sp>
      <p:sp>
        <p:nvSpPr>
          <p:cNvPr id="4" name="Shape 2"/>
          <p:cNvSpPr/>
          <p:nvPr/>
        </p:nvSpPr>
        <p:spPr>
          <a:xfrm>
            <a:off x="548640" y="1298448"/>
            <a:ext cx="11064240" cy="18288"/>
          </a:xfrm>
          <a:prstGeom prst="rect">
            <a:avLst/>
          </a:prstGeom>
          <a:solidFill>
            <a:srgbClr val="E0E0E0"/>
          </a:solidFill>
          <a:ln/>
        </p:spPr>
      </p:sp>
      <p:sp>
        <p:nvSpPr>
          <p:cNvPr id="5" name="Text 3"/>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525252"/>
                </a:solidFill>
                <a:latin typeface="Calibri" pitchFamily="34" charset="0"/>
                <a:ea typeface="Calibri" pitchFamily="34" charset="-122"/>
                <a:cs typeface="Calibri" pitchFamily="34" charset="-120"/>
              </a:rPr>
              <a:t>IBM Cognos Analytics Overview  |  Knowledge Transfer</a:t>
            </a:r>
            <a:endParaRPr lang="en-US" sz="900" dirty="0"/>
          </a:p>
        </p:txBody>
      </p:sp>
      <p:sp>
        <p:nvSpPr>
          <p:cNvPr id="6" name="Text 4"/>
          <p:cNvSpPr/>
          <p:nvPr/>
        </p:nvSpPr>
        <p:spPr>
          <a:xfrm>
            <a:off x="11365992" y="6510528"/>
            <a:ext cx="457200" cy="274320"/>
          </a:xfrm>
          <a:prstGeom prst="rect">
            <a:avLst/>
          </a:prstGeom>
          <a:noFill/>
          <a:ln/>
        </p:spPr>
        <p:txBody>
          <a:bodyPr wrap="square" rtlCol="0" anchor="ctr"/>
          <a:lstStyle/>
          <a:p>
            <a:pPr algn="r" indent="0" marL="0">
              <a:buNone/>
            </a:pPr>
            <a:r>
              <a:rPr lang="en-US" sz="900" dirty="0">
                <a:solidFill>
                  <a:srgbClr val="525252"/>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548640" y="1508760"/>
            <a:ext cx="2697480" cy="1965960"/>
          </a:xfrm>
          <a:prstGeom prst="roundRect">
            <a:avLst>
              <a:gd name="adj" fmla="val 372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1577340" y="1737360"/>
            <a:ext cx="640080" cy="640080"/>
          </a:xfrm>
          <a:prstGeom prst="ellipse">
            <a:avLst/>
          </a:prstGeom>
          <a:solidFill>
            <a:srgbClr val="0F62FE"/>
          </a:solidFill>
          <a:ln/>
        </p:spPr>
      </p:sp>
      <p:pic>
        <p:nvPicPr>
          <p:cNvPr id="9" name="Image 0" descr="/home/claude/icons/globe_FFFFFF.png">    </p:cNvPr>
          <p:cNvPicPr>
            <a:picLocks noChangeAspect="1"/>
          </p:cNvPicPr>
          <p:nvPr/>
        </p:nvPicPr>
        <p:blipFill>
          <a:blip r:embed="rId1"/>
          <a:stretch>
            <a:fillRect/>
          </a:stretch>
        </p:blipFill>
        <p:spPr>
          <a:xfrm>
            <a:off x="1743761" y="1903781"/>
            <a:ext cx="307238" cy="307238"/>
          </a:xfrm>
          <a:prstGeom prst="rect">
            <a:avLst/>
          </a:prstGeom>
        </p:spPr>
      </p:pic>
      <p:sp>
        <p:nvSpPr>
          <p:cNvPr id="10" name="Text 7"/>
          <p:cNvSpPr/>
          <p:nvPr/>
        </p:nvSpPr>
        <p:spPr>
          <a:xfrm>
            <a:off x="685800" y="2468880"/>
            <a:ext cx="2423160" cy="365760"/>
          </a:xfrm>
          <a:prstGeom prst="rect">
            <a:avLst/>
          </a:prstGeom>
          <a:noFill/>
          <a:ln/>
        </p:spPr>
        <p:txBody>
          <a:bodyPr wrap="square" rtlCol="0" anchor="ctr"/>
          <a:lstStyle/>
          <a:p>
            <a:pPr algn="ctr" indent="0" marL="0">
              <a:buNone/>
            </a:pPr>
            <a:r>
              <a:rPr lang="en-US" sz="1250" b="1" dirty="0">
                <a:solidFill>
                  <a:srgbClr val="161616"/>
                </a:solidFill>
                <a:latin typeface="Calibri" pitchFamily="34" charset="0"/>
                <a:ea typeface="Calibri" pitchFamily="34" charset="-122"/>
                <a:cs typeface="Calibri" pitchFamily="34" charset="-120"/>
              </a:rPr>
              <a:t>Cognos Portal</a:t>
            </a:r>
            <a:endParaRPr lang="en-US" sz="1250" dirty="0"/>
          </a:p>
        </p:txBody>
      </p:sp>
      <p:sp>
        <p:nvSpPr>
          <p:cNvPr id="11" name="Text 8"/>
          <p:cNvSpPr/>
          <p:nvPr/>
        </p:nvSpPr>
        <p:spPr>
          <a:xfrm>
            <a:off x="713232" y="2807208"/>
            <a:ext cx="2368296" cy="594360"/>
          </a:xfrm>
          <a:prstGeom prst="rect">
            <a:avLst/>
          </a:prstGeom>
          <a:noFill/>
          <a:ln/>
        </p:spPr>
        <p:txBody>
          <a:bodyPr wrap="square" rtlCol="0" anchor="t"/>
          <a:lstStyle/>
          <a:p>
            <a:pPr algn="ctr" indent="0" marL="0">
              <a:buNone/>
            </a:pPr>
            <a:r>
              <a:rPr lang="en-US" sz="1000" dirty="0">
                <a:solidFill>
                  <a:srgbClr val="525252"/>
                </a:solidFill>
                <a:latin typeface="Calibri" pitchFamily="34" charset="0"/>
                <a:ea typeface="Calibri" pitchFamily="34" charset="-122"/>
                <a:cs typeface="Calibri" pitchFamily="34" charset="-120"/>
              </a:rPr>
              <a:t>The web interface users log into to view and author content.</a:t>
            </a:r>
            <a:endParaRPr lang="en-US" sz="1000" dirty="0"/>
          </a:p>
        </p:txBody>
      </p:sp>
      <p:sp>
        <p:nvSpPr>
          <p:cNvPr id="12" name="Shape 9"/>
          <p:cNvSpPr/>
          <p:nvPr/>
        </p:nvSpPr>
        <p:spPr>
          <a:xfrm>
            <a:off x="3447288" y="1508760"/>
            <a:ext cx="2697480" cy="1965960"/>
          </a:xfrm>
          <a:prstGeom prst="roundRect">
            <a:avLst>
              <a:gd name="adj" fmla="val 372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4475988" y="1737360"/>
            <a:ext cx="640080" cy="640080"/>
          </a:xfrm>
          <a:prstGeom prst="ellipse">
            <a:avLst/>
          </a:prstGeom>
          <a:solidFill>
            <a:srgbClr val="0F62FE"/>
          </a:solidFill>
          <a:ln/>
        </p:spPr>
      </p:sp>
      <p:pic>
        <p:nvPicPr>
          <p:cNvPr id="14" name="Image 1" descr="/home/claude/icons/sitemap_FFFFFF.png">    </p:cNvPr>
          <p:cNvPicPr>
            <a:picLocks noChangeAspect="1"/>
          </p:cNvPicPr>
          <p:nvPr/>
        </p:nvPicPr>
        <p:blipFill>
          <a:blip r:embed="rId2"/>
          <a:stretch>
            <a:fillRect/>
          </a:stretch>
        </p:blipFill>
        <p:spPr>
          <a:xfrm>
            <a:off x="4642409" y="1903781"/>
            <a:ext cx="307238" cy="307238"/>
          </a:xfrm>
          <a:prstGeom prst="rect">
            <a:avLst/>
          </a:prstGeom>
        </p:spPr>
      </p:pic>
      <p:sp>
        <p:nvSpPr>
          <p:cNvPr id="15" name="Text 11"/>
          <p:cNvSpPr/>
          <p:nvPr/>
        </p:nvSpPr>
        <p:spPr>
          <a:xfrm>
            <a:off x="3584448" y="2468880"/>
            <a:ext cx="2423160" cy="365760"/>
          </a:xfrm>
          <a:prstGeom prst="rect">
            <a:avLst/>
          </a:prstGeom>
          <a:noFill/>
          <a:ln/>
        </p:spPr>
        <p:txBody>
          <a:bodyPr wrap="square" rtlCol="0" anchor="ctr"/>
          <a:lstStyle/>
          <a:p>
            <a:pPr algn="ctr" indent="0" marL="0">
              <a:buNone/>
            </a:pPr>
            <a:r>
              <a:rPr lang="en-US" sz="1250" b="1" dirty="0">
                <a:solidFill>
                  <a:srgbClr val="161616"/>
                </a:solidFill>
                <a:latin typeface="Calibri" pitchFamily="34" charset="0"/>
                <a:ea typeface="Calibri" pitchFamily="34" charset="-122"/>
                <a:cs typeface="Calibri" pitchFamily="34" charset="-120"/>
              </a:rPr>
              <a:t>Content Manager</a:t>
            </a:r>
            <a:endParaRPr lang="en-US" sz="1250" dirty="0"/>
          </a:p>
        </p:txBody>
      </p:sp>
      <p:sp>
        <p:nvSpPr>
          <p:cNvPr id="16" name="Text 12"/>
          <p:cNvSpPr/>
          <p:nvPr/>
        </p:nvSpPr>
        <p:spPr>
          <a:xfrm>
            <a:off x="3611880" y="2807208"/>
            <a:ext cx="2368296" cy="594360"/>
          </a:xfrm>
          <a:prstGeom prst="rect">
            <a:avLst/>
          </a:prstGeom>
          <a:noFill/>
          <a:ln/>
        </p:spPr>
        <p:txBody>
          <a:bodyPr wrap="square" rtlCol="0" anchor="t"/>
          <a:lstStyle/>
          <a:p>
            <a:pPr algn="ctr" indent="0" marL="0">
              <a:buNone/>
            </a:pPr>
            <a:r>
              <a:rPr lang="en-US" sz="1000" dirty="0">
                <a:solidFill>
                  <a:srgbClr val="525252"/>
                </a:solidFill>
                <a:latin typeface="Calibri" pitchFamily="34" charset="0"/>
                <a:ea typeface="Calibri" pitchFamily="34" charset="-122"/>
                <a:cs typeface="Calibri" pitchFamily="34" charset="-120"/>
              </a:rPr>
              <a:t>Stores metadata, security, and configuration in the Content Store.</a:t>
            </a:r>
            <a:endParaRPr lang="en-US" sz="1000" dirty="0"/>
          </a:p>
        </p:txBody>
      </p:sp>
      <p:sp>
        <p:nvSpPr>
          <p:cNvPr id="17" name="Shape 13"/>
          <p:cNvSpPr/>
          <p:nvPr/>
        </p:nvSpPr>
        <p:spPr>
          <a:xfrm>
            <a:off x="6345936" y="1508760"/>
            <a:ext cx="2697480" cy="1965960"/>
          </a:xfrm>
          <a:prstGeom prst="roundRect">
            <a:avLst>
              <a:gd name="adj" fmla="val 372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8" name="Shape 14"/>
          <p:cNvSpPr/>
          <p:nvPr/>
        </p:nvSpPr>
        <p:spPr>
          <a:xfrm>
            <a:off x="7374636" y="1737360"/>
            <a:ext cx="640080" cy="640080"/>
          </a:xfrm>
          <a:prstGeom prst="ellipse">
            <a:avLst/>
          </a:prstGeom>
          <a:solidFill>
            <a:srgbClr val="0F62FE"/>
          </a:solidFill>
          <a:ln/>
        </p:spPr>
      </p:sp>
      <p:pic>
        <p:nvPicPr>
          <p:cNvPr id="19" name="Image 2" descr="/home/claude/icons/dispatch_FFFFFF.png">    </p:cNvPr>
          <p:cNvPicPr>
            <a:picLocks noChangeAspect="1"/>
          </p:cNvPicPr>
          <p:nvPr/>
        </p:nvPicPr>
        <p:blipFill>
          <a:blip r:embed="rId3"/>
          <a:stretch>
            <a:fillRect/>
          </a:stretch>
        </p:blipFill>
        <p:spPr>
          <a:xfrm>
            <a:off x="7541057" y="1903781"/>
            <a:ext cx="307238" cy="307238"/>
          </a:xfrm>
          <a:prstGeom prst="rect">
            <a:avLst/>
          </a:prstGeom>
        </p:spPr>
      </p:pic>
      <p:sp>
        <p:nvSpPr>
          <p:cNvPr id="20" name="Text 15"/>
          <p:cNvSpPr/>
          <p:nvPr/>
        </p:nvSpPr>
        <p:spPr>
          <a:xfrm>
            <a:off x="6483096" y="2468880"/>
            <a:ext cx="2423160" cy="365760"/>
          </a:xfrm>
          <a:prstGeom prst="rect">
            <a:avLst/>
          </a:prstGeom>
          <a:noFill/>
          <a:ln/>
        </p:spPr>
        <p:txBody>
          <a:bodyPr wrap="square" rtlCol="0" anchor="ctr"/>
          <a:lstStyle/>
          <a:p>
            <a:pPr algn="ctr" indent="0" marL="0">
              <a:buNone/>
            </a:pPr>
            <a:r>
              <a:rPr lang="en-US" sz="1250" b="1" dirty="0">
                <a:solidFill>
                  <a:srgbClr val="161616"/>
                </a:solidFill>
                <a:latin typeface="Calibri" pitchFamily="34" charset="0"/>
                <a:ea typeface="Calibri" pitchFamily="34" charset="-122"/>
                <a:cs typeface="Calibri" pitchFamily="34" charset="-120"/>
              </a:rPr>
              <a:t>Dispatcher</a:t>
            </a:r>
            <a:endParaRPr lang="en-US" sz="1250" dirty="0"/>
          </a:p>
        </p:txBody>
      </p:sp>
      <p:sp>
        <p:nvSpPr>
          <p:cNvPr id="21" name="Text 16"/>
          <p:cNvSpPr/>
          <p:nvPr/>
        </p:nvSpPr>
        <p:spPr>
          <a:xfrm>
            <a:off x="6510528" y="2807208"/>
            <a:ext cx="2368296" cy="594360"/>
          </a:xfrm>
          <a:prstGeom prst="rect">
            <a:avLst/>
          </a:prstGeom>
          <a:noFill/>
          <a:ln/>
        </p:spPr>
        <p:txBody>
          <a:bodyPr wrap="square" rtlCol="0" anchor="t"/>
          <a:lstStyle/>
          <a:p>
            <a:pPr algn="ctr" indent="0" marL="0">
              <a:buNone/>
            </a:pPr>
            <a:r>
              <a:rPr lang="en-US" sz="1000" dirty="0">
                <a:solidFill>
                  <a:srgbClr val="525252"/>
                </a:solidFill>
                <a:latin typeface="Calibri" pitchFamily="34" charset="0"/>
                <a:ea typeface="Calibri" pitchFamily="34" charset="-122"/>
                <a:cs typeface="Calibri" pitchFamily="34" charset="-120"/>
              </a:rPr>
              <a:t>Receives requests and routes them to the correct service.</a:t>
            </a:r>
            <a:endParaRPr lang="en-US" sz="1000" dirty="0"/>
          </a:p>
        </p:txBody>
      </p:sp>
      <p:sp>
        <p:nvSpPr>
          <p:cNvPr id="22" name="Shape 17"/>
          <p:cNvSpPr/>
          <p:nvPr/>
        </p:nvSpPr>
        <p:spPr>
          <a:xfrm>
            <a:off x="9244584" y="1508760"/>
            <a:ext cx="2697480" cy="1965960"/>
          </a:xfrm>
          <a:prstGeom prst="roundRect">
            <a:avLst>
              <a:gd name="adj" fmla="val 372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10273284" y="1737360"/>
            <a:ext cx="640080" cy="640080"/>
          </a:xfrm>
          <a:prstGeom prst="ellipse">
            <a:avLst/>
          </a:prstGeom>
          <a:solidFill>
            <a:srgbClr val="0F62FE"/>
          </a:solidFill>
          <a:ln/>
        </p:spPr>
      </p:sp>
      <p:pic>
        <p:nvPicPr>
          <p:cNvPr id="24" name="Image 3" descr="/home/claude/icons/gateway_FFFFFF.png">    </p:cNvPr>
          <p:cNvPicPr>
            <a:picLocks noChangeAspect="1"/>
          </p:cNvPicPr>
          <p:nvPr/>
        </p:nvPicPr>
        <p:blipFill>
          <a:blip r:embed="rId4"/>
          <a:stretch>
            <a:fillRect/>
          </a:stretch>
        </p:blipFill>
        <p:spPr>
          <a:xfrm>
            <a:off x="10439705" y="1903781"/>
            <a:ext cx="307238" cy="307238"/>
          </a:xfrm>
          <a:prstGeom prst="rect">
            <a:avLst/>
          </a:prstGeom>
        </p:spPr>
      </p:pic>
      <p:sp>
        <p:nvSpPr>
          <p:cNvPr id="25" name="Text 19"/>
          <p:cNvSpPr/>
          <p:nvPr/>
        </p:nvSpPr>
        <p:spPr>
          <a:xfrm>
            <a:off x="9381744" y="2468880"/>
            <a:ext cx="2423160" cy="365760"/>
          </a:xfrm>
          <a:prstGeom prst="rect">
            <a:avLst/>
          </a:prstGeom>
          <a:noFill/>
          <a:ln/>
        </p:spPr>
        <p:txBody>
          <a:bodyPr wrap="square" rtlCol="0" anchor="ctr"/>
          <a:lstStyle/>
          <a:p>
            <a:pPr algn="ctr" indent="0" marL="0">
              <a:buNone/>
            </a:pPr>
            <a:r>
              <a:rPr lang="en-US" sz="1250" b="1" dirty="0">
                <a:solidFill>
                  <a:srgbClr val="161616"/>
                </a:solidFill>
                <a:latin typeface="Calibri" pitchFamily="34" charset="0"/>
                <a:ea typeface="Calibri" pitchFamily="34" charset="-122"/>
                <a:cs typeface="Calibri" pitchFamily="34" charset="-120"/>
              </a:rPr>
              <a:t>Gateway</a:t>
            </a:r>
            <a:endParaRPr lang="en-US" sz="1250" dirty="0"/>
          </a:p>
        </p:txBody>
      </p:sp>
      <p:sp>
        <p:nvSpPr>
          <p:cNvPr id="26" name="Text 20"/>
          <p:cNvSpPr/>
          <p:nvPr/>
        </p:nvSpPr>
        <p:spPr>
          <a:xfrm>
            <a:off x="9409176" y="2807208"/>
            <a:ext cx="2368296" cy="594360"/>
          </a:xfrm>
          <a:prstGeom prst="rect">
            <a:avLst/>
          </a:prstGeom>
          <a:noFill/>
          <a:ln/>
        </p:spPr>
        <p:txBody>
          <a:bodyPr wrap="square" rtlCol="0" anchor="t"/>
          <a:lstStyle/>
          <a:p>
            <a:pPr algn="ctr" indent="0" marL="0">
              <a:buNone/>
            </a:pPr>
            <a:r>
              <a:rPr lang="en-US" sz="1000" dirty="0">
                <a:solidFill>
                  <a:srgbClr val="525252"/>
                </a:solidFill>
                <a:latin typeface="Calibri" pitchFamily="34" charset="0"/>
                <a:ea typeface="Calibri" pitchFamily="34" charset="-122"/>
                <a:cs typeface="Calibri" pitchFamily="34" charset="-120"/>
              </a:rPr>
              <a:t>The entry point between the web server and Cognos services.</a:t>
            </a:r>
            <a:endParaRPr lang="en-US" sz="1000" dirty="0"/>
          </a:p>
        </p:txBody>
      </p:sp>
      <p:sp>
        <p:nvSpPr>
          <p:cNvPr id="27" name="Shape 21"/>
          <p:cNvSpPr/>
          <p:nvPr/>
        </p:nvSpPr>
        <p:spPr>
          <a:xfrm>
            <a:off x="548640" y="3703320"/>
            <a:ext cx="2697480" cy="1965960"/>
          </a:xfrm>
          <a:prstGeom prst="roundRect">
            <a:avLst>
              <a:gd name="adj" fmla="val 372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8" name="Shape 22"/>
          <p:cNvSpPr/>
          <p:nvPr/>
        </p:nvSpPr>
        <p:spPr>
          <a:xfrm>
            <a:off x="1577340" y="3931920"/>
            <a:ext cx="640080" cy="640080"/>
          </a:xfrm>
          <a:prstGeom prst="ellipse">
            <a:avLst/>
          </a:prstGeom>
          <a:solidFill>
            <a:srgbClr val="0F62FE"/>
          </a:solidFill>
          <a:ln/>
        </p:spPr>
      </p:sp>
      <p:pic>
        <p:nvPicPr>
          <p:cNvPr id="29" name="Image 4" descr="/home/claude/icons/chartbar_FFFFFF.png">    </p:cNvPr>
          <p:cNvPicPr>
            <a:picLocks noChangeAspect="1"/>
          </p:cNvPicPr>
          <p:nvPr/>
        </p:nvPicPr>
        <p:blipFill>
          <a:blip r:embed="rId5"/>
          <a:stretch>
            <a:fillRect/>
          </a:stretch>
        </p:blipFill>
        <p:spPr>
          <a:xfrm>
            <a:off x="1743761" y="4098341"/>
            <a:ext cx="307238" cy="307238"/>
          </a:xfrm>
          <a:prstGeom prst="rect">
            <a:avLst/>
          </a:prstGeom>
        </p:spPr>
      </p:pic>
      <p:sp>
        <p:nvSpPr>
          <p:cNvPr id="30" name="Text 23"/>
          <p:cNvSpPr/>
          <p:nvPr/>
        </p:nvSpPr>
        <p:spPr>
          <a:xfrm>
            <a:off x="685800" y="4663440"/>
            <a:ext cx="2423160" cy="365760"/>
          </a:xfrm>
          <a:prstGeom prst="rect">
            <a:avLst/>
          </a:prstGeom>
          <a:noFill/>
          <a:ln/>
        </p:spPr>
        <p:txBody>
          <a:bodyPr wrap="square" rtlCol="0" anchor="ctr"/>
          <a:lstStyle/>
          <a:p>
            <a:pPr algn="ctr" indent="0" marL="0">
              <a:buNone/>
            </a:pPr>
            <a:r>
              <a:rPr lang="en-US" sz="1250" b="1" dirty="0">
                <a:solidFill>
                  <a:srgbClr val="161616"/>
                </a:solidFill>
                <a:latin typeface="Calibri" pitchFamily="34" charset="0"/>
                <a:ea typeface="Calibri" pitchFamily="34" charset="-122"/>
                <a:cs typeface="Calibri" pitchFamily="34" charset="-120"/>
              </a:rPr>
              <a:t>Query Service</a:t>
            </a:r>
            <a:endParaRPr lang="en-US" sz="1250" dirty="0"/>
          </a:p>
        </p:txBody>
      </p:sp>
      <p:sp>
        <p:nvSpPr>
          <p:cNvPr id="31" name="Text 24"/>
          <p:cNvSpPr/>
          <p:nvPr/>
        </p:nvSpPr>
        <p:spPr>
          <a:xfrm>
            <a:off x="713232" y="5001768"/>
            <a:ext cx="2368296" cy="594360"/>
          </a:xfrm>
          <a:prstGeom prst="rect">
            <a:avLst/>
          </a:prstGeom>
          <a:noFill/>
          <a:ln/>
        </p:spPr>
        <p:txBody>
          <a:bodyPr wrap="square" rtlCol="0" anchor="t"/>
          <a:lstStyle/>
          <a:p>
            <a:pPr algn="ctr" indent="0" marL="0">
              <a:buNone/>
            </a:pPr>
            <a:r>
              <a:rPr lang="en-US" sz="1000" dirty="0">
                <a:solidFill>
                  <a:srgbClr val="525252"/>
                </a:solidFill>
                <a:latin typeface="Calibri" pitchFamily="34" charset="0"/>
                <a:ea typeface="Calibri" pitchFamily="34" charset="-122"/>
                <a:cs typeface="Calibri" pitchFamily="34" charset="-120"/>
              </a:rPr>
              <a:t>Executes queries against data sources and returns result sets.</a:t>
            </a:r>
            <a:endParaRPr lang="en-US" sz="1000" dirty="0"/>
          </a:p>
        </p:txBody>
      </p:sp>
      <p:sp>
        <p:nvSpPr>
          <p:cNvPr id="32" name="Shape 25"/>
          <p:cNvSpPr/>
          <p:nvPr/>
        </p:nvSpPr>
        <p:spPr>
          <a:xfrm>
            <a:off x="3447288" y="3703320"/>
            <a:ext cx="2697480" cy="1965960"/>
          </a:xfrm>
          <a:prstGeom prst="roundRect">
            <a:avLst>
              <a:gd name="adj" fmla="val 372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33" name="Shape 26"/>
          <p:cNvSpPr/>
          <p:nvPr/>
        </p:nvSpPr>
        <p:spPr>
          <a:xfrm>
            <a:off x="4475988" y="3931920"/>
            <a:ext cx="640080" cy="640080"/>
          </a:xfrm>
          <a:prstGeom prst="ellipse">
            <a:avLst/>
          </a:prstGeom>
          <a:solidFill>
            <a:srgbClr val="0F62FE"/>
          </a:solidFill>
          <a:ln/>
        </p:spPr>
      </p:sp>
      <p:pic>
        <p:nvPicPr>
          <p:cNvPr id="34" name="Image 5" descr="/home/claude/icons/clock_FFFFFF.png">    </p:cNvPr>
          <p:cNvPicPr>
            <a:picLocks noChangeAspect="1"/>
          </p:cNvPicPr>
          <p:nvPr/>
        </p:nvPicPr>
        <p:blipFill>
          <a:blip r:embed="rId6"/>
          <a:stretch>
            <a:fillRect/>
          </a:stretch>
        </p:blipFill>
        <p:spPr>
          <a:xfrm>
            <a:off x="4642409" y="4098341"/>
            <a:ext cx="307238" cy="307238"/>
          </a:xfrm>
          <a:prstGeom prst="rect">
            <a:avLst/>
          </a:prstGeom>
        </p:spPr>
      </p:pic>
      <p:sp>
        <p:nvSpPr>
          <p:cNvPr id="35" name="Text 27"/>
          <p:cNvSpPr/>
          <p:nvPr/>
        </p:nvSpPr>
        <p:spPr>
          <a:xfrm>
            <a:off x="3584448" y="4663440"/>
            <a:ext cx="2423160" cy="365760"/>
          </a:xfrm>
          <a:prstGeom prst="rect">
            <a:avLst/>
          </a:prstGeom>
          <a:noFill/>
          <a:ln/>
        </p:spPr>
        <p:txBody>
          <a:bodyPr wrap="square" rtlCol="0" anchor="ctr"/>
          <a:lstStyle/>
          <a:p>
            <a:pPr algn="ctr" indent="0" marL="0">
              <a:buNone/>
            </a:pPr>
            <a:r>
              <a:rPr lang="en-US" sz="1250" b="1" dirty="0">
                <a:solidFill>
                  <a:srgbClr val="161616"/>
                </a:solidFill>
                <a:latin typeface="Calibri" pitchFamily="34" charset="0"/>
                <a:ea typeface="Calibri" pitchFamily="34" charset="-122"/>
                <a:cs typeface="Calibri" pitchFamily="34" charset="-120"/>
              </a:rPr>
              <a:t>Batch Report Service</a:t>
            </a:r>
            <a:endParaRPr lang="en-US" sz="1250" dirty="0"/>
          </a:p>
        </p:txBody>
      </p:sp>
      <p:sp>
        <p:nvSpPr>
          <p:cNvPr id="36" name="Text 28"/>
          <p:cNvSpPr/>
          <p:nvPr/>
        </p:nvSpPr>
        <p:spPr>
          <a:xfrm>
            <a:off x="3611880" y="5001768"/>
            <a:ext cx="2368296" cy="594360"/>
          </a:xfrm>
          <a:prstGeom prst="rect">
            <a:avLst/>
          </a:prstGeom>
          <a:noFill/>
          <a:ln/>
        </p:spPr>
        <p:txBody>
          <a:bodyPr wrap="square" rtlCol="0" anchor="t"/>
          <a:lstStyle/>
          <a:p>
            <a:pPr algn="ctr" indent="0" marL="0">
              <a:buNone/>
            </a:pPr>
            <a:r>
              <a:rPr lang="en-US" sz="1000" dirty="0">
                <a:solidFill>
                  <a:srgbClr val="525252"/>
                </a:solidFill>
                <a:latin typeface="Calibri" pitchFamily="34" charset="0"/>
                <a:ea typeface="Calibri" pitchFamily="34" charset="-122"/>
                <a:cs typeface="Calibri" pitchFamily="34" charset="-120"/>
              </a:rPr>
              <a:t>Runs scheduled, bursted, and background report jobs.</a:t>
            </a:r>
            <a:endParaRPr lang="en-US" sz="1000" dirty="0"/>
          </a:p>
        </p:txBody>
      </p:sp>
      <p:sp>
        <p:nvSpPr>
          <p:cNvPr id="37" name="Shape 29"/>
          <p:cNvSpPr/>
          <p:nvPr/>
        </p:nvSpPr>
        <p:spPr>
          <a:xfrm>
            <a:off x="6345936" y="3703320"/>
            <a:ext cx="2697480" cy="1965960"/>
          </a:xfrm>
          <a:prstGeom prst="roundRect">
            <a:avLst>
              <a:gd name="adj" fmla="val 372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38" name="Shape 30"/>
          <p:cNvSpPr/>
          <p:nvPr/>
        </p:nvSpPr>
        <p:spPr>
          <a:xfrm>
            <a:off x="7374636" y="3931920"/>
            <a:ext cx="640080" cy="640080"/>
          </a:xfrm>
          <a:prstGeom prst="ellipse">
            <a:avLst/>
          </a:prstGeom>
          <a:solidFill>
            <a:srgbClr val="0F62FE"/>
          </a:solidFill>
          <a:ln/>
        </p:spPr>
      </p:sp>
      <p:pic>
        <p:nvPicPr>
          <p:cNvPr id="39" name="Image 6" descr="/home/claude/icons/file_FFFFFF.png">    </p:cNvPr>
          <p:cNvPicPr>
            <a:picLocks noChangeAspect="1"/>
          </p:cNvPicPr>
          <p:nvPr/>
        </p:nvPicPr>
        <p:blipFill>
          <a:blip r:embed="rId7"/>
          <a:stretch>
            <a:fillRect/>
          </a:stretch>
        </p:blipFill>
        <p:spPr>
          <a:xfrm>
            <a:off x="7541057" y="4098341"/>
            <a:ext cx="307238" cy="307238"/>
          </a:xfrm>
          <a:prstGeom prst="rect">
            <a:avLst/>
          </a:prstGeom>
        </p:spPr>
      </p:pic>
      <p:sp>
        <p:nvSpPr>
          <p:cNvPr id="40" name="Text 31"/>
          <p:cNvSpPr/>
          <p:nvPr/>
        </p:nvSpPr>
        <p:spPr>
          <a:xfrm>
            <a:off x="6483096" y="4663440"/>
            <a:ext cx="2423160" cy="365760"/>
          </a:xfrm>
          <a:prstGeom prst="rect">
            <a:avLst/>
          </a:prstGeom>
          <a:noFill/>
          <a:ln/>
        </p:spPr>
        <p:txBody>
          <a:bodyPr wrap="square" rtlCol="0" anchor="ctr"/>
          <a:lstStyle/>
          <a:p>
            <a:pPr algn="ctr" indent="0" marL="0">
              <a:buNone/>
            </a:pPr>
            <a:r>
              <a:rPr lang="en-US" sz="1250" b="1" dirty="0">
                <a:solidFill>
                  <a:srgbClr val="161616"/>
                </a:solidFill>
                <a:latin typeface="Calibri" pitchFamily="34" charset="0"/>
                <a:ea typeface="Calibri" pitchFamily="34" charset="-122"/>
                <a:cs typeface="Calibri" pitchFamily="34" charset="-120"/>
              </a:rPr>
              <a:t>Report Service</a:t>
            </a:r>
            <a:endParaRPr lang="en-US" sz="1250" dirty="0"/>
          </a:p>
        </p:txBody>
      </p:sp>
      <p:sp>
        <p:nvSpPr>
          <p:cNvPr id="41" name="Text 32"/>
          <p:cNvSpPr/>
          <p:nvPr/>
        </p:nvSpPr>
        <p:spPr>
          <a:xfrm>
            <a:off x="6510528" y="5001768"/>
            <a:ext cx="2368296" cy="594360"/>
          </a:xfrm>
          <a:prstGeom prst="rect">
            <a:avLst/>
          </a:prstGeom>
          <a:noFill/>
          <a:ln/>
        </p:spPr>
        <p:txBody>
          <a:bodyPr wrap="square" rtlCol="0" anchor="t"/>
          <a:lstStyle/>
          <a:p>
            <a:pPr algn="ctr" indent="0" marL="0">
              <a:buNone/>
            </a:pPr>
            <a:r>
              <a:rPr lang="en-US" sz="1000" dirty="0">
                <a:solidFill>
                  <a:srgbClr val="525252"/>
                </a:solidFill>
                <a:latin typeface="Calibri" pitchFamily="34" charset="0"/>
                <a:ea typeface="Calibri" pitchFamily="34" charset="-122"/>
                <a:cs typeface="Calibri" pitchFamily="34" charset="-120"/>
              </a:rPr>
              <a:t>Generates and renders reports in real time for users.</a:t>
            </a:r>
            <a:endParaRPr lang="en-US" sz="1000" dirty="0"/>
          </a:p>
        </p:txBody>
      </p:sp>
      <p:sp>
        <p:nvSpPr>
          <p:cNvPr id="42" name="Shape 33"/>
          <p:cNvSpPr/>
          <p:nvPr/>
        </p:nvSpPr>
        <p:spPr>
          <a:xfrm>
            <a:off x="9244584" y="3703320"/>
            <a:ext cx="2697480" cy="1965960"/>
          </a:xfrm>
          <a:prstGeom prst="roundRect">
            <a:avLst>
              <a:gd name="adj" fmla="val 3721"/>
            </a:avLst>
          </a:prstGeom>
          <a:solidFill>
            <a:srgbClr val="001141"/>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43" name="Text 34"/>
          <p:cNvSpPr/>
          <p:nvPr/>
        </p:nvSpPr>
        <p:spPr>
          <a:xfrm>
            <a:off x="9427464" y="3886200"/>
            <a:ext cx="2331720" cy="1600200"/>
          </a:xfrm>
          <a:prstGeom prst="rect">
            <a:avLst/>
          </a:prstGeom>
          <a:noFill/>
          <a:ln/>
        </p:spPr>
        <p:txBody>
          <a:bodyPr wrap="square"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Together, these seven components let Cognos securely receive, process, and deliver analytics to thousands of users.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200" b="1" spc="100" kern="0" dirty="0">
                <a:solidFill>
                  <a:srgbClr val="0F62FE"/>
                </a:solidFill>
                <a:latin typeface="Calibri" pitchFamily="34" charset="0"/>
                <a:ea typeface="Calibri" pitchFamily="34" charset="-122"/>
                <a:cs typeface="Calibri" pitchFamily="34" charset="-120"/>
              </a:rPr>
              <a:t>NAVIGATING THE PORTAL</a:t>
            </a:r>
            <a:endParaRPr lang="en-US" sz="1200" dirty="0"/>
          </a:p>
        </p:txBody>
      </p:sp>
      <p:sp>
        <p:nvSpPr>
          <p:cNvPr id="3" name="Text 1"/>
          <p:cNvSpPr/>
          <p:nvPr/>
        </p:nvSpPr>
        <p:spPr>
          <a:xfrm>
            <a:off x="548640" y="566928"/>
            <a:ext cx="10789920" cy="685800"/>
          </a:xfrm>
          <a:prstGeom prst="rect">
            <a:avLst/>
          </a:prstGeom>
          <a:noFill/>
          <a:ln/>
        </p:spPr>
        <p:txBody>
          <a:bodyPr wrap="square" rtlCol="0" anchor="ctr"/>
          <a:lstStyle/>
          <a:p>
            <a:pPr indent="0" marL="0">
              <a:buNone/>
            </a:pPr>
            <a:r>
              <a:rPr lang="en-US" sz="3000" b="1" dirty="0">
                <a:solidFill>
                  <a:srgbClr val="161616"/>
                </a:solidFill>
                <a:latin typeface="Cambria" pitchFamily="34" charset="0"/>
                <a:ea typeface="Cambria" pitchFamily="34" charset="-122"/>
                <a:cs typeface="Cambria" pitchFamily="34" charset="-120"/>
              </a:rPr>
              <a:t>User Interface Overview</a:t>
            </a:r>
            <a:endParaRPr lang="en-US" sz="3000" dirty="0"/>
          </a:p>
        </p:txBody>
      </p:sp>
      <p:sp>
        <p:nvSpPr>
          <p:cNvPr id="4" name="Shape 2"/>
          <p:cNvSpPr/>
          <p:nvPr/>
        </p:nvSpPr>
        <p:spPr>
          <a:xfrm>
            <a:off x="548640" y="1298448"/>
            <a:ext cx="11064240" cy="18288"/>
          </a:xfrm>
          <a:prstGeom prst="rect">
            <a:avLst/>
          </a:prstGeom>
          <a:solidFill>
            <a:srgbClr val="E0E0E0"/>
          </a:solidFill>
          <a:ln/>
        </p:spPr>
      </p:sp>
      <p:sp>
        <p:nvSpPr>
          <p:cNvPr id="5" name="Text 3"/>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525252"/>
                </a:solidFill>
                <a:latin typeface="Calibri" pitchFamily="34" charset="0"/>
                <a:ea typeface="Calibri" pitchFamily="34" charset="-122"/>
                <a:cs typeface="Calibri" pitchFamily="34" charset="-120"/>
              </a:rPr>
              <a:t>IBM Cognos Analytics Overview  |  Knowledge Transfer</a:t>
            </a:r>
            <a:endParaRPr lang="en-US" sz="900" dirty="0"/>
          </a:p>
        </p:txBody>
      </p:sp>
      <p:sp>
        <p:nvSpPr>
          <p:cNvPr id="6" name="Text 4"/>
          <p:cNvSpPr/>
          <p:nvPr/>
        </p:nvSpPr>
        <p:spPr>
          <a:xfrm>
            <a:off x="11365992" y="6510528"/>
            <a:ext cx="457200" cy="274320"/>
          </a:xfrm>
          <a:prstGeom prst="rect">
            <a:avLst/>
          </a:prstGeom>
          <a:noFill/>
          <a:ln/>
        </p:spPr>
        <p:txBody>
          <a:bodyPr wrap="square" rtlCol="0" anchor="ctr"/>
          <a:lstStyle/>
          <a:p>
            <a:pPr algn="r" indent="0" marL="0">
              <a:buNone/>
            </a:pPr>
            <a:r>
              <a:rPr lang="en-US" sz="900" dirty="0">
                <a:solidFill>
                  <a:srgbClr val="525252"/>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548640" y="1463040"/>
            <a:ext cx="6309360" cy="4480560"/>
          </a:xfrm>
          <a:prstGeom prst="roundRect">
            <a:avLst>
              <a:gd name="adj" fmla="val 1633"/>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685800" y="1600200"/>
            <a:ext cx="6035040" cy="457200"/>
          </a:xfrm>
          <a:prstGeom prst="roundRect">
            <a:avLst>
              <a:gd name="adj" fmla="val 16000"/>
            </a:avLst>
          </a:prstGeom>
          <a:solidFill>
            <a:srgbClr val="001141"/>
          </a:solidFill>
          <a:ln w="9525">
            <a:solidFill>
              <a:srgbClr val="E0E0E0"/>
            </a:solidFill>
            <a:prstDash val="solid"/>
          </a:ln>
        </p:spPr>
      </p:sp>
      <p:sp>
        <p:nvSpPr>
          <p:cNvPr id="9" name="Shape 7"/>
          <p:cNvSpPr/>
          <p:nvPr/>
        </p:nvSpPr>
        <p:spPr>
          <a:xfrm>
            <a:off x="822960" y="1755648"/>
            <a:ext cx="146304" cy="146304"/>
          </a:xfrm>
          <a:prstGeom prst="ellipse">
            <a:avLst/>
          </a:prstGeom>
          <a:solidFill>
            <a:srgbClr val="E36258"/>
          </a:solidFill>
          <a:ln/>
        </p:spPr>
      </p:sp>
      <p:sp>
        <p:nvSpPr>
          <p:cNvPr id="10" name="Shape 8"/>
          <p:cNvSpPr/>
          <p:nvPr/>
        </p:nvSpPr>
        <p:spPr>
          <a:xfrm>
            <a:off x="1051560" y="1755648"/>
            <a:ext cx="146304" cy="146304"/>
          </a:xfrm>
          <a:prstGeom prst="ellipse">
            <a:avLst/>
          </a:prstGeom>
          <a:solidFill>
            <a:srgbClr val="F6C244"/>
          </a:solidFill>
          <a:ln/>
        </p:spPr>
      </p:sp>
      <p:sp>
        <p:nvSpPr>
          <p:cNvPr id="11" name="Shape 9"/>
          <p:cNvSpPr/>
          <p:nvPr/>
        </p:nvSpPr>
        <p:spPr>
          <a:xfrm>
            <a:off x="1280160" y="1755648"/>
            <a:ext cx="146304" cy="146304"/>
          </a:xfrm>
          <a:prstGeom prst="ellipse">
            <a:avLst/>
          </a:prstGeom>
          <a:solidFill>
            <a:srgbClr val="3EBD59"/>
          </a:solidFill>
          <a:ln/>
        </p:spPr>
      </p:sp>
      <p:sp>
        <p:nvSpPr>
          <p:cNvPr id="12" name="Text 10"/>
          <p:cNvSpPr/>
          <p:nvPr/>
        </p:nvSpPr>
        <p:spPr>
          <a:xfrm>
            <a:off x="1554480" y="1645920"/>
            <a:ext cx="5029200" cy="36576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Cognos Analytics — Welcome</a:t>
            </a:r>
            <a:endParaRPr lang="en-US" sz="1100" dirty="0"/>
          </a:p>
        </p:txBody>
      </p:sp>
      <p:sp>
        <p:nvSpPr>
          <p:cNvPr id="13" name="Shape 11"/>
          <p:cNvSpPr/>
          <p:nvPr/>
        </p:nvSpPr>
        <p:spPr>
          <a:xfrm>
            <a:off x="822960" y="2240280"/>
            <a:ext cx="5760720" cy="411480"/>
          </a:xfrm>
          <a:prstGeom prst="roundRect">
            <a:avLst>
              <a:gd name="adj" fmla="val 17778"/>
            </a:avLst>
          </a:prstGeom>
          <a:solidFill>
            <a:srgbClr val="FFFFFF"/>
          </a:solidFill>
          <a:ln w="9525">
            <a:solidFill>
              <a:srgbClr val="E0E0E0"/>
            </a:solidFill>
            <a:prstDash val="solid"/>
          </a:ln>
        </p:spPr>
      </p:sp>
      <p:pic>
        <p:nvPicPr>
          <p:cNvPr id="14" name="Image 0" descr="/home/claude/icons/search_525252.png">    </p:cNvPr>
          <p:cNvPicPr>
            <a:picLocks noChangeAspect="1"/>
          </p:cNvPicPr>
          <p:nvPr/>
        </p:nvPicPr>
        <p:blipFill>
          <a:blip r:embed="rId1"/>
          <a:stretch>
            <a:fillRect/>
          </a:stretch>
        </p:blipFill>
        <p:spPr>
          <a:xfrm>
            <a:off x="932688" y="2331720"/>
            <a:ext cx="228600" cy="228600"/>
          </a:xfrm>
          <a:prstGeom prst="rect">
            <a:avLst/>
          </a:prstGeom>
        </p:spPr>
      </p:pic>
      <p:sp>
        <p:nvSpPr>
          <p:cNvPr id="15" name="Text 12"/>
          <p:cNvSpPr/>
          <p:nvPr/>
        </p:nvSpPr>
        <p:spPr>
          <a:xfrm>
            <a:off x="1261872" y="2240280"/>
            <a:ext cx="5029200" cy="411480"/>
          </a:xfrm>
          <a:prstGeom prst="rect">
            <a:avLst/>
          </a:prstGeom>
          <a:noFill/>
          <a:ln/>
        </p:spPr>
        <p:txBody>
          <a:bodyPr wrap="square" rtlCol="0" anchor="ctr"/>
          <a:lstStyle/>
          <a:p>
            <a:pPr indent="0" marL="0">
              <a:buNone/>
            </a:pPr>
            <a:r>
              <a:rPr lang="en-US" sz="1000" dirty="0">
                <a:solidFill>
                  <a:srgbClr val="525252"/>
                </a:solidFill>
                <a:latin typeface="Calibri" pitchFamily="34" charset="0"/>
                <a:ea typeface="Calibri" pitchFamily="34" charset="-122"/>
                <a:cs typeface="Calibri" pitchFamily="34" charset="-120"/>
              </a:rPr>
              <a:t>Search content, data, or ask a question…</a:t>
            </a:r>
            <a:endParaRPr lang="en-US" sz="1000" dirty="0"/>
          </a:p>
        </p:txBody>
      </p:sp>
      <p:sp>
        <p:nvSpPr>
          <p:cNvPr id="16" name="Text 13"/>
          <p:cNvSpPr/>
          <p:nvPr/>
        </p:nvSpPr>
        <p:spPr>
          <a:xfrm>
            <a:off x="822960" y="2788920"/>
            <a:ext cx="1371600" cy="320040"/>
          </a:xfrm>
          <a:prstGeom prst="rect">
            <a:avLst/>
          </a:prstGeom>
          <a:noFill/>
          <a:ln/>
        </p:spPr>
        <p:txBody>
          <a:bodyPr wrap="square" rtlCol="0" anchor="ctr"/>
          <a:lstStyle/>
          <a:p>
            <a:pPr algn="ctr" indent="0" marL="0">
              <a:buNone/>
            </a:pPr>
            <a:r>
              <a:rPr lang="en-US" sz="1050" b="1" dirty="0">
                <a:solidFill>
                  <a:srgbClr val="0F62FE"/>
                </a:solidFill>
                <a:latin typeface="Calibri" pitchFamily="34" charset="0"/>
                <a:ea typeface="Calibri" pitchFamily="34" charset="-122"/>
                <a:cs typeface="Calibri" pitchFamily="34" charset="-120"/>
              </a:rPr>
              <a:t>Home</a:t>
            </a:r>
            <a:endParaRPr lang="en-US" sz="1050" dirty="0"/>
          </a:p>
        </p:txBody>
      </p:sp>
      <p:sp>
        <p:nvSpPr>
          <p:cNvPr id="17" name="Text 14"/>
          <p:cNvSpPr/>
          <p:nvPr/>
        </p:nvSpPr>
        <p:spPr>
          <a:xfrm>
            <a:off x="2240280" y="2788920"/>
            <a:ext cx="1371600" cy="320040"/>
          </a:xfrm>
          <a:prstGeom prst="rect">
            <a:avLst/>
          </a:prstGeom>
          <a:noFill/>
          <a:ln/>
        </p:spPr>
        <p:txBody>
          <a:bodyPr wrap="square" rtlCol="0" anchor="ctr"/>
          <a:lstStyle/>
          <a:p>
            <a:pPr algn="ctr" indent="0" marL="0">
              <a:buNone/>
            </a:pPr>
            <a:r>
              <a:rPr lang="en-US" sz="1050" dirty="0">
                <a:solidFill>
                  <a:srgbClr val="525252"/>
                </a:solidFill>
                <a:latin typeface="Calibri" pitchFamily="34" charset="0"/>
                <a:ea typeface="Calibri" pitchFamily="34" charset="-122"/>
                <a:cs typeface="Calibri" pitchFamily="34" charset="-120"/>
              </a:rPr>
              <a:t>Recent</a:t>
            </a:r>
            <a:endParaRPr lang="en-US" sz="1050" dirty="0"/>
          </a:p>
        </p:txBody>
      </p:sp>
      <p:sp>
        <p:nvSpPr>
          <p:cNvPr id="18" name="Text 15"/>
          <p:cNvSpPr/>
          <p:nvPr/>
        </p:nvSpPr>
        <p:spPr>
          <a:xfrm>
            <a:off x="3657600" y="2788920"/>
            <a:ext cx="1371600" cy="320040"/>
          </a:xfrm>
          <a:prstGeom prst="rect">
            <a:avLst/>
          </a:prstGeom>
          <a:noFill/>
          <a:ln/>
        </p:spPr>
        <p:txBody>
          <a:bodyPr wrap="square" rtlCol="0" anchor="ctr"/>
          <a:lstStyle/>
          <a:p>
            <a:pPr algn="ctr" indent="0" marL="0">
              <a:buNone/>
            </a:pPr>
            <a:r>
              <a:rPr lang="en-US" sz="1050" dirty="0">
                <a:solidFill>
                  <a:srgbClr val="525252"/>
                </a:solidFill>
                <a:latin typeface="Calibri" pitchFamily="34" charset="0"/>
                <a:ea typeface="Calibri" pitchFamily="34" charset="-122"/>
                <a:cs typeface="Calibri" pitchFamily="34" charset="-120"/>
              </a:rPr>
              <a:t>My Content</a:t>
            </a:r>
            <a:endParaRPr lang="en-US" sz="1050" dirty="0"/>
          </a:p>
        </p:txBody>
      </p:sp>
      <p:sp>
        <p:nvSpPr>
          <p:cNvPr id="19" name="Text 16"/>
          <p:cNvSpPr/>
          <p:nvPr/>
        </p:nvSpPr>
        <p:spPr>
          <a:xfrm>
            <a:off x="5074920" y="2788920"/>
            <a:ext cx="1371600" cy="320040"/>
          </a:xfrm>
          <a:prstGeom prst="rect">
            <a:avLst/>
          </a:prstGeom>
          <a:noFill/>
          <a:ln/>
        </p:spPr>
        <p:txBody>
          <a:bodyPr wrap="square" rtlCol="0" anchor="ctr"/>
          <a:lstStyle/>
          <a:p>
            <a:pPr algn="ctr" indent="0" marL="0">
              <a:buNone/>
            </a:pPr>
            <a:r>
              <a:rPr lang="en-US" sz="1050" dirty="0">
                <a:solidFill>
                  <a:srgbClr val="525252"/>
                </a:solidFill>
                <a:latin typeface="Calibri" pitchFamily="34" charset="0"/>
                <a:ea typeface="Calibri" pitchFamily="34" charset="-122"/>
                <a:cs typeface="Calibri" pitchFamily="34" charset="-120"/>
              </a:rPr>
              <a:t>Team Content</a:t>
            </a:r>
            <a:endParaRPr lang="en-US" sz="1050" dirty="0"/>
          </a:p>
        </p:txBody>
      </p:sp>
      <p:sp>
        <p:nvSpPr>
          <p:cNvPr id="20" name="Shape 17"/>
          <p:cNvSpPr/>
          <p:nvPr/>
        </p:nvSpPr>
        <p:spPr>
          <a:xfrm>
            <a:off x="822960" y="3136392"/>
            <a:ext cx="5760720" cy="0"/>
          </a:xfrm>
          <a:prstGeom prst="line">
            <a:avLst/>
          </a:prstGeom>
          <a:noFill/>
          <a:ln w="12700">
            <a:solidFill>
              <a:srgbClr val="E0E0E0"/>
            </a:solidFill>
            <a:prstDash val="solid"/>
          </a:ln>
        </p:spPr>
      </p:sp>
      <p:sp>
        <p:nvSpPr>
          <p:cNvPr id="21" name="Shape 18"/>
          <p:cNvSpPr/>
          <p:nvPr/>
        </p:nvSpPr>
        <p:spPr>
          <a:xfrm>
            <a:off x="822960" y="3337560"/>
            <a:ext cx="1783080" cy="1097280"/>
          </a:xfrm>
          <a:prstGeom prst="roundRect">
            <a:avLst>
              <a:gd name="adj" fmla="val 6667"/>
            </a:avLst>
          </a:prstGeom>
          <a:solidFill>
            <a:srgbClr val="FFFFFF"/>
          </a:solidFill>
          <a:ln w="9525">
            <a:solidFill>
              <a:srgbClr val="E0E0E0"/>
            </a:solidFill>
            <a:prstDash val="solid"/>
          </a:ln>
        </p:spPr>
      </p:sp>
      <p:sp>
        <p:nvSpPr>
          <p:cNvPr id="22" name="Shape 19"/>
          <p:cNvSpPr/>
          <p:nvPr/>
        </p:nvSpPr>
        <p:spPr>
          <a:xfrm>
            <a:off x="960120" y="3474720"/>
            <a:ext cx="365760" cy="365760"/>
          </a:xfrm>
          <a:prstGeom prst="ellipse">
            <a:avLst/>
          </a:prstGeom>
          <a:solidFill>
            <a:srgbClr val="D0E2FF"/>
          </a:solidFill>
          <a:ln/>
        </p:spPr>
      </p:sp>
      <p:pic>
        <p:nvPicPr>
          <p:cNvPr id="23" name="Image 1" descr="/home/claude/icons/file_0F62FE.png">    </p:cNvPr>
          <p:cNvPicPr>
            <a:picLocks noChangeAspect="1"/>
          </p:cNvPicPr>
          <p:nvPr/>
        </p:nvPicPr>
        <p:blipFill>
          <a:blip r:embed="rId2"/>
          <a:stretch>
            <a:fillRect/>
          </a:stretch>
        </p:blipFill>
        <p:spPr>
          <a:xfrm>
            <a:off x="1055218" y="3569818"/>
            <a:ext cx="175565" cy="175565"/>
          </a:xfrm>
          <a:prstGeom prst="rect">
            <a:avLst/>
          </a:prstGeom>
        </p:spPr>
      </p:pic>
      <p:sp>
        <p:nvSpPr>
          <p:cNvPr id="24" name="Text 20"/>
          <p:cNvSpPr/>
          <p:nvPr/>
        </p:nvSpPr>
        <p:spPr>
          <a:xfrm>
            <a:off x="960120" y="3931920"/>
            <a:ext cx="1554480" cy="411480"/>
          </a:xfrm>
          <a:prstGeom prst="rect">
            <a:avLst/>
          </a:prstGeom>
          <a:noFill/>
          <a:ln/>
        </p:spPr>
        <p:txBody>
          <a:bodyPr wrap="square" rtlCol="0" anchor="t"/>
          <a:lstStyle/>
          <a:p>
            <a:pPr indent="0" marL="0">
              <a:buNone/>
            </a:pPr>
            <a:r>
              <a:rPr lang="en-US" sz="950" dirty="0">
                <a:solidFill>
                  <a:srgbClr val="393939"/>
                </a:solidFill>
                <a:latin typeface="Calibri" pitchFamily="34" charset="0"/>
                <a:ea typeface="Calibri" pitchFamily="34" charset="-122"/>
                <a:cs typeface="Calibri" pitchFamily="34" charset="-120"/>
              </a:rPr>
              <a:t>Sales Report</a:t>
            </a:r>
            <a:endParaRPr lang="en-US" sz="950" dirty="0"/>
          </a:p>
        </p:txBody>
      </p:sp>
      <p:sp>
        <p:nvSpPr>
          <p:cNvPr id="25" name="Shape 21"/>
          <p:cNvSpPr/>
          <p:nvPr/>
        </p:nvSpPr>
        <p:spPr>
          <a:xfrm>
            <a:off x="2743200" y="3337560"/>
            <a:ext cx="1783080" cy="1097280"/>
          </a:xfrm>
          <a:prstGeom prst="roundRect">
            <a:avLst>
              <a:gd name="adj" fmla="val 6667"/>
            </a:avLst>
          </a:prstGeom>
          <a:solidFill>
            <a:srgbClr val="FFFFFF"/>
          </a:solidFill>
          <a:ln w="9525">
            <a:solidFill>
              <a:srgbClr val="E0E0E0"/>
            </a:solidFill>
            <a:prstDash val="solid"/>
          </a:ln>
        </p:spPr>
      </p:sp>
      <p:sp>
        <p:nvSpPr>
          <p:cNvPr id="26" name="Shape 22"/>
          <p:cNvSpPr/>
          <p:nvPr/>
        </p:nvSpPr>
        <p:spPr>
          <a:xfrm>
            <a:off x="2880360" y="3474720"/>
            <a:ext cx="365760" cy="365760"/>
          </a:xfrm>
          <a:prstGeom prst="ellipse">
            <a:avLst/>
          </a:prstGeom>
          <a:solidFill>
            <a:srgbClr val="D0E2FF"/>
          </a:solidFill>
          <a:ln/>
        </p:spPr>
      </p:sp>
      <p:pic>
        <p:nvPicPr>
          <p:cNvPr id="27" name="Image 2" descr="/home/claude/icons/chartbar_0F62FE.png">    </p:cNvPr>
          <p:cNvPicPr>
            <a:picLocks noChangeAspect="1"/>
          </p:cNvPicPr>
          <p:nvPr/>
        </p:nvPicPr>
        <p:blipFill>
          <a:blip r:embed="rId3"/>
          <a:stretch>
            <a:fillRect/>
          </a:stretch>
        </p:blipFill>
        <p:spPr>
          <a:xfrm>
            <a:off x="2975458" y="3569818"/>
            <a:ext cx="175565" cy="175565"/>
          </a:xfrm>
          <a:prstGeom prst="rect">
            <a:avLst/>
          </a:prstGeom>
        </p:spPr>
      </p:pic>
      <p:sp>
        <p:nvSpPr>
          <p:cNvPr id="28" name="Text 23"/>
          <p:cNvSpPr/>
          <p:nvPr/>
        </p:nvSpPr>
        <p:spPr>
          <a:xfrm>
            <a:off x="2880360" y="3931920"/>
            <a:ext cx="1554480" cy="411480"/>
          </a:xfrm>
          <a:prstGeom prst="rect">
            <a:avLst/>
          </a:prstGeom>
          <a:noFill/>
          <a:ln/>
        </p:spPr>
        <p:txBody>
          <a:bodyPr wrap="square" rtlCol="0" anchor="t"/>
          <a:lstStyle/>
          <a:p>
            <a:pPr indent="0" marL="0">
              <a:buNone/>
            </a:pPr>
            <a:r>
              <a:rPr lang="en-US" sz="950" dirty="0">
                <a:solidFill>
                  <a:srgbClr val="393939"/>
                </a:solidFill>
                <a:latin typeface="Calibri" pitchFamily="34" charset="0"/>
                <a:ea typeface="Calibri" pitchFamily="34" charset="-122"/>
                <a:cs typeface="Calibri" pitchFamily="34" charset="-120"/>
              </a:rPr>
              <a:t>Revenue Dash</a:t>
            </a:r>
            <a:endParaRPr lang="en-US" sz="950" dirty="0"/>
          </a:p>
        </p:txBody>
      </p:sp>
      <p:sp>
        <p:nvSpPr>
          <p:cNvPr id="29" name="Shape 24"/>
          <p:cNvSpPr/>
          <p:nvPr/>
        </p:nvSpPr>
        <p:spPr>
          <a:xfrm>
            <a:off x="4663440" y="3337560"/>
            <a:ext cx="1783080" cy="1097280"/>
          </a:xfrm>
          <a:prstGeom prst="roundRect">
            <a:avLst>
              <a:gd name="adj" fmla="val 6667"/>
            </a:avLst>
          </a:prstGeom>
          <a:solidFill>
            <a:srgbClr val="FFFFFF"/>
          </a:solidFill>
          <a:ln w="9525">
            <a:solidFill>
              <a:srgbClr val="E0E0E0"/>
            </a:solidFill>
            <a:prstDash val="solid"/>
          </a:ln>
        </p:spPr>
      </p:sp>
      <p:sp>
        <p:nvSpPr>
          <p:cNvPr id="30" name="Shape 25"/>
          <p:cNvSpPr/>
          <p:nvPr/>
        </p:nvSpPr>
        <p:spPr>
          <a:xfrm>
            <a:off x="4800600" y="3474720"/>
            <a:ext cx="365760" cy="365760"/>
          </a:xfrm>
          <a:prstGeom prst="ellipse">
            <a:avLst/>
          </a:prstGeom>
          <a:solidFill>
            <a:srgbClr val="D0E2FF"/>
          </a:solidFill>
          <a:ln/>
        </p:spPr>
      </p:sp>
      <p:pic>
        <p:nvPicPr>
          <p:cNvPr id="31" name="Image 3" descr="/home/claude/icons/table_0F62FE.png">    </p:cNvPr>
          <p:cNvPicPr>
            <a:picLocks noChangeAspect="1"/>
          </p:cNvPicPr>
          <p:nvPr/>
        </p:nvPicPr>
        <p:blipFill>
          <a:blip r:embed="rId4"/>
          <a:stretch>
            <a:fillRect/>
          </a:stretch>
        </p:blipFill>
        <p:spPr>
          <a:xfrm>
            <a:off x="4895698" y="3569818"/>
            <a:ext cx="175565" cy="175565"/>
          </a:xfrm>
          <a:prstGeom prst="rect">
            <a:avLst/>
          </a:prstGeom>
        </p:spPr>
      </p:pic>
      <p:sp>
        <p:nvSpPr>
          <p:cNvPr id="32" name="Text 26"/>
          <p:cNvSpPr/>
          <p:nvPr/>
        </p:nvSpPr>
        <p:spPr>
          <a:xfrm>
            <a:off x="4800600" y="3931920"/>
            <a:ext cx="1554480" cy="411480"/>
          </a:xfrm>
          <a:prstGeom prst="rect">
            <a:avLst/>
          </a:prstGeom>
          <a:noFill/>
          <a:ln/>
        </p:spPr>
        <p:txBody>
          <a:bodyPr wrap="square" rtlCol="0" anchor="t"/>
          <a:lstStyle/>
          <a:p>
            <a:pPr indent="0" marL="0">
              <a:buNone/>
            </a:pPr>
            <a:r>
              <a:rPr lang="en-US" sz="950" dirty="0">
                <a:solidFill>
                  <a:srgbClr val="393939"/>
                </a:solidFill>
                <a:latin typeface="Calibri" pitchFamily="34" charset="0"/>
                <a:ea typeface="Calibri" pitchFamily="34" charset="-122"/>
                <a:cs typeface="Calibri" pitchFamily="34" charset="-120"/>
              </a:rPr>
              <a:t>Q3 Data</a:t>
            </a:r>
            <a:endParaRPr lang="en-US" sz="950" dirty="0"/>
          </a:p>
        </p:txBody>
      </p:sp>
      <p:sp>
        <p:nvSpPr>
          <p:cNvPr id="33" name="Shape 27"/>
          <p:cNvSpPr/>
          <p:nvPr/>
        </p:nvSpPr>
        <p:spPr>
          <a:xfrm>
            <a:off x="822960" y="4572000"/>
            <a:ext cx="1783080" cy="1097280"/>
          </a:xfrm>
          <a:prstGeom prst="roundRect">
            <a:avLst>
              <a:gd name="adj" fmla="val 6667"/>
            </a:avLst>
          </a:prstGeom>
          <a:solidFill>
            <a:srgbClr val="FFFFFF"/>
          </a:solidFill>
          <a:ln w="9525">
            <a:solidFill>
              <a:srgbClr val="E0E0E0"/>
            </a:solidFill>
            <a:prstDash val="solid"/>
          </a:ln>
        </p:spPr>
      </p:sp>
      <p:sp>
        <p:nvSpPr>
          <p:cNvPr id="34" name="Shape 28"/>
          <p:cNvSpPr/>
          <p:nvPr/>
        </p:nvSpPr>
        <p:spPr>
          <a:xfrm>
            <a:off x="960120" y="4709160"/>
            <a:ext cx="365760" cy="365760"/>
          </a:xfrm>
          <a:prstGeom prst="ellipse">
            <a:avLst/>
          </a:prstGeom>
          <a:solidFill>
            <a:srgbClr val="D0E2FF"/>
          </a:solidFill>
          <a:ln/>
        </p:spPr>
      </p:sp>
      <p:pic>
        <p:nvPicPr>
          <p:cNvPr id="35" name="Image 4" descr="/home/claude/icons/filepdf_0F62FE.png">    </p:cNvPr>
          <p:cNvPicPr>
            <a:picLocks noChangeAspect="1"/>
          </p:cNvPicPr>
          <p:nvPr/>
        </p:nvPicPr>
        <p:blipFill>
          <a:blip r:embed="rId5"/>
          <a:stretch>
            <a:fillRect/>
          </a:stretch>
        </p:blipFill>
        <p:spPr>
          <a:xfrm>
            <a:off x="1055218" y="4804258"/>
            <a:ext cx="175565" cy="175565"/>
          </a:xfrm>
          <a:prstGeom prst="rect">
            <a:avLst/>
          </a:prstGeom>
        </p:spPr>
      </p:pic>
      <p:sp>
        <p:nvSpPr>
          <p:cNvPr id="36" name="Text 29"/>
          <p:cNvSpPr/>
          <p:nvPr/>
        </p:nvSpPr>
        <p:spPr>
          <a:xfrm>
            <a:off x="960120" y="5166360"/>
            <a:ext cx="1554480" cy="411480"/>
          </a:xfrm>
          <a:prstGeom prst="rect">
            <a:avLst/>
          </a:prstGeom>
          <a:noFill/>
          <a:ln/>
        </p:spPr>
        <p:txBody>
          <a:bodyPr wrap="square" rtlCol="0" anchor="t"/>
          <a:lstStyle/>
          <a:p>
            <a:pPr indent="0" marL="0">
              <a:buNone/>
            </a:pPr>
            <a:r>
              <a:rPr lang="en-US" sz="950" dirty="0">
                <a:solidFill>
                  <a:srgbClr val="393939"/>
                </a:solidFill>
                <a:latin typeface="Calibri" pitchFamily="34" charset="0"/>
                <a:ea typeface="Calibri" pitchFamily="34" charset="-122"/>
                <a:cs typeface="Calibri" pitchFamily="34" charset="-120"/>
              </a:rPr>
              <a:t>Board PDF</a:t>
            </a:r>
            <a:endParaRPr lang="en-US" sz="950" dirty="0"/>
          </a:p>
        </p:txBody>
      </p:sp>
      <p:sp>
        <p:nvSpPr>
          <p:cNvPr id="37" name="Shape 30"/>
          <p:cNvSpPr/>
          <p:nvPr/>
        </p:nvSpPr>
        <p:spPr>
          <a:xfrm>
            <a:off x="2743200" y="4572000"/>
            <a:ext cx="1783080" cy="1097280"/>
          </a:xfrm>
          <a:prstGeom prst="roundRect">
            <a:avLst>
              <a:gd name="adj" fmla="val 6667"/>
            </a:avLst>
          </a:prstGeom>
          <a:solidFill>
            <a:srgbClr val="FFFFFF"/>
          </a:solidFill>
          <a:ln w="9525">
            <a:solidFill>
              <a:srgbClr val="E0E0E0"/>
            </a:solidFill>
            <a:prstDash val="solid"/>
          </a:ln>
        </p:spPr>
      </p:sp>
      <p:sp>
        <p:nvSpPr>
          <p:cNvPr id="38" name="Shape 31"/>
          <p:cNvSpPr/>
          <p:nvPr/>
        </p:nvSpPr>
        <p:spPr>
          <a:xfrm>
            <a:off x="2880360" y="4709160"/>
            <a:ext cx="365760" cy="365760"/>
          </a:xfrm>
          <a:prstGeom prst="ellipse">
            <a:avLst/>
          </a:prstGeom>
          <a:solidFill>
            <a:srgbClr val="D0E2FF"/>
          </a:solidFill>
          <a:ln/>
        </p:spPr>
      </p:sp>
      <p:pic>
        <p:nvPicPr>
          <p:cNvPr id="39" name="Image 5" descr="/home/claude/icons/map_0F62FE.png">    </p:cNvPr>
          <p:cNvPicPr>
            <a:picLocks noChangeAspect="1"/>
          </p:cNvPicPr>
          <p:nvPr/>
        </p:nvPicPr>
        <p:blipFill>
          <a:blip r:embed="rId6"/>
          <a:stretch>
            <a:fillRect/>
          </a:stretch>
        </p:blipFill>
        <p:spPr>
          <a:xfrm>
            <a:off x="2975458" y="4804258"/>
            <a:ext cx="175565" cy="175565"/>
          </a:xfrm>
          <a:prstGeom prst="rect">
            <a:avLst/>
          </a:prstGeom>
        </p:spPr>
      </p:pic>
      <p:sp>
        <p:nvSpPr>
          <p:cNvPr id="40" name="Text 32"/>
          <p:cNvSpPr/>
          <p:nvPr/>
        </p:nvSpPr>
        <p:spPr>
          <a:xfrm>
            <a:off x="2880360" y="5166360"/>
            <a:ext cx="1554480" cy="411480"/>
          </a:xfrm>
          <a:prstGeom prst="rect">
            <a:avLst/>
          </a:prstGeom>
          <a:noFill/>
          <a:ln/>
        </p:spPr>
        <p:txBody>
          <a:bodyPr wrap="square" rtlCol="0" anchor="t"/>
          <a:lstStyle/>
          <a:p>
            <a:pPr indent="0" marL="0">
              <a:buNone/>
            </a:pPr>
            <a:r>
              <a:rPr lang="en-US" sz="950" dirty="0">
                <a:solidFill>
                  <a:srgbClr val="393939"/>
                </a:solidFill>
                <a:latin typeface="Calibri" pitchFamily="34" charset="0"/>
                <a:ea typeface="Calibri" pitchFamily="34" charset="-122"/>
                <a:cs typeface="Calibri" pitchFamily="34" charset="-120"/>
              </a:rPr>
              <a:t>Region Map</a:t>
            </a:r>
            <a:endParaRPr lang="en-US" sz="950" dirty="0"/>
          </a:p>
        </p:txBody>
      </p:sp>
      <p:sp>
        <p:nvSpPr>
          <p:cNvPr id="41" name="Shape 33"/>
          <p:cNvSpPr/>
          <p:nvPr/>
        </p:nvSpPr>
        <p:spPr>
          <a:xfrm>
            <a:off x="4663440" y="4572000"/>
            <a:ext cx="1783080" cy="1097280"/>
          </a:xfrm>
          <a:prstGeom prst="roundRect">
            <a:avLst>
              <a:gd name="adj" fmla="val 6667"/>
            </a:avLst>
          </a:prstGeom>
          <a:solidFill>
            <a:srgbClr val="FFFFFF"/>
          </a:solidFill>
          <a:ln w="9525">
            <a:solidFill>
              <a:srgbClr val="E0E0E0"/>
            </a:solidFill>
            <a:prstDash val="solid"/>
          </a:ln>
        </p:spPr>
      </p:sp>
      <p:sp>
        <p:nvSpPr>
          <p:cNvPr id="42" name="Shape 34"/>
          <p:cNvSpPr/>
          <p:nvPr/>
        </p:nvSpPr>
        <p:spPr>
          <a:xfrm>
            <a:off x="4800600" y="4709160"/>
            <a:ext cx="365760" cy="365760"/>
          </a:xfrm>
          <a:prstGeom prst="ellipse">
            <a:avLst/>
          </a:prstGeom>
          <a:solidFill>
            <a:srgbClr val="D0E2FF"/>
          </a:solidFill>
          <a:ln/>
        </p:spPr>
      </p:sp>
      <p:pic>
        <p:nvPicPr>
          <p:cNvPr id="43" name="Image 6" descr="/home/claude/icons/dashboard_0F62FE.png">    </p:cNvPr>
          <p:cNvPicPr>
            <a:picLocks noChangeAspect="1"/>
          </p:cNvPicPr>
          <p:nvPr/>
        </p:nvPicPr>
        <p:blipFill>
          <a:blip r:embed="rId7"/>
          <a:stretch>
            <a:fillRect/>
          </a:stretch>
        </p:blipFill>
        <p:spPr>
          <a:xfrm>
            <a:off x="4895698" y="4804258"/>
            <a:ext cx="175565" cy="175565"/>
          </a:xfrm>
          <a:prstGeom prst="rect">
            <a:avLst/>
          </a:prstGeom>
        </p:spPr>
      </p:pic>
      <p:sp>
        <p:nvSpPr>
          <p:cNvPr id="44" name="Text 35"/>
          <p:cNvSpPr/>
          <p:nvPr/>
        </p:nvSpPr>
        <p:spPr>
          <a:xfrm>
            <a:off x="4800600" y="5166360"/>
            <a:ext cx="1554480" cy="411480"/>
          </a:xfrm>
          <a:prstGeom prst="rect">
            <a:avLst/>
          </a:prstGeom>
          <a:noFill/>
          <a:ln/>
        </p:spPr>
        <p:txBody>
          <a:bodyPr wrap="square" rtlCol="0" anchor="t"/>
          <a:lstStyle/>
          <a:p>
            <a:pPr indent="0" marL="0">
              <a:buNone/>
            </a:pPr>
            <a:r>
              <a:rPr lang="en-US" sz="950" dirty="0">
                <a:solidFill>
                  <a:srgbClr val="393939"/>
                </a:solidFill>
                <a:latin typeface="Calibri" pitchFamily="34" charset="0"/>
                <a:ea typeface="Calibri" pitchFamily="34" charset="-122"/>
                <a:cs typeface="Calibri" pitchFamily="34" charset="-120"/>
              </a:rPr>
              <a:t>KPI View</a:t>
            </a:r>
            <a:endParaRPr lang="en-US" sz="950" dirty="0"/>
          </a:p>
        </p:txBody>
      </p:sp>
      <p:sp>
        <p:nvSpPr>
          <p:cNvPr id="45" name="Text 36"/>
          <p:cNvSpPr/>
          <p:nvPr/>
        </p:nvSpPr>
        <p:spPr>
          <a:xfrm>
            <a:off x="548640" y="5650992"/>
            <a:ext cx="6309360" cy="228600"/>
          </a:xfrm>
          <a:prstGeom prst="rect">
            <a:avLst/>
          </a:prstGeom>
          <a:noFill/>
          <a:ln/>
        </p:spPr>
        <p:txBody>
          <a:bodyPr wrap="square" rtlCol="0" anchor="ctr"/>
          <a:lstStyle/>
          <a:p>
            <a:pPr algn="ctr" indent="0" marL="0">
              <a:buNone/>
            </a:pPr>
            <a:r>
              <a:rPr lang="en-US" sz="850" i="1" dirty="0">
                <a:solidFill>
                  <a:srgbClr val="525252"/>
                </a:solidFill>
                <a:latin typeface="Calibri" pitchFamily="34" charset="0"/>
                <a:ea typeface="Calibri" pitchFamily="34" charset="-122"/>
                <a:cs typeface="Calibri" pitchFamily="34" charset="-120"/>
              </a:rPr>
              <a:t>Illustrative mockup — actual screens may vary by version</a:t>
            </a:r>
            <a:endParaRPr lang="en-US" sz="850" dirty="0"/>
          </a:p>
        </p:txBody>
      </p:sp>
      <p:sp>
        <p:nvSpPr>
          <p:cNvPr id="46" name="Shape 37"/>
          <p:cNvSpPr/>
          <p:nvPr/>
        </p:nvSpPr>
        <p:spPr>
          <a:xfrm>
            <a:off x="7086600" y="1463040"/>
            <a:ext cx="384048" cy="384048"/>
          </a:xfrm>
          <a:prstGeom prst="ellipse">
            <a:avLst/>
          </a:prstGeom>
          <a:solidFill>
            <a:srgbClr val="0F62FE"/>
          </a:solidFill>
          <a:ln/>
        </p:spPr>
      </p:sp>
      <p:pic>
        <p:nvPicPr>
          <p:cNvPr id="47" name="Image 7" descr="/home/claude/icons/globe_FFFFFF.png">    </p:cNvPr>
          <p:cNvPicPr>
            <a:picLocks noChangeAspect="1"/>
          </p:cNvPicPr>
          <p:nvPr/>
        </p:nvPicPr>
        <p:blipFill>
          <a:blip r:embed="rId8"/>
          <a:stretch>
            <a:fillRect/>
          </a:stretch>
        </p:blipFill>
        <p:spPr>
          <a:xfrm>
            <a:off x="7186452" y="1562892"/>
            <a:ext cx="184343" cy="184343"/>
          </a:xfrm>
          <a:prstGeom prst="rect">
            <a:avLst/>
          </a:prstGeom>
        </p:spPr>
      </p:pic>
      <p:sp>
        <p:nvSpPr>
          <p:cNvPr id="48" name="Text 38"/>
          <p:cNvSpPr/>
          <p:nvPr/>
        </p:nvSpPr>
        <p:spPr>
          <a:xfrm>
            <a:off x="7589520" y="1435608"/>
            <a:ext cx="4480560" cy="274320"/>
          </a:xfrm>
          <a:prstGeom prst="rect">
            <a:avLst/>
          </a:prstGeom>
          <a:noFill/>
          <a:ln/>
        </p:spPr>
        <p:txBody>
          <a:bodyPr wrap="square" rtlCol="0" anchor="ctr"/>
          <a:lstStyle/>
          <a:p>
            <a:pPr indent="0" marL="0">
              <a:buNone/>
            </a:pPr>
            <a:r>
              <a:rPr lang="en-US" sz="1150" b="1" dirty="0">
                <a:solidFill>
                  <a:srgbClr val="161616"/>
                </a:solidFill>
                <a:latin typeface="Calibri" pitchFamily="34" charset="0"/>
                <a:ea typeface="Calibri" pitchFamily="34" charset="-122"/>
                <a:cs typeface="Calibri" pitchFamily="34" charset="-120"/>
              </a:rPr>
              <a:t>Welcome Page</a:t>
            </a:r>
            <a:endParaRPr lang="en-US" sz="1150" dirty="0"/>
          </a:p>
        </p:txBody>
      </p:sp>
      <p:sp>
        <p:nvSpPr>
          <p:cNvPr id="49" name="Text 39"/>
          <p:cNvSpPr/>
          <p:nvPr/>
        </p:nvSpPr>
        <p:spPr>
          <a:xfrm>
            <a:off x="7589520" y="1682496"/>
            <a:ext cx="4480560" cy="320040"/>
          </a:xfrm>
          <a:prstGeom prst="rect">
            <a:avLst/>
          </a:prstGeom>
          <a:noFill/>
          <a:ln/>
        </p:spPr>
        <p:txBody>
          <a:bodyPr wrap="square" rtlCol="0" anchor="ctr"/>
          <a:lstStyle/>
          <a:p>
            <a:pPr indent="0" marL="0">
              <a:buNone/>
            </a:pPr>
            <a:r>
              <a:rPr lang="en-US" sz="950" dirty="0">
                <a:solidFill>
                  <a:srgbClr val="525252"/>
                </a:solidFill>
                <a:latin typeface="Calibri" pitchFamily="34" charset="0"/>
                <a:ea typeface="Calibri" pitchFamily="34" charset="-122"/>
                <a:cs typeface="Calibri" pitchFamily="34" charset="-120"/>
              </a:rPr>
              <a:t>Personalized landing page with recent &amp; suggested content</a:t>
            </a:r>
            <a:endParaRPr lang="en-US" sz="950" dirty="0"/>
          </a:p>
        </p:txBody>
      </p:sp>
      <p:sp>
        <p:nvSpPr>
          <p:cNvPr id="50" name="Shape 40"/>
          <p:cNvSpPr/>
          <p:nvPr/>
        </p:nvSpPr>
        <p:spPr>
          <a:xfrm>
            <a:off x="7086600" y="2089404"/>
            <a:ext cx="384048" cy="384048"/>
          </a:xfrm>
          <a:prstGeom prst="ellipse">
            <a:avLst/>
          </a:prstGeom>
          <a:solidFill>
            <a:srgbClr val="0F62FE"/>
          </a:solidFill>
          <a:ln/>
        </p:spPr>
      </p:sp>
      <p:pic>
        <p:nvPicPr>
          <p:cNvPr id="51" name="Image 8" descr="/home/claude/icons/sitemap_FFFFFF.png">    </p:cNvPr>
          <p:cNvPicPr>
            <a:picLocks noChangeAspect="1"/>
          </p:cNvPicPr>
          <p:nvPr/>
        </p:nvPicPr>
        <p:blipFill>
          <a:blip r:embed="rId9"/>
          <a:stretch>
            <a:fillRect/>
          </a:stretch>
        </p:blipFill>
        <p:spPr>
          <a:xfrm>
            <a:off x="7186452" y="2189256"/>
            <a:ext cx="184343" cy="184343"/>
          </a:xfrm>
          <a:prstGeom prst="rect">
            <a:avLst/>
          </a:prstGeom>
        </p:spPr>
      </p:pic>
      <p:sp>
        <p:nvSpPr>
          <p:cNvPr id="52" name="Text 41"/>
          <p:cNvSpPr/>
          <p:nvPr/>
        </p:nvSpPr>
        <p:spPr>
          <a:xfrm>
            <a:off x="7589520" y="2061972"/>
            <a:ext cx="4480560" cy="274320"/>
          </a:xfrm>
          <a:prstGeom prst="rect">
            <a:avLst/>
          </a:prstGeom>
          <a:noFill/>
          <a:ln/>
        </p:spPr>
        <p:txBody>
          <a:bodyPr wrap="square" rtlCol="0" anchor="ctr"/>
          <a:lstStyle/>
          <a:p>
            <a:pPr indent="0" marL="0">
              <a:buNone/>
            </a:pPr>
            <a:r>
              <a:rPr lang="en-US" sz="1150" b="1" dirty="0">
                <a:solidFill>
                  <a:srgbClr val="161616"/>
                </a:solidFill>
                <a:latin typeface="Calibri" pitchFamily="34" charset="0"/>
                <a:ea typeface="Calibri" pitchFamily="34" charset="-122"/>
                <a:cs typeface="Calibri" pitchFamily="34" charset="-120"/>
              </a:rPr>
              <a:t>Navigation</a:t>
            </a:r>
            <a:endParaRPr lang="en-US" sz="1150" dirty="0"/>
          </a:p>
        </p:txBody>
      </p:sp>
      <p:sp>
        <p:nvSpPr>
          <p:cNvPr id="53" name="Text 42"/>
          <p:cNvSpPr/>
          <p:nvPr/>
        </p:nvSpPr>
        <p:spPr>
          <a:xfrm>
            <a:off x="7589520" y="2308860"/>
            <a:ext cx="4480560" cy="320040"/>
          </a:xfrm>
          <a:prstGeom prst="rect">
            <a:avLst/>
          </a:prstGeom>
          <a:noFill/>
          <a:ln/>
        </p:spPr>
        <p:txBody>
          <a:bodyPr wrap="square" rtlCol="0" anchor="ctr"/>
          <a:lstStyle/>
          <a:p>
            <a:pPr indent="0" marL="0">
              <a:buNone/>
            </a:pPr>
            <a:r>
              <a:rPr lang="en-US" sz="950" dirty="0">
                <a:solidFill>
                  <a:srgbClr val="525252"/>
                </a:solidFill>
                <a:latin typeface="Calibri" pitchFamily="34" charset="0"/>
                <a:ea typeface="Calibri" pitchFamily="34" charset="-122"/>
                <a:cs typeface="Calibri" pitchFamily="34" charset="-120"/>
              </a:rPr>
              <a:t>Left menu to move between Home, Content, and Admin areas</a:t>
            </a:r>
            <a:endParaRPr lang="en-US" sz="950" dirty="0"/>
          </a:p>
        </p:txBody>
      </p:sp>
      <p:sp>
        <p:nvSpPr>
          <p:cNvPr id="54" name="Shape 43"/>
          <p:cNvSpPr/>
          <p:nvPr/>
        </p:nvSpPr>
        <p:spPr>
          <a:xfrm>
            <a:off x="7086600" y="2715768"/>
            <a:ext cx="384048" cy="384048"/>
          </a:xfrm>
          <a:prstGeom prst="ellipse">
            <a:avLst/>
          </a:prstGeom>
          <a:solidFill>
            <a:srgbClr val="0F62FE"/>
          </a:solidFill>
          <a:ln/>
        </p:spPr>
      </p:sp>
      <p:pic>
        <p:nvPicPr>
          <p:cNvPr id="55" name="Image 9" descr="/home/claude/icons/group_FFFFFF.png">    </p:cNvPr>
          <p:cNvPicPr>
            <a:picLocks noChangeAspect="1"/>
          </p:cNvPicPr>
          <p:nvPr/>
        </p:nvPicPr>
        <p:blipFill>
          <a:blip r:embed="rId10"/>
          <a:stretch>
            <a:fillRect/>
          </a:stretch>
        </p:blipFill>
        <p:spPr>
          <a:xfrm>
            <a:off x="7186452" y="2815620"/>
            <a:ext cx="184343" cy="184343"/>
          </a:xfrm>
          <a:prstGeom prst="rect">
            <a:avLst/>
          </a:prstGeom>
        </p:spPr>
      </p:pic>
      <p:sp>
        <p:nvSpPr>
          <p:cNvPr id="56" name="Text 44"/>
          <p:cNvSpPr/>
          <p:nvPr/>
        </p:nvSpPr>
        <p:spPr>
          <a:xfrm>
            <a:off x="7589520" y="2688336"/>
            <a:ext cx="4480560" cy="274320"/>
          </a:xfrm>
          <a:prstGeom prst="rect">
            <a:avLst/>
          </a:prstGeom>
          <a:noFill/>
          <a:ln/>
        </p:spPr>
        <p:txBody>
          <a:bodyPr wrap="square" rtlCol="0" anchor="ctr"/>
          <a:lstStyle/>
          <a:p>
            <a:pPr indent="0" marL="0">
              <a:buNone/>
            </a:pPr>
            <a:r>
              <a:rPr lang="en-US" sz="1150" b="1" dirty="0">
                <a:solidFill>
                  <a:srgbClr val="161616"/>
                </a:solidFill>
                <a:latin typeface="Calibri" pitchFamily="34" charset="0"/>
                <a:ea typeface="Calibri" pitchFamily="34" charset="-122"/>
                <a:cs typeface="Calibri" pitchFamily="34" charset="-120"/>
              </a:rPr>
              <a:t>Team Content</a:t>
            </a:r>
            <a:endParaRPr lang="en-US" sz="1150" dirty="0"/>
          </a:p>
        </p:txBody>
      </p:sp>
      <p:sp>
        <p:nvSpPr>
          <p:cNvPr id="57" name="Text 45"/>
          <p:cNvSpPr/>
          <p:nvPr/>
        </p:nvSpPr>
        <p:spPr>
          <a:xfrm>
            <a:off x="7589520" y="2935224"/>
            <a:ext cx="4480560" cy="320040"/>
          </a:xfrm>
          <a:prstGeom prst="rect">
            <a:avLst/>
          </a:prstGeom>
          <a:noFill/>
          <a:ln/>
        </p:spPr>
        <p:txBody>
          <a:bodyPr wrap="square" rtlCol="0" anchor="ctr"/>
          <a:lstStyle/>
          <a:p>
            <a:pPr indent="0" marL="0">
              <a:buNone/>
            </a:pPr>
            <a:r>
              <a:rPr lang="en-US" sz="950" dirty="0">
                <a:solidFill>
                  <a:srgbClr val="525252"/>
                </a:solidFill>
                <a:latin typeface="Calibri" pitchFamily="34" charset="0"/>
                <a:ea typeface="Calibri" pitchFamily="34" charset="-122"/>
                <a:cs typeface="Calibri" pitchFamily="34" charset="-120"/>
              </a:rPr>
              <a:t>Shared, governed content managed by the organization</a:t>
            </a:r>
            <a:endParaRPr lang="en-US" sz="950" dirty="0"/>
          </a:p>
        </p:txBody>
      </p:sp>
      <p:sp>
        <p:nvSpPr>
          <p:cNvPr id="58" name="Shape 46"/>
          <p:cNvSpPr/>
          <p:nvPr/>
        </p:nvSpPr>
        <p:spPr>
          <a:xfrm>
            <a:off x="7086600" y="3342132"/>
            <a:ext cx="384048" cy="384048"/>
          </a:xfrm>
          <a:prstGeom prst="ellipse">
            <a:avLst/>
          </a:prstGeom>
          <a:solidFill>
            <a:srgbClr val="0F62FE"/>
          </a:solidFill>
          <a:ln/>
        </p:spPr>
      </p:sp>
      <p:pic>
        <p:nvPicPr>
          <p:cNvPr id="59" name="Image 10" descr="/home/claude/icons/file_FFFFFF.png">    </p:cNvPr>
          <p:cNvPicPr>
            <a:picLocks noChangeAspect="1"/>
          </p:cNvPicPr>
          <p:nvPr/>
        </p:nvPicPr>
        <p:blipFill>
          <a:blip r:embed="rId11"/>
          <a:stretch>
            <a:fillRect/>
          </a:stretch>
        </p:blipFill>
        <p:spPr>
          <a:xfrm>
            <a:off x="7186452" y="3441984"/>
            <a:ext cx="184343" cy="184343"/>
          </a:xfrm>
          <a:prstGeom prst="rect">
            <a:avLst/>
          </a:prstGeom>
        </p:spPr>
      </p:pic>
      <p:sp>
        <p:nvSpPr>
          <p:cNvPr id="60" name="Text 47"/>
          <p:cNvSpPr/>
          <p:nvPr/>
        </p:nvSpPr>
        <p:spPr>
          <a:xfrm>
            <a:off x="7589520" y="3314700"/>
            <a:ext cx="4480560" cy="274320"/>
          </a:xfrm>
          <a:prstGeom prst="rect">
            <a:avLst/>
          </a:prstGeom>
          <a:noFill/>
          <a:ln/>
        </p:spPr>
        <p:txBody>
          <a:bodyPr wrap="square" rtlCol="0" anchor="ctr"/>
          <a:lstStyle/>
          <a:p>
            <a:pPr indent="0" marL="0">
              <a:buNone/>
            </a:pPr>
            <a:r>
              <a:rPr lang="en-US" sz="1150" b="1" dirty="0">
                <a:solidFill>
                  <a:srgbClr val="161616"/>
                </a:solidFill>
                <a:latin typeface="Calibri" pitchFamily="34" charset="0"/>
                <a:ea typeface="Calibri" pitchFamily="34" charset="-122"/>
                <a:cs typeface="Calibri" pitchFamily="34" charset="-120"/>
              </a:rPr>
              <a:t>My Content</a:t>
            </a:r>
            <a:endParaRPr lang="en-US" sz="1150" dirty="0"/>
          </a:p>
        </p:txBody>
      </p:sp>
      <p:sp>
        <p:nvSpPr>
          <p:cNvPr id="61" name="Text 48"/>
          <p:cNvSpPr/>
          <p:nvPr/>
        </p:nvSpPr>
        <p:spPr>
          <a:xfrm>
            <a:off x="7589520" y="3561588"/>
            <a:ext cx="4480560" cy="320040"/>
          </a:xfrm>
          <a:prstGeom prst="rect">
            <a:avLst/>
          </a:prstGeom>
          <a:noFill/>
          <a:ln/>
        </p:spPr>
        <p:txBody>
          <a:bodyPr wrap="square" rtlCol="0" anchor="ctr"/>
          <a:lstStyle/>
          <a:p>
            <a:pPr indent="0" marL="0">
              <a:buNone/>
            </a:pPr>
            <a:r>
              <a:rPr lang="en-US" sz="950" dirty="0">
                <a:solidFill>
                  <a:srgbClr val="525252"/>
                </a:solidFill>
                <a:latin typeface="Calibri" pitchFamily="34" charset="0"/>
                <a:ea typeface="Calibri" pitchFamily="34" charset="-122"/>
                <a:cs typeface="Calibri" pitchFamily="34" charset="-120"/>
              </a:rPr>
              <a:t>Personal workspace for items you create or upload</a:t>
            </a:r>
            <a:endParaRPr lang="en-US" sz="950" dirty="0"/>
          </a:p>
        </p:txBody>
      </p:sp>
      <p:sp>
        <p:nvSpPr>
          <p:cNvPr id="62" name="Shape 49"/>
          <p:cNvSpPr/>
          <p:nvPr/>
        </p:nvSpPr>
        <p:spPr>
          <a:xfrm>
            <a:off x="7086600" y="3968496"/>
            <a:ext cx="384048" cy="384048"/>
          </a:xfrm>
          <a:prstGeom prst="ellipse">
            <a:avLst/>
          </a:prstGeom>
          <a:solidFill>
            <a:srgbClr val="0F62FE"/>
          </a:solidFill>
          <a:ln/>
        </p:spPr>
      </p:sp>
      <p:pic>
        <p:nvPicPr>
          <p:cNvPr id="63" name="Image 11" descr="/home/claude/icons/clock_FFFFFF.png">    </p:cNvPr>
          <p:cNvPicPr>
            <a:picLocks noChangeAspect="1"/>
          </p:cNvPicPr>
          <p:nvPr/>
        </p:nvPicPr>
        <p:blipFill>
          <a:blip r:embed="rId12"/>
          <a:stretch>
            <a:fillRect/>
          </a:stretch>
        </p:blipFill>
        <p:spPr>
          <a:xfrm>
            <a:off x="7186452" y="4068348"/>
            <a:ext cx="184343" cy="184343"/>
          </a:xfrm>
          <a:prstGeom prst="rect">
            <a:avLst/>
          </a:prstGeom>
        </p:spPr>
      </p:pic>
      <p:sp>
        <p:nvSpPr>
          <p:cNvPr id="64" name="Text 50"/>
          <p:cNvSpPr/>
          <p:nvPr/>
        </p:nvSpPr>
        <p:spPr>
          <a:xfrm>
            <a:off x="7589520" y="3941064"/>
            <a:ext cx="4480560" cy="274320"/>
          </a:xfrm>
          <a:prstGeom prst="rect">
            <a:avLst/>
          </a:prstGeom>
          <a:noFill/>
          <a:ln/>
        </p:spPr>
        <p:txBody>
          <a:bodyPr wrap="square" rtlCol="0" anchor="ctr"/>
          <a:lstStyle/>
          <a:p>
            <a:pPr indent="0" marL="0">
              <a:buNone/>
            </a:pPr>
            <a:r>
              <a:rPr lang="en-US" sz="1150" b="1" dirty="0">
                <a:solidFill>
                  <a:srgbClr val="161616"/>
                </a:solidFill>
                <a:latin typeface="Calibri" pitchFamily="34" charset="0"/>
                <a:ea typeface="Calibri" pitchFamily="34" charset="-122"/>
                <a:cs typeface="Calibri" pitchFamily="34" charset="-120"/>
              </a:rPr>
              <a:t>Recent</a:t>
            </a:r>
            <a:endParaRPr lang="en-US" sz="1150" dirty="0"/>
          </a:p>
        </p:txBody>
      </p:sp>
      <p:sp>
        <p:nvSpPr>
          <p:cNvPr id="65" name="Text 51"/>
          <p:cNvSpPr/>
          <p:nvPr/>
        </p:nvSpPr>
        <p:spPr>
          <a:xfrm>
            <a:off x="7589520" y="4187952"/>
            <a:ext cx="4480560" cy="320040"/>
          </a:xfrm>
          <a:prstGeom prst="rect">
            <a:avLst/>
          </a:prstGeom>
          <a:noFill/>
          <a:ln/>
        </p:spPr>
        <p:txBody>
          <a:bodyPr wrap="square" rtlCol="0" anchor="ctr"/>
          <a:lstStyle/>
          <a:p>
            <a:pPr indent="0" marL="0">
              <a:buNone/>
            </a:pPr>
            <a:r>
              <a:rPr lang="en-US" sz="950" dirty="0">
                <a:solidFill>
                  <a:srgbClr val="525252"/>
                </a:solidFill>
                <a:latin typeface="Calibri" pitchFamily="34" charset="0"/>
                <a:ea typeface="Calibri" pitchFamily="34" charset="-122"/>
                <a:cs typeface="Calibri" pitchFamily="34" charset="-120"/>
              </a:rPr>
              <a:t>Quick access to items you opened recently</a:t>
            </a:r>
            <a:endParaRPr lang="en-US" sz="950" dirty="0"/>
          </a:p>
        </p:txBody>
      </p:sp>
      <p:sp>
        <p:nvSpPr>
          <p:cNvPr id="66" name="Shape 52"/>
          <p:cNvSpPr/>
          <p:nvPr/>
        </p:nvSpPr>
        <p:spPr>
          <a:xfrm>
            <a:off x="7086600" y="4594860"/>
            <a:ext cx="384048" cy="384048"/>
          </a:xfrm>
          <a:prstGeom prst="ellipse">
            <a:avLst/>
          </a:prstGeom>
          <a:solidFill>
            <a:srgbClr val="0F62FE"/>
          </a:solidFill>
          <a:ln/>
        </p:spPr>
      </p:sp>
      <p:pic>
        <p:nvPicPr>
          <p:cNvPr id="67" name="Image 12" descr="/home/claude/icons/search_FFFFFF.png">    </p:cNvPr>
          <p:cNvPicPr>
            <a:picLocks noChangeAspect="1"/>
          </p:cNvPicPr>
          <p:nvPr/>
        </p:nvPicPr>
        <p:blipFill>
          <a:blip r:embed="rId13"/>
          <a:stretch>
            <a:fillRect/>
          </a:stretch>
        </p:blipFill>
        <p:spPr>
          <a:xfrm>
            <a:off x="7186452" y="4694712"/>
            <a:ext cx="184343" cy="184343"/>
          </a:xfrm>
          <a:prstGeom prst="rect">
            <a:avLst/>
          </a:prstGeom>
        </p:spPr>
      </p:pic>
      <p:sp>
        <p:nvSpPr>
          <p:cNvPr id="68" name="Text 53"/>
          <p:cNvSpPr/>
          <p:nvPr/>
        </p:nvSpPr>
        <p:spPr>
          <a:xfrm>
            <a:off x="7589520" y="4567428"/>
            <a:ext cx="4480560" cy="274320"/>
          </a:xfrm>
          <a:prstGeom prst="rect">
            <a:avLst/>
          </a:prstGeom>
          <a:noFill/>
          <a:ln/>
        </p:spPr>
        <p:txBody>
          <a:bodyPr wrap="square" rtlCol="0" anchor="ctr"/>
          <a:lstStyle/>
          <a:p>
            <a:pPr indent="0" marL="0">
              <a:buNone/>
            </a:pPr>
            <a:r>
              <a:rPr lang="en-US" sz="1150" b="1" dirty="0">
                <a:solidFill>
                  <a:srgbClr val="161616"/>
                </a:solidFill>
                <a:latin typeface="Calibri" pitchFamily="34" charset="0"/>
                <a:ea typeface="Calibri" pitchFamily="34" charset="-122"/>
                <a:cs typeface="Calibri" pitchFamily="34" charset="-120"/>
              </a:rPr>
              <a:t>Search</a:t>
            </a:r>
            <a:endParaRPr lang="en-US" sz="1150" dirty="0"/>
          </a:p>
        </p:txBody>
      </p:sp>
      <p:sp>
        <p:nvSpPr>
          <p:cNvPr id="69" name="Text 54"/>
          <p:cNvSpPr/>
          <p:nvPr/>
        </p:nvSpPr>
        <p:spPr>
          <a:xfrm>
            <a:off x="7589520" y="4814316"/>
            <a:ext cx="4480560" cy="320040"/>
          </a:xfrm>
          <a:prstGeom prst="rect">
            <a:avLst/>
          </a:prstGeom>
          <a:noFill/>
          <a:ln/>
        </p:spPr>
        <p:txBody>
          <a:bodyPr wrap="square" rtlCol="0" anchor="ctr"/>
          <a:lstStyle/>
          <a:p>
            <a:pPr indent="0" marL="0">
              <a:buNone/>
            </a:pPr>
            <a:r>
              <a:rPr lang="en-US" sz="950" dirty="0">
                <a:solidFill>
                  <a:srgbClr val="525252"/>
                </a:solidFill>
                <a:latin typeface="Calibri" pitchFamily="34" charset="0"/>
                <a:ea typeface="Calibri" pitchFamily="34" charset="-122"/>
                <a:cs typeface="Calibri" pitchFamily="34" charset="-120"/>
              </a:rPr>
              <a:t>Find reports, dashboards, or data across the system</a:t>
            </a:r>
            <a:endParaRPr lang="en-US" sz="950" dirty="0"/>
          </a:p>
        </p:txBody>
      </p:sp>
      <p:sp>
        <p:nvSpPr>
          <p:cNvPr id="70" name="Shape 55"/>
          <p:cNvSpPr/>
          <p:nvPr/>
        </p:nvSpPr>
        <p:spPr>
          <a:xfrm>
            <a:off x="7086600" y="5221224"/>
            <a:ext cx="384048" cy="384048"/>
          </a:xfrm>
          <a:prstGeom prst="ellipse">
            <a:avLst/>
          </a:prstGeom>
          <a:solidFill>
            <a:srgbClr val="0F62FE"/>
          </a:solidFill>
          <a:ln/>
        </p:spPr>
      </p:sp>
      <p:pic>
        <p:nvPicPr>
          <p:cNvPr id="71" name="Image 13" descr="/home/claude/icons/robot_FFFFFF.png">    </p:cNvPr>
          <p:cNvPicPr>
            <a:picLocks noChangeAspect="1"/>
          </p:cNvPicPr>
          <p:nvPr/>
        </p:nvPicPr>
        <p:blipFill>
          <a:blip r:embed="rId14"/>
          <a:stretch>
            <a:fillRect/>
          </a:stretch>
        </p:blipFill>
        <p:spPr>
          <a:xfrm>
            <a:off x="7186452" y="5321076"/>
            <a:ext cx="184343" cy="184343"/>
          </a:xfrm>
          <a:prstGeom prst="rect">
            <a:avLst/>
          </a:prstGeom>
        </p:spPr>
      </p:pic>
      <p:sp>
        <p:nvSpPr>
          <p:cNvPr id="72" name="Text 56"/>
          <p:cNvSpPr/>
          <p:nvPr/>
        </p:nvSpPr>
        <p:spPr>
          <a:xfrm>
            <a:off x="7589520" y="5193792"/>
            <a:ext cx="4480560" cy="274320"/>
          </a:xfrm>
          <a:prstGeom prst="rect">
            <a:avLst/>
          </a:prstGeom>
          <a:noFill/>
          <a:ln/>
        </p:spPr>
        <p:txBody>
          <a:bodyPr wrap="square" rtlCol="0" anchor="ctr"/>
          <a:lstStyle/>
          <a:p>
            <a:pPr indent="0" marL="0">
              <a:buNone/>
            </a:pPr>
            <a:r>
              <a:rPr lang="en-US" sz="1150" b="1" dirty="0">
                <a:solidFill>
                  <a:srgbClr val="161616"/>
                </a:solidFill>
                <a:latin typeface="Calibri" pitchFamily="34" charset="0"/>
                <a:ea typeface="Calibri" pitchFamily="34" charset="-122"/>
                <a:cs typeface="Calibri" pitchFamily="34" charset="-120"/>
              </a:rPr>
              <a:t>AI Assistant</a:t>
            </a:r>
            <a:endParaRPr lang="en-US" sz="1150" dirty="0"/>
          </a:p>
        </p:txBody>
      </p:sp>
      <p:sp>
        <p:nvSpPr>
          <p:cNvPr id="73" name="Text 57"/>
          <p:cNvSpPr/>
          <p:nvPr/>
        </p:nvSpPr>
        <p:spPr>
          <a:xfrm>
            <a:off x="7589520" y="5440680"/>
            <a:ext cx="4480560" cy="320040"/>
          </a:xfrm>
          <a:prstGeom prst="rect">
            <a:avLst/>
          </a:prstGeom>
          <a:noFill/>
          <a:ln/>
        </p:spPr>
        <p:txBody>
          <a:bodyPr wrap="square" rtlCol="0" anchor="ctr"/>
          <a:lstStyle/>
          <a:p>
            <a:pPr indent="0" marL="0">
              <a:buNone/>
            </a:pPr>
            <a:r>
              <a:rPr lang="en-US" sz="950" dirty="0">
                <a:solidFill>
                  <a:srgbClr val="525252"/>
                </a:solidFill>
                <a:latin typeface="Calibri" pitchFamily="34" charset="0"/>
                <a:ea typeface="Calibri" pitchFamily="34" charset="-122"/>
                <a:cs typeface="Calibri" pitchFamily="34" charset="-120"/>
              </a:rPr>
              <a:t>Ask questions in plain English to get instant insights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200" b="1" spc="100" kern="0" dirty="0">
                <a:solidFill>
                  <a:srgbClr val="0F62FE"/>
                </a:solidFill>
                <a:latin typeface="Calibri" pitchFamily="34" charset="0"/>
                <a:ea typeface="Calibri" pitchFamily="34" charset="-122"/>
                <a:cs typeface="Calibri" pitchFamily="34" charset="-120"/>
              </a:rPr>
              <a:t>STRUCTURING WHAT YOU BUILD</a:t>
            </a:r>
            <a:endParaRPr lang="en-US" sz="1200" dirty="0"/>
          </a:p>
        </p:txBody>
      </p:sp>
      <p:sp>
        <p:nvSpPr>
          <p:cNvPr id="3" name="Text 1"/>
          <p:cNvSpPr/>
          <p:nvPr/>
        </p:nvSpPr>
        <p:spPr>
          <a:xfrm>
            <a:off x="548640" y="566928"/>
            <a:ext cx="10789920" cy="685800"/>
          </a:xfrm>
          <a:prstGeom prst="rect">
            <a:avLst/>
          </a:prstGeom>
          <a:noFill/>
          <a:ln/>
        </p:spPr>
        <p:txBody>
          <a:bodyPr wrap="square" rtlCol="0" anchor="ctr"/>
          <a:lstStyle/>
          <a:p>
            <a:pPr indent="0" marL="0">
              <a:buNone/>
            </a:pPr>
            <a:r>
              <a:rPr lang="en-US" sz="3000" b="1" dirty="0">
                <a:solidFill>
                  <a:srgbClr val="161616"/>
                </a:solidFill>
                <a:latin typeface="Cambria" pitchFamily="34" charset="0"/>
                <a:ea typeface="Cambria" pitchFamily="34" charset="-122"/>
                <a:cs typeface="Cambria" pitchFamily="34" charset="-120"/>
              </a:rPr>
              <a:t>Content Organization</a:t>
            </a:r>
            <a:endParaRPr lang="en-US" sz="3000" dirty="0"/>
          </a:p>
        </p:txBody>
      </p:sp>
      <p:sp>
        <p:nvSpPr>
          <p:cNvPr id="4" name="Shape 2"/>
          <p:cNvSpPr/>
          <p:nvPr/>
        </p:nvSpPr>
        <p:spPr>
          <a:xfrm>
            <a:off x="548640" y="1298448"/>
            <a:ext cx="11064240" cy="18288"/>
          </a:xfrm>
          <a:prstGeom prst="rect">
            <a:avLst/>
          </a:prstGeom>
          <a:solidFill>
            <a:srgbClr val="E0E0E0"/>
          </a:solidFill>
          <a:ln/>
        </p:spPr>
      </p:sp>
      <p:sp>
        <p:nvSpPr>
          <p:cNvPr id="5" name="Text 3"/>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525252"/>
                </a:solidFill>
                <a:latin typeface="Calibri" pitchFamily="34" charset="0"/>
                <a:ea typeface="Calibri" pitchFamily="34" charset="-122"/>
                <a:cs typeface="Calibri" pitchFamily="34" charset="-120"/>
              </a:rPr>
              <a:t>IBM Cognos Analytics Overview  |  Knowledge Transfer</a:t>
            </a:r>
            <a:endParaRPr lang="en-US" sz="900" dirty="0"/>
          </a:p>
        </p:txBody>
      </p:sp>
      <p:sp>
        <p:nvSpPr>
          <p:cNvPr id="6" name="Text 4"/>
          <p:cNvSpPr/>
          <p:nvPr/>
        </p:nvSpPr>
        <p:spPr>
          <a:xfrm>
            <a:off x="11365992" y="6510528"/>
            <a:ext cx="457200" cy="274320"/>
          </a:xfrm>
          <a:prstGeom prst="rect">
            <a:avLst/>
          </a:prstGeom>
          <a:noFill/>
          <a:ln/>
        </p:spPr>
        <p:txBody>
          <a:bodyPr wrap="square" rtlCol="0" anchor="ctr"/>
          <a:lstStyle/>
          <a:p>
            <a:pPr algn="r" indent="0" marL="0">
              <a:buNone/>
            </a:pPr>
            <a:r>
              <a:rPr lang="en-US" sz="900" dirty="0">
                <a:solidFill>
                  <a:srgbClr val="525252"/>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1188720" y="1645920"/>
            <a:ext cx="2103120" cy="640080"/>
          </a:xfrm>
          <a:prstGeom prst="roundRect">
            <a:avLst>
              <a:gd name="adj" fmla="val 11429"/>
            </a:avLst>
          </a:prstGeom>
          <a:solidFill>
            <a:srgbClr val="001141"/>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8" name="Text 6"/>
          <p:cNvSpPr/>
          <p:nvPr/>
        </p:nvSpPr>
        <p:spPr>
          <a:xfrm>
            <a:off x="1188720" y="1645920"/>
            <a:ext cx="210312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Content Store</a:t>
            </a:r>
            <a:endParaRPr lang="en-US" sz="1300" dirty="0"/>
          </a:p>
        </p:txBody>
      </p:sp>
      <p:sp>
        <p:nvSpPr>
          <p:cNvPr id="9" name="Shape 7"/>
          <p:cNvSpPr/>
          <p:nvPr/>
        </p:nvSpPr>
        <p:spPr>
          <a:xfrm>
            <a:off x="2240280" y="2286000"/>
            <a:ext cx="0" cy="411480"/>
          </a:xfrm>
          <a:prstGeom prst="line">
            <a:avLst/>
          </a:prstGeom>
          <a:noFill/>
          <a:ln w="19050">
            <a:solidFill>
              <a:srgbClr val="E0E0E0"/>
            </a:solidFill>
            <a:prstDash val="solid"/>
          </a:ln>
        </p:spPr>
      </p:sp>
      <p:sp>
        <p:nvSpPr>
          <p:cNvPr id="10" name="Shape 8"/>
          <p:cNvSpPr/>
          <p:nvPr/>
        </p:nvSpPr>
        <p:spPr>
          <a:xfrm>
            <a:off x="1188720" y="2697480"/>
            <a:ext cx="2103120" cy="594360"/>
          </a:xfrm>
          <a:prstGeom prst="roundRect">
            <a:avLst>
              <a:gd name="adj" fmla="val 12308"/>
            </a:avLst>
          </a:prstGeom>
          <a:solidFill>
            <a:srgbClr val="D0E2FF"/>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1" name="Text 9"/>
          <p:cNvSpPr/>
          <p:nvPr/>
        </p:nvSpPr>
        <p:spPr>
          <a:xfrm>
            <a:off x="1188720" y="2697480"/>
            <a:ext cx="2103120" cy="594360"/>
          </a:xfrm>
          <a:prstGeom prst="rect">
            <a:avLst/>
          </a:prstGeom>
          <a:noFill/>
          <a:ln/>
        </p:spPr>
        <p:txBody>
          <a:bodyPr wrap="square" rtlCol="0" anchor="ctr"/>
          <a:lstStyle/>
          <a:p>
            <a:pPr algn="ctr" indent="0" marL="0">
              <a:buNone/>
            </a:pPr>
            <a:r>
              <a:rPr lang="en-US" sz="1200" b="1" dirty="0">
                <a:solidFill>
                  <a:srgbClr val="0043CE"/>
                </a:solidFill>
                <a:latin typeface="Calibri" pitchFamily="34" charset="0"/>
                <a:ea typeface="Calibri" pitchFamily="34" charset="-122"/>
                <a:cs typeface="Calibri" pitchFamily="34" charset="-120"/>
              </a:rPr>
              <a:t>My Content</a:t>
            </a:r>
            <a:endParaRPr lang="en-US" sz="1200" dirty="0"/>
          </a:p>
        </p:txBody>
      </p:sp>
      <p:sp>
        <p:nvSpPr>
          <p:cNvPr id="12" name="Shape 10"/>
          <p:cNvSpPr/>
          <p:nvPr/>
        </p:nvSpPr>
        <p:spPr>
          <a:xfrm>
            <a:off x="2240280" y="2286000"/>
            <a:ext cx="2834640" cy="411480"/>
          </a:xfrm>
          <a:prstGeom prst="line">
            <a:avLst/>
          </a:prstGeom>
          <a:noFill/>
          <a:ln w="19050">
            <a:solidFill>
              <a:srgbClr val="E0E0E0"/>
            </a:solidFill>
            <a:prstDash val="solid"/>
          </a:ln>
        </p:spPr>
      </p:sp>
      <p:sp>
        <p:nvSpPr>
          <p:cNvPr id="13" name="Shape 11"/>
          <p:cNvSpPr/>
          <p:nvPr/>
        </p:nvSpPr>
        <p:spPr>
          <a:xfrm>
            <a:off x="4023360" y="2697480"/>
            <a:ext cx="2103120" cy="594360"/>
          </a:xfrm>
          <a:prstGeom prst="roundRect">
            <a:avLst>
              <a:gd name="adj" fmla="val 12308"/>
            </a:avLst>
          </a:prstGeom>
          <a:solidFill>
            <a:srgbClr val="D0E2FF"/>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4" name="Text 12"/>
          <p:cNvSpPr/>
          <p:nvPr/>
        </p:nvSpPr>
        <p:spPr>
          <a:xfrm>
            <a:off x="4023360" y="2697480"/>
            <a:ext cx="2103120" cy="594360"/>
          </a:xfrm>
          <a:prstGeom prst="rect">
            <a:avLst/>
          </a:prstGeom>
          <a:noFill/>
          <a:ln/>
        </p:spPr>
        <p:txBody>
          <a:bodyPr wrap="square" rtlCol="0" anchor="ctr"/>
          <a:lstStyle/>
          <a:p>
            <a:pPr algn="ctr" indent="0" marL="0">
              <a:buNone/>
            </a:pPr>
            <a:r>
              <a:rPr lang="en-US" sz="1200" b="1" dirty="0">
                <a:solidFill>
                  <a:srgbClr val="0043CE"/>
                </a:solidFill>
                <a:latin typeface="Calibri" pitchFamily="34" charset="0"/>
                <a:ea typeface="Calibri" pitchFamily="34" charset="-122"/>
                <a:cs typeface="Calibri" pitchFamily="34" charset="-120"/>
              </a:rPr>
              <a:t>Team Content</a:t>
            </a:r>
            <a:endParaRPr lang="en-US" sz="1200" dirty="0"/>
          </a:p>
        </p:txBody>
      </p:sp>
      <p:sp>
        <p:nvSpPr>
          <p:cNvPr id="15" name="Shape 13"/>
          <p:cNvSpPr/>
          <p:nvPr/>
        </p:nvSpPr>
        <p:spPr>
          <a:xfrm>
            <a:off x="2240280" y="3291840"/>
            <a:ext cx="0" cy="365760"/>
          </a:xfrm>
          <a:prstGeom prst="line">
            <a:avLst/>
          </a:prstGeom>
          <a:noFill/>
          <a:ln w="19050">
            <a:solidFill>
              <a:srgbClr val="E0E0E0"/>
            </a:solidFill>
            <a:prstDash val="solid"/>
          </a:ln>
        </p:spPr>
      </p:sp>
      <p:sp>
        <p:nvSpPr>
          <p:cNvPr id="16" name="Shape 14"/>
          <p:cNvSpPr/>
          <p:nvPr/>
        </p:nvSpPr>
        <p:spPr>
          <a:xfrm>
            <a:off x="1188720" y="3657600"/>
            <a:ext cx="2103120" cy="548640"/>
          </a:xfrm>
          <a:prstGeom prst="roundRect">
            <a:avLst>
              <a:gd name="adj" fmla="val 13333"/>
            </a:avLst>
          </a:prstGeom>
          <a:solidFill>
            <a:srgbClr val="FFFFFF"/>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7" name="Text 15"/>
          <p:cNvSpPr/>
          <p:nvPr/>
        </p:nvSpPr>
        <p:spPr>
          <a:xfrm>
            <a:off x="1188720" y="3657600"/>
            <a:ext cx="2103120" cy="548640"/>
          </a:xfrm>
          <a:prstGeom prst="rect">
            <a:avLst/>
          </a:prstGeom>
          <a:noFill/>
          <a:ln/>
        </p:spPr>
        <p:txBody>
          <a:bodyPr wrap="square" rtlCol="0" anchor="ctr"/>
          <a:lstStyle/>
          <a:p>
            <a:pPr algn="ctr" indent="0" marL="0">
              <a:buNone/>
            </a:pPr>
            <a:r>
              <a:rPr lang="en-US" sz="1100" dirty="0">
                <a:solidFill>
                  <a:srgbClr val="393939"/>
                </a:solidFill>
                <a:latin typeface="Calibri" pitchFamily="34" charset="0"/>
                <a:ea typeface="Calibri" pitchFamily="34" charset="-122"/>
                <a:cs typeface="Calibri" pitchFamily="34" charset="-120"/>
              </a:rPr>
              <a:t>Personal Reports</a:t>
            </a:r>
            <a:endParaRPr lang="en-US" sz="1100" dirty="0"/>
          </a:p>
        </p:txBody>
      </p:sp>
      <p:sp>
        <p:nvSpPr>
          <p:cNvPr id="18" name="Shape 16"/>
          <p:cNvSpPr/>
          <p:nvPr/>
        </p:nvSpPr>
        <p:spPr>
          <a:xfrm>
            <a:off x="5074920" y="3291840"/>
            <a:ext cx="0" cy="365760"/>
          </a:xfrm>
          <a:prstGeom prst="line">
            <a:avLst/>
          </a:prstGeom>
          <a:noFill/>
          <a:ln w="19050">
            <a:solidFill>
              <a:srgbClr val="E0E0E0"/>
            </a:solidFill>
            <a:prstDash val="solid"/>
          </a:ln>
        </p:spPr>
      </p:sp>
      <p:sp>
        <p:nvSpPr>
          <p:cNvPr id="19" name="Shape 17"/>
          <p:cNvSpPr/>
          <p:nvPr/>
        </p:nvSpPr>
        <p:spPr>
          <a:xfrm>
            <a:off x="4023360" y="3657600"/>
            <a:ext cx="2103120" cy="548640"/>
          </a:xfrm>
          <a:prstGeom prst="roundRect">
            <a:avLst>
              <a:gd name="adj" fmla="val 13333"/>
            </a:avLst>
          </a:prstGeom>
          <a:solidFill>
            <a:srgbClr val="FFFFFF"/>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0" name="Text 18"/>
          <p:cNvSpPr/>
          <p:nvPr/>
        </p:nvSpPr>
        <p:spPr>
          <a:xfrm>
            <a:off x="4023360" y="3657600"/>
            <a:ext cx="2103120" cy="548640"/>
          </a:xfrm>
          <a:prstGeom prst="rect">
            <a:avLst/>
          </a:prstGeom>
          <a:noFill/>
          <a:ln/>
        </p:spPr>
        <p:txBody>
          <a:bodyPr wrap="square" rtlCol="0" anchor="ctr"/>
          <a:lstStyle/>
          <a:p>
            <a:pPr algn="ctr" indent="0" marL="0">
              <a:buNone/>
            </a:pPr>
            <a:r>
              <a:rPr lang="en-US" sz="1100" dirty="0">
                <a:solidFill>
                  <a:srgbClr val="393939"/>
                </a:solidFill>
                <a:latin typeface="Calibri" pitchFamily="34" charset="0"/>
                <a:ea typeface="Calibri" pitchFamily="34" charset="-122"/>
                <a:cs typeface="Calibri" pitchFamily="34" charset="-120"/>
              </a:rPr>
              <a:t>Folders &amp; Packages</a:t>
            </a:r>
            <a:endParaRPr lang="en-US" sz="1100" dirty="0"/>
          </a:p>
        </p:txBody>
      </p:sp>
      <p:sp>
        <p:nvSpPr>
          <p:cNvPr id="21" name="Shape 19"/>
          <p:cNvSpPr/>
          <p:nvPr/>
        </p:nvSpPr>
        <p:spPr>
          <a:xfrm>
            <a:off x="6675120" y="1554480"/>
            <a:ext cx="502920" cy="502920"/>
          </a:xfrm>
          <a:prstGeom prst="ellipse">
            <a:avLst/>
          </a:prstGeom>
          <a:solidFill>
            <a:srgbClr val="0F62FE"/>
          </a:solidFill>
          <a:ln/>
        </p:spPr>
      </p:sp>
      <p:pic>
        <p:nvPicPr>
          <p:cNvPr id="22" name="Image 0" descr="/home/claude/icons/folder_FFFFFF.png">    </p:cNvPr>
          <p:cNvPicPr>
            <a:picLocks noChangeAspect="1"/>
          </p:cNvPicPr>
          <p:nvPr/>
        </p:nvPicPr>
        <p:blipFill>
          <a:blip r:embed="rId1"/>
          <a:stretch>
            <a:fillRect/>
          </a:stretch>
        </p:blipFill>
        <p:spPr>
          <a:xfrm>
            <a:off x="6805879" y="1685239"/>
            <a:ext cx="241402" cy="241402"/>
          </a:xfrm>
          <a:prstGeom prst="rect">
            <a:avLst/>
          </a:prstGeom>
        </p:spPr>
      </p:pic>
      <p:sp>
        <p:nvSpPr>
          <p:cNvPr id="23" name="Text 20"/>
          <p:cNvSpPr/>
          <p:nvPr/>
        </p:nvSpPr>
        <p:spPr>
          <a:xfrm>
            <a:off x="7315200" y="1536192"/>
            <a:ext cx="4754880" cy="32004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Folders</a:t>
            </a:r>
            <a:endParaRPr lang="en-US" sz="1300" dirty="0"/>
          </a:p>
        </p:txBody>
      </p:sp>
      <p:sp>
        <p:nvSpPr>
          <p:cNvPr id="24" name="Text 21"/>
          <p:cNvSpPr/>
          <p:nvPr/>
        </p:nvSpPr>
        <p:spPr>
          <a:xfrm>
            <a:off x="7315200" y="1856232"/>
            <a:ext cx="4754880" cy="548640"/>
          </a:xfrm>
          <a:prstGeom prst="rect">
            <a:avLst/>
          </a:prstGeom>
          <a:noFill/>
          <a:ln/>
        </p:spPr>
        <p:txBody>
          <a:bodyPr wrap="square" rtlCol="0" anchor="ctr"/>
          <a:lstStyle/>
          <a:p>
            <a:pPr indent="0" marL="0">
              <a:buNone/>
            </a:pPr>
            <a:r>
              <a:rPr lang="en-US" sz="1050" dirty="0">
                <a:solidFill>
                  <a:srgbClr val="525252"/>
                </a:solidFill>
                <a:latin typeface="Calibri" pitchFamily="34" charset="0"/>
                <a:ea typeface="Calibri" pitchFamily="34" charset="-122"/>
                <a:cs typeface="Calibri" pitchFamily="34" charset="-120"/>
              </a:rPr>
              <a:t>Organize related reports and dashboards logically, like a file system.</a:t>
            </a:r>
            <a:endParaRPr lang="en-US" sz="1050" dirty="0"/>
          </a:p>
        </p:txBody>
      </p:sp>
      <p:sp>
        <p:nvSpPr>
          <p:cNvPr id="25" name="Shape 22"/>
          <p:cNvSpPr/>
          <p:nvPr/>
        </p:nvSpPr>
        <p:spPr>
          <a:xfrm>
            <a:off x="6675120" y="2651760"/>
            <a:ext cx="502920" cy="502920"/>
          </a:xfrm>
          <a:prstGeom prst="ellipse">
            <a:avLst/>
          </a:prstGeom>
          <a:solidFill>
            <a:srgbClr val="0F62FE"/>
          </a:solidFill>
          <a:ln/>
        </p:spPr>
      </p:sp>
      <p:pic>
        <p:nvPicPr>
          <p:cNvPr id="26" name="Image 1" descr="/home/claude/icons/box_FFFFFF.png">    </p:cNvPr>
          <p:cNvPicPr>
            <a:picLocks noChangeAspect="1"/>
          </p:cNvPicPr>
          <p:nvPr/>
        </p:nvPicPr>
        <p:blipFill>
          <a:blip r:embed="rId2"/>
          <a:stretch>
            <a:fillRect/>
          </a:stretch>
        </p:blipFill>
        <p:spPr>
          <a:xfrm>
            <a:off x="6805879" y="2782519"/>
            <a:ext cx="241402" cy="241402"/>
          </a:xfrm>
          <a:prstGeom prst="rect">
            <a:avLst/>
          </a:prstGeom>
        </p:spPr>
      </p:pic>
      <p:sp>
        <p:nvSpPr>
          <p:cNvPr id="27" name="Text 23"/>
          <p:cNvSpPr/>
          <p:nvPr/>
        </p:nvSpPr>
        <p:spPr>
          <a:xfrm>
            <a:off x="7315200" y="2633472"/>
            <a:ext cx="4754880" cy="32004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Packages</a:t>
            </a:r>
            <a:endParaRPr lang="en-US" sz="1300" dirty="0"/>
          </a:p>
        </p:txBody>
      </p:sp>
      <p:sp>
        <p:nvSpPr>
          <p:cNvPr id="28" name="Text 24"/>
          <p:cNvSpPr/>
          <p:nvPr/>
        </p:nvSpPr>
        <p:spPr>
          <a:xfrm>
            <a:off x="7315200" y="2953512"/>
            <a:ext cx="4754880" cy="548640"/>
          </a:xfrm>
          <a:prstGeom prst="rect">
            <a:avLst/>
          </a:prstGeom>
          <a:noFill/>
          <a:ln/>
        </p:spPr>
        <p:txBody>
          <a:bodyPr wrap="square" rtlCol="0" anchor="ctr"/>
          <a:lstStyle/>
          <a:p>
            <a:pPr indent="0" marL="0">
              <a:buNone/>
            </a:pPr>
            <a:r>
              <a:rPr lang="en-US" sz="1050" dirty="0">
                <a:solidFill>
                  <a:srgbClr val="525252"/>
                </a:solidFill>
                <a:latin typeface="Calibri" pitchFamily="34" charset="0"/>
                <a:ea typeface="Calibri" pitchFamily="34" charset="-122"/>
                <a:cs typeface="Calibri" pitchFamily="34" charset="-120"/>
              </a:rPr>
              <a:t>Published metadata models that authors use as a data source for reports.</a:t>
            </a:r>
            <a:endParaRPr lang="en-US" sz="1050" dirty="0"/>
          </a:p>
        </p:txBody>
      </p:sp>
      <p:sp>
        <p:nvSpPr>
          <p:cNvPr id="29" name="Shape 25"/>
          <p:cNvSpPr/>
          <p:nvPr/>
        </p:nvSpPr>
        <p:spPr>
          <a:xfrm>
            <a:off x="6675120" y="3749040"/>
            <a:ext cx="502920" cy="502920"/>
          </a:xfrm>
          <a:prstGeom prst="ellipse">
            <a:avLst/>
          </a:prstGeom>
          <a:solidFill>
            <a:srgbClr val="0F62FE"/>
          </a:solidFill>
          <a:ln/>
        </p:spPr>
      </p:sp>
      <p:pic>
        <p:nvPicPr>
          <p:cNvPr id="30" name="Image 2" descr="/home/claude/icons/shield_FFFFFF.png">    </p:cNvPr>
          <p:cNvPicPr>
            <a:picLocks noChangeAspect="1"/>
          </p:cNvPicPr>
          <p:nvPr/>
        </p:nvPicPr>
        <p:blipFill>
          <a:blip r:embed="rId3"/>
          <a:stretch>
            <a:fillRect/>
          </a:stretch>
        </p:blipFill>
        <p:spPr>
          <a:xfrm>
            <a:off x="6805879" y="3879799"/>
            <a:ext cx="241402" cy="241402"/>
          </a:xfrm>
          <a:prstGeom prst="rect">
            <a:avLst/>
          </a:prstGeom>
        </p:spPr>
      </p:pic>
      <p:sp>
        <p:nvSpPr>
          <p:cNvPr id="31" name="Text 26"/>
          <p:cNvSpPr/>
          <p:nvPr/>
        </p:nvSpPr>
        <p:spPr>
          <a:xfrm>
            <a:off x="7315200" y="3730752"/>
            <a:ext cx="4754880" cy="32004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Security</a:t>
            </a:r>
            <a:endParaRPr lang="en-US" sz="1300" dirty="0"/>
          </a:p>
        </p:txBody>
      </p:sp>
      <p:sp>
        <p:nvSpPr>
          <p:cNvPr id="32" name="Text 27"/>
          <p:cNvSpPr/>
          <p:nvPr/>
        </p:nvSpPr>
        <p:spPr>
          <a:xfrm>
            <a:off x="7315200" y="4050792"/>
            <a:ext cx="4754880" cy="548640"/>
          </a:xfrm>
          <a:prstGeom prst="rect">
            <a:avLst/>
          </a:prstGeom>
          <a:noFill/>
          <a:ln/>
        </p:spPr>
        <p:txBody>
          <a:bodyPr wrap="square" rtlCol="0" anchor="ctr"/>
          <a:lstStyle/>
          <a:p>
            <a:pPr indent="0" marL="0">
              <a:buNone/>
            </a:pPr>
            <a:r>
              <a:rPr lang="en-US" sz="1050" dirty="0">
                <a:solidFill>
                  <a:srgbClr val="525252"/>
                </a:solidFill>
                <a:latin typeface="Calibri" pitchFamily="34" charset="0"/>
                <a:ea typeface="Calibri" pitchFamily="34" charset="-122"/>
                <a:cs typeface="Calibri" pitchFamily="34" charset="-120"/>
              </a:rPr>
              <a:t>Folder- and object-level permissions control who can view or edit content.</a:t>
            </a:r>
            <a:endParaRPr lang="en-US" sz="1050" dirty="0"/>
          </a:p>
        </p:txBody>
      </p:sp>
      <p:sp>
        <p:nvSpPr>
          <p:cNvPr id="33" name="Shape 28"/>
          <p:cNvSpPr/>
          <p:nvPr/>
        </p:nvSpPr>
        <p:spPr>
          <a:xfrm>
            <a:off x="6675120" y="4846320"/>
            <a:ext cx="502920" cy="502920"/>
          </a:xfrm>
          <a:prstGeom prst="ellipse">
            <a:avLst/>
          </a:prstGeom>
          <a:solidFill>
            <a:srgbClr val="0F62FE"/>
          </a:solidFill>
          <a:ln/>
        </p:spPr>
      </p:sp>
      <p:pic>
        <p:nvPicPr>
          <p:cNvPr id="34" name="Image 3" descr="/home/claude/icons/history_FFFFFF.png">    </p:cNvPr>
          <p:cNvPicPr>
            <a:picLocks noChangeAspect="1"/>
          </p:cNvPicPr>
          <p:nvPr/>
        </p:nvPicPr>
        <p:blipFill>
          <a:blip r:embed="rId4"/>
          <a:stretch>
            <a:fillRect/>
          </a:stretch>
        </p:blipFill>
        <p:spPr>
          <a:xfrm>
            <a:off x="6805879" y="4977079"/>
            <a:ext cx="241402" cy="241402"/>
          </a:xfrm>
          <a:prstGeom prst="rect">
            <a:avLst/>
          </a:prstGeom>
        </p:spPr>
      </p:pic>
      <p:sp>
        <p:nvSpPr>
          <p:cNvPr id="35" name="Text 29"/>
          <p:cNvSpPr/>
          <p:nvPr/>
        </p:nvSpPr>
        <p:spPr>
          <a:xfrm>
            <a:off x="7315200" y="4828032"/>
            <a:ext cx="4754880" cy="32004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Version Management</a:t>
            </a:r>
            <a:endParaRPr lang="en-US" sz="1300" dirty="0"/>
          </a:p>
        </p:txBody>
      </p:sp>
      <p:sp>
        <p:nvSpPr>
          <p:cNvPr id="36" name="Text 30"/>
          <p:cNvSpPr/>
          <p:nvPr/>
        </p:nvSpPr>
        <p:spPr>
          <a:xfrm>
            <a:off x="7315200" y="5148072"/>
            <a:ext cx="4754880" cy="548640"/>
          </a:xfrm>
          <a:prstGeom prst="rect">
            <a:avLst/>
          </a:prstGeom>
          <a:noFill/>
          <a:ln/>
        </p:spPr>
        <p:txBody>
          <a:bodyPr wrap="square" rtlCol="0" anchor="ctr"/>
          <a:lstStyle/>
          <a:p>
            <a:pPr indent="0" marL="0">
              <a:buNone/>
            </a:pPr>
            <a:r>
              <a:rPr lang="en-US" sz="1050" dirty="0">
                <a:solidFill>
                  <a:srgbClr val="525252"/>
                </a:solidFill>
                <a:latin typeface="Calibri" pitchFamily="34" charset="0"/>
                <a:ea typeface="Calibri" pitchFamily="34" charset="-122"/>
                <a:cs typeface="Calibri" pitchFamily="34" charset="-120"/>
              </a:rPr>
              <a:t>Cognos retains report versions so changes can be tracked or reverted.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200" b="1" spc="100" kern="0" dirty="0">
                <a:solidFill>
                  <a:srgbClr val="0F62FE"/>
                </a:solidFill>
                <a:latin typeface="Calibri" pitchFamily="34" charset="0"/>
                <a:ea typeface="Calibri" pitchFamily="34" charset="-122"/>
                <a:cs typeface="Calibri" pitchFamily="34" charset="-120"/>
              </a:rPr>
              <a:t>METADATA MODELING</a:t>
            </a:r>
            <a:endParaRPr lang="en-US" sz="1200" dirty="0"/>
          </a:p>
        </p:txBody>
      </p:sp>
      <p:sp>
        <p:nvSpPr>
          <p:cNvPr id="3" name="Text 1"/>
          <p:cNvSpPr/>
          <p:nvPr/>
        </p:nvSpPr>
        <p:spPr>
          <a:xfrm>
            <a:off x="548640" y="566928"/>
            <a:ext cx="10789920" cy="685800"/>
          </a:xfrm>
          <a:prstGeom prst="rect">
            <a:avLst/>
          </a:prstGeom>
          <a:noFill/>
          <a:ln/>
        </p:spPr>
        <p:txBody>
          <a:bodyPr wrap="square" rtlCol="0" anchor="ctr"/>
          <a:lstStyle/>
          <a:p>
            <a:pPr indent="0" marL="0">
              <a:buNone/>
            </a:pPr>
            <a:r>
              <a:rPr lang="en-US" sz="3000" b="1" dirty="0">
                <a:solidFill>
                  <a:srgbClr val="161616"/>
                </a:solidFill>
                <a:latin typeface="Cambria" pitchFamily="34" charset="0"/>
                <a:ea typeface="Cambria" pitchFamily="34" charset="-122"/>
                <a:cs typeface="Cambria" pitchFamily="34" charset="-120"/>
              </a:rPr>
              <a:t>Framework Manager</a:t>
            </a:r>
            <a:endParaRPr lang="en-US" sz="3000" dirty="0"/>
          </a:p>
        </p:txBody>
      </p:sp>
      <p:sp>
        <p:nvSpPr>
          <p:cNvPr id="4" name="Shape 2"/>
          <p:cNvSpPr/>
          <p:nvPr/>
        </p:nvSpPr>
        <p:spPr>
          <a:xfrm>
            <a:off x="548640" y="1298448"/>
            <a:ext cx="11064240" cy="18288"/>
          </a:xfrm>
          <a:prstGeom prst="rect">
            <a:avLst/>
          </a:prstGeom>
          <a:solidFill>
            <a:srgbClr val="E0E0E0"/>
          </a:solidFill>
          <a:ln/>
        </p:spPr>
      </p:sp>
      <p:sp>
        <p:nvSpPr>
          <p:cNvPr id="5" name="Text 3"/>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525252"/>
                </a:solidFill>
                <a:latin typeface="Calibri" pitchFamily="34" charset="0"/>
                <a:ea typeface="Calibri" pitchFamily="34" charset="-122"/>
                <a:cs typeface="Calibri" pitchFamily="34" charset="-120"/>
              </a:rPr>
              <a:t>IBM Cognos Analytics Overview  |  Knowledge Transfer</a:t>
            </a:r>
            <a:endParaRPr lang="en-US" sz="900" dirty="0"/>
          </a:p>
        </p:txBody>
      </p:sp>
      <p:sp>
        <p:nvSpPr>
          <p:cNvPr id="6" name="Text 4"/>
          <p:cNvSpPr/>
          <p:nvPr/>
        </p:nvSpPr>
        <p:spPr>
          <a:xfrm>
            <a:off x="11365992" y="6510528"/>
            <a:ext cx="457200" cy="274320"/>
          </a:xfrm>
          <a:prstGeom prst="rect">
            <a:avLst/>
          </a:prstGeom>
          <a:noFill/>
          <a:ln/>
        </p:spPr>
        <p:txBody>
          <a:bodyPr wrap="square" rtlCol="0" anchor="ctr"/>
          <a:lstStyle/>
          <a:p>
            <a:pPr algn="r" indent="0" marL="0">
              <a:buNone/>
            </a:pPr>
            <a:r>
              <a:rPr lang="en-US" sz="900" dirty="0">
                <a:solidFill>
                  <a:srgbClr val="525252"/>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548640" y="1508760"/>
            <a:ext cx="5394960" cy="3291840"/>
          </a:xfrm>
          <a:prstGeom prst="rect">
            <a:avLst/>
          </a:prstGeom>
          <a:noFill/>
          <a:ln/>
        </p:spPr>
        <p:txBody>
          <a:bodyPr wrap="square" rtlCol="0" anchor="t"/>
          <a:lstStyle/>
          <a:p>
            <a:pPr marL="228600" indent="-228600">
              <a:spcAft>
                <a:spcPts val="1000"/>
              </a:spcAft>
              <a:buSzPct val="100000"/>
              <a:buChar char="●"/>
            </a:pPr>
            <a:r>
              <a:rPr lang="en-US" sz="1250" dirty="0">
                <a:solidFill>
                  <a:srgbClr val="161616"/>
                </a:solidFill>
                <a:latin typeface="Calibri" pitchFamily="34" charset="0"/>
                <a:ea typeface="Calibri" pitchFamily="34" charset="-122"/>
                <a:cs typeface="Calibri" pitchFamily="34" charset="-120"/>
              </a:rPr>
              <a:t>Purpose: a desktop tool for building the metadata layer that shields report authors from raw database complexity.</a:t>
            </a:r>
            <a:endParaRPr lang="en-US" sz="1250" dirty="0"/>
          </a:p>
          <a:p>
            <a:pPr marL="228600" indent="-228600">
              <a:spcAft>
                <a:spcPts val="1000"/>
              </a:spcAft>
              <a:buSzPct val="100000"/>
              <a:buChar char="●"/>
            </a:pPr>
            <a:r>
              <a:rPr lang="en-US" sz="1250" dirty="0">
                <a:solidFill>
                  <a:srgbClr val="161616"/>
                </a:solidFill>
                <a:latin typeface="Calibri" pitchFamily="34" charset="0"/>
                <a:ea typeface="Calibri" pitchFamily="34" charset="-122"/>
                <a:cs typeface="Calibri" pitchFamily="34" charset="-120"/>
              </a:rPr>
              <a:t>Metadata modeling: import database tables, then organize them into a business-friendly model.</a:t>
            </a:r>
            <a:endParaRPr lang="en-US" sz="1250" dirty="0"/>
          </a:p>
          <a:p>
            <a:pPr marL="228600" indent="-228600">
              <a:spcAft>
                <a:spcPts val="1000"/>
              </a:spcAft>
              <a:buSzPct val="100000"/>
              <a:buChar char="●"/>
            </a:pPr>
            <a:r>
              <a:rPr lang="en-US" sz="1250" dirty="0">
                <a:solidFill>
                  <a:srgbClr val="161616"/>
                </a:solidFill>
                <a:latin typeface="Calibri" pitchFamily="34" charset="0"/>
                <a:ea typeface="Calibri" pitchFamily="34" charset="-122"/>
                <a:cs typeface="Calibri" pitchFamily="34" charset="-120"/>
              </a:rPr>
              <a:t>Business layer: renames technical columns (e.g. CUST_ID) into plain terms (e.g. Customer ID).</a:t>
            </a:r>
            <a:endParaRPr lang="en-US" sz="1250" dirty="0"/>
          </a:p>
          <a:p>
            <a:pPr marL="228600" indent="-228600">
              <a:spcAft>
                <a:spcPts val="1000"/>
              </a:spcAft>
              <a:buSzPct val="100000"/>
              <a:buChar char="●"/>
            </a:pPr>
            <a:r>
              <a:rPr lang="en-US" sz="1250" dirty="0">
                <a:solidFill>
                  <a:srgbClr val="161616"/>
                </a:solidFill>
                <a:latin typeface="Calibri" pitchFamily="34" charset="0"/>
                <a:ea typeface="Calibri" pitchFamily="34" charset="-122"/>
                <a:cs typeface="Calibri" pitchFamily="34" charset="-120"/>
              </a:rPr>
              <a:t>Relationships: define how tables (e.g. Orders and Customers) join together.</a:t>
            </a:r>
            <a:endParaRPr lang="en-US" sz="1250" dirty="0"/>
          </a:p>
          <a:p>
            <a:pPr marL="228600" indent="-228600">
              <a:spcAft>
                <a:spcPts val="1000"/>
              </a:spcAft>
              <a:buSzPct val="100000"/>
              <a:buChar char="●"/>
            </a:pPr>
            <a:r>
              <a:rPr lang="en-US" sz="1250" dirty="0">
                <a:solidFill>
                  <a:srgbClr val="161616"/>
                </a:solidFill>
                <a:latin typeface="Calibri" pitchFamily="34" charset="0"/>
                <a:ea typeface="Calibri" pitchFamily="34" charset="-122"/>
                <a:cs typeface="Calibri" pitchFamily="34" charset="-120"/>
              </a:rPr>
              <a:t>Packages: the finished model is published as a package for authors to use.</a:t>
            </a:r>
            <a:endParaRPr lang="en-US" sz="1250" dirty="0"/>
          </a:p>
        </p:txBody>
      </p:sp>
      <p:sp>
        <p:nvSpPr>
          <p:cNvPr id="8" name="Shape 6"/>
          <p:cNvSpPr/>
          <p:nvPr/>
        </p:nvSpPr>
        <p:spPr>
          <a:xfrm>
            <a:off x="548640" y="4892040"/>
            <a:ext cx="5394960" cy="1417320"/>
          </a:xfrm>
          <a:prstGeom prst="roundRect">
            <a:avLst>
              <a:gd name="adj" fmla="val 5161"/>
            </a:avLst>
          </a:prstGeom>
          <a:solidFill>
            <a:srgbClr val="CFF6F1"/>
          </a:solidFill>
          <a:ln w="9525">
            <a:solidFill>
              <a:srgbClr val="E0E0E0"/>
            </a:solidFill>
            <a:prstDash val="solid"/>
          </a:ln>
        </p:spPr>
      </p:sp>
      <p:sp>
        <p:nvSpPr>
          <p:cNvPr id="9" name="Text 7"/>
          <p:cNvSpPr/>
          <p:nvPr/>
        </p:nvSpPr>
        <p:spPr>
          <a:xfrm>
            <a:off x="777240" y="5010912"/>
            <a:ext cx="4572000" cy="274320"/>
          </a:xfrm>
          <a:prstGeom prst="rect">
            <a:avLst/>
          </a:prstGeom>
          <a:noFill/>
          <a:ln/>
        </p:spPr>
        <p:txBody>
          <a:bodyPr wrap="square" rtlCol="0" anchor="ctr"/>
          <a:lstStyle/>
          <a:p>
            <a:pPr indent="0" marL="0">
              <a:buNone/>
            </a:pPr>
            <a:r>
              <a:rPr lang="en-US" sz="1250" b="1" dirty="0">
                <a:solidFill>
                  <a:srgbClr val="007D79"/>
                </a:solidFill>
                <a:latin typeface="Calibri" pitchFamily="34" charset="0"/>
                <a:ea typeface="Calibri" pitchFamily="34" charset="-122"/>
                <a:cs typeface="Calibri" pitchFamily="34" charset="-120"/>
              </a:rPr>
              <a:t>Best Practices</a:t>
            </a:r>
            <a:endParaRPr lang="en-US" sz="1250" dirty="0"/>
          </a:p>
        </p:txBody>
      </p:sp>
      <p:sp>
        <p:nvSpPr>
          <p:cNvPr id="10" name="Text 8"/>
          <p:cNvSpPr/>
          <p:nvPr/>
        </p:nvSpPr>
        <p:spPr>
          <a:xfrm>
            <a:off x="777240" y="5303520"/>
            <a:ext cx="5029200" cy="1005840"/>
          </a:xfrm>
          <a:prstGeom prst="rect">
            <a:avLst/>
          </a:prstGeom>
          <a:noFill/>
          <a:ln/>
        </p:spPr>
        <p:txBody>
          <a:bodyPr wrap="square" rtlCol="0" anchor="t"/>
          <a:lstStyle/>
          <a:p>
            <a:pPr marL="228600" indent="-228600">
              <a:spcAft>
                <a:spcPts val="500"/>
              </a:spcAft>
              <a:buSzPct val="100000"/>
              <a:buChar char="●"/>
            </a:pPr>
            <a:r>
              <a:rPr lang="en-US" sz="1050" dirty="0">
                <a:solidFill>
                  <a:srgbClr val="161616"/>
                </a:solidFill>
                <a:latin typeface="Calibri" pitchFamily="34" charset="0"/>
                <a:ea typeface="Calibri" pitchFamily="34" charset="-122"/>
                <a:cs typeface="Calibri" pitchFamily="34" charset="-120"/>
              </a:rPr>
              <a:t>Use clear, business-friendly names for folders and fields</a:t>
            </a:r>
            <a:endParaRPr lang="en-US" sz="1050" dirty="0"/>
          </a:p>
          <a:p>
            <a:pPr marL="228600" indent="-228600">
              <a:spcAft>
                <a:spcPts val="500"/>
              </a:spcAft>
              <a:buSzPct val="100000"/>
              <a:buChar char="●"/>
            </a:pPr>
            <a:r>
              <a:rPr lang="en-US" sz="1050" dirty="0">
                <a:solidFill>
                  <a:srgbClr val="161616"/>
                </a:solidFill>
                <a:latin typeface="Calibri" pitchFamily="34" charset="0"/>
                <a:ea typeface="Calibri" pitchFamily="34" charset="-122"/>
                <a:cs typeface="Calibri" pitchFamily="34" charset="-120"/>
              </a:rPr>
              <a:t>Define determinants to avoid duplicate rows in reports</a:t>
            </a:r>
            <a:endParaRPr lang="en-US" sz="1050" dirty="0"/>
          </a:p>
          <a:p>
            <a:pPr marL="228600" indent="-228600">
              <a:spcAft>
                <a:spcPts val="500"/>
              </a:spcAft>
              <a:buSzPct val="100000"/>
              <a:buChar char="●"/>
            </a:pPr>
            <a:r>
              <a:rPr lang="en-US" sz="1050" dirty="0">
                <a:solidFill>
                  <a:srgbClr val="161616"/>
                </a:solidFill>
                <a:latin typeface="Calibri" pitchFamily="34" charset="0"/>
                <a:ea typeface="Calibri" pitchFamily="34" charset="-122"/>
                <a:cs typeface="Calibri" pitchFamily="34" charset="-120"/>
              </a:rPr>
              <a:t>Test the model before publishing a new package version</a:t>
            </a:r>
            <a:endParaRPr lang="en-US" sz="1050" dirty="0"/>
          </a:p>
        </p:txBody>
      </p:sp>
      <p:sp>
        <p:nvSpPr>
          <p:cNvPr id="11" name="Text 9"/>
          <p:cNvSpPr/>
          <p:nvPr/>
        </p:nvSpPr>
        <p:spPr>
          <a:xfrm>
            <a:off x="6263640" y="1417320"/>
            <a:ext cx="5303520" cy="27432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Modeling Example</a:t>
            </a:r>
            <a:endParaRPr lang="en-US" sz="1300" dirty="0"/>
          </a:p>
        </p:txBody>
      </p:sp>
      <p:sp>
        <p:nvSpPr>
          <p:cNvPr id="12" name="Shape 10"/>
          <p:cNvSpPr/>
          <p:nvPr/>
        </p:nvSpPr>
        <p:spPr>
          <a:xfrm>
            <a:off x="6263640" y="1874520"/>
            <a:ext cx="2286000" cy="1463040"/>
          </a:xfrm>
          <a:prstGeom prst="roundRect">
            <a:avLst>
              <a:gd name="adj" fmla="val 5000"/>
            </a:avLst>
          </a:prstGeom>
          <a:solidFill>
            <a:srgbClr val="FFFFFF"/>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3" name="Shape 11"/>
          <p:cNvSpPr/>
          <p:nvPr/>
        </p:nvSpPr>
        <p:spPr>
          <a:xfrm>
            <a:off x="6263640" y="1874520"/>
            <a:ext cx="2286000" cy="365760"/>
          </a:xfrm>
          <a:prstGeom prst="roundRect">
            <a:avLst>
              <a:gd name="adj" fmla="val 20000"/>
            </a:avLst>
          </a:prstGeom>
          <a:solidFill>
            <a:srgbClr val="0043CE"/>
          </a:solidFill>
          <a:ln w="9525">
            <a:solidFill>
              <a:srgbClr val="E0E0E0"/>
            </a:solidFill>
            <a:prstDash val="solid"/>
          </a:ln>
        </p:spPr>
      </p:sp>
      <p:sp>
        <p:nvSpPr>
          <p:cNvPr id="14" name="Text 12"/>
          <p:cNvSpPr/>
          <p:nvPr/>
        </p:nvSpPr>
        <p:spPr>
          <a:xfrm>
            <a:off x="6263640" y="1874520"/>
            <a:ext cx="228600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Customers</a:t>
            </a:r>
            <a:endParaRPr lang="en-US" sz="1100" dirty="0"/>
          </a:p>
        </p:txBody>
      </p:sp>
      <p:sp>
        <p:nvSpPr>
          <p:cNvPr id="15" name="Text 13"/>
          <p:cNvSpPr/>
          <p:nvPr/>
        </p:nvSpPr>
        <p:spPr>
          <a:xfrm>
            <a:off x="6400800" y="2313432"/>
            <a:ext cx="2011680" cy="960120"/>
          </a:xfrm>
          <a:prstGeom prst="rect">
            <a:avLst/>
          </a:prstGeom>
          <a:noFill/>
          <a:ln/>
        </p:spPr>
        <p:txBody>
          <a:bodyPr wrap="square" rtlCol="0" anchor="ctr"/>
          <a:lstStyle/>
          <a:p>
            <a:pPr indent="0" marL="0">
              <a:lnSpc>
                <a:spcPct val="130000"/>
              </a:lnSpc>
              <a:buNone/>
            </a:pPr>
            <a:r>
              <a:rPr lang="en-US" sz="950" dirty="0">
                <a:solidFill>
                  <a:srgbClr val="393939"/>
                </a:solidFill>
                <a:latin typeface="Calibri" pitchFamily="34" charset="0"/>
                <a:ea typeface="Calibri" pitchFamily="34" charset="-122"/>
                <a:cs typeface="Calibri" pitchFamily="34" charset="-120"/>
              </a:rPr>
              <a:t>• Customer ID</a:t>
            </a:r>
            <a:endParaRPr lang="en-US" sz="950" dirty="0"/>
          </a:p>
          <a:p>
            <a:pPr indent="0" marL="0">
              <a:lnSpc>
                <a:spcPct val="130000"/>
              </a:lnSpc>
              <a:buNone/>
            </a:pPr>
            <a:r>
              <a:rPr lang="en-US" sz="950" dirty="0">
                <a:solidFill>
                  <a:srgbClr val="393939"/>
                </a:solidFill>
                <a:latin typeface="Calibri" pitchFamily="34" charset="0"/>
                <a:ea typeface="Calibri" pitchFamily="34" charset="-122"/>
                <a:cs typeface="Calibri" pitchFamily="34" charset="-120"/>
              </a:rPr>
              <a:t>• Customer Name</a:t>
            </a:r>
            <a:endParaRPr lang="en-US" sz="950" dirty="0"/>
          </a:p>
          <a:p>
            <a:pPr indent="0" marL="0">
              <a:lnSpc>
                <a:spcPct val="130000"/>
              </a:lnSpc>
              <a:buNone/>
            </a:pPr>
            <a:r>
              <a:rPr lang="en-US" sz="950" dirty="0">
                <a:solidFill>
                  <a:srgbClr val="393939"/>
                </a:solidFill>
                <a:latin typeface="Calibri" pitchFamily="34" charset="0"/>
                <a:ea typeface="Calibri" pitchFamily="34" charset="-122"/>
                <a:cs typeface="Calibri" pitchFamily="34" charset="-120"/>
              </a:rPr>
              <a:t>• Region</a:t>
            </a:r>
            <a:endParaRPr lang="en-US" sz="950" dirty="0"/>
          </a:p>
        </p:txBody>
      </p:sp>
      <p:sp>
        <p:nvSpPr>
          <p:cNvPr id="16" name="Shape 14"/>
          <p:cNvSpPr/>
          <p:nvPr/>
        </p:nvSpPr>
        <p:spPr>
          <a:xfrm>
            <a:off x="9235440" y="1874520"/>
            <a:ext cx="2286000" cy="1463040"/>
          </a:xfrm>
          <a:prstGeom prst="roundRect">
            <a:avLst>
              <a:gd name="adj" fmla="val 5000"/>
            </a:avLst>
          </a:prstGeom>
          <a:solidFill>
            <a:srgbClr val="FFFFFF"/>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9235440" y="1874520"/>
            <a:ext cx="2286000" cy="365760"/>
          </a:xfrm>
          <a:prstGeom prst="roundRect">
            <a:avLst>
              <a:gd name="adj" fmla="val 20000"/>
            </a:avLst>
          </a:prstGeom>
          <a:solidFill>
            <a:srgbClr val="0043CE"/>
          </a:solidFill>
          <a:ln w="9525">
            <a:solidFill>
              <a:srgbClr val="E0E0E0"/>
            </a:solidFill>
            <a:prstDash val="solid"/>
          </a:ln>
        </p:spPr>
      </p:sp>
      <p:sp>
        <p:nvSpPr>
          <p:cNvPr id="18" name="Text 16"/>
          <p:cNvSpPr/>
          <p:nvPr/>
        </p:nvSpPr>
        <p:spPr>
          <a:xfrm>
            <a:off x="9235440" y="1874520"/>
            <a:ext cx="228600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Orders</a:t>
            </a:r>
            <a:endParaRPr lang="en-US" sz="1100" dirty="0"/>
          </a:p>
        </p:txBody>
      </p:sp>
      <p:sp>
        <p:nvSpPr>
          <p:cNvPr id="19" name="Text 17"/>
          <p:cNvSpPr/>
          <p:nvPr/>
        </p:nvSpPr>
        <p:spPr>
          <a:xfrm>
            <a:off x="9372600" y="2313432"/>
            <a:ext cx="2011680" cy="960120"/>
          </a:xfrm>
          <a:prstGeom prst="rect">
            <a:avLst/>
          </a:prstGeom>
          <a:noFill/>
          <a:ln/>
        </p:spPr>
        <p:txBody>
          <a:bodyPr wrap="square" rtlCol="0" anchor="ctr"/>
          <a:lstStyle/>
          <a:p>
            <a:pPr indent="0" marL="0">
              <a:lnSpc>
                <a:spcPct val="130000"/>
              </a:lnSpc>
              <a:buNone/>
            </a:pPr>
            <a:r>
              <a:rPr lang="en-US" sz="950" dirty="0">
                <a:solidFill>
                  <a:srgbClr val="393939"/>
                </a:solidFill>
                <a:latin typeface="Calibri" pitchFamily="34" charset="0"/>
                <a:ea typeface="Calibri" pitchFamily="34" charset="-122"/>
                <a:cs typeface="Calibri" pitchFamily="34" charset="-120"/>
              </a:rPr>
              <a:t>• Order ID</a:t>
            </a:r>
            <a:endParaRPr lang="en-US" sz="950" dirty="0"/>
          </a:p>
          <a:p>
            <a:pPr indent="0" marL="0">
              <a:lnSpc>
                <a:spcPct val="130000"/>
              </a:lnSpc>
              <a:buNone/>
            </a:pPr>
            <a:r>
              <a:rPr lang="en-US" sz="950" dirty="0">
                <a:solidFill>
                  <a:srgbClr val="393939"/>
                </a:solidFill>
                <a:latin typeface="Calibri" pitchFamily="34" charset="0"/>
                <a:ea typeface="Calibri" pitchFamily="34" charset="-122"/>
                <a:cs typeface="Calibri" pitchFamily="34" charset="-120"/>
              </a:rPr>
              <a:t>• Customer ID</a:t>
            </a:r>
            <a:endParaRPr lang="en-US" sz="950" dirty="0"/>
          </a:p>
          <a:p>
            <a:pPr indent="0" marL="0">
              <a:lnSpc>
                <a:spcPct val="130000"/>
              </a:lnSpc>
              <a:buNone/>
            </a:pPr>
            <a:r>
              <a:rPr lang="en-US" sz="950" dirty="0">
                <a:solidFill>
                  <a:srgbClr val="393939"/>
                </a:solidFill>
                <a:latin typeface="Calibri" pitchFamily="34" charset="0"/>
                <a:ea typeface="Calibri" pitchFamily="34" charset="-122"/>
                <a:cs typeface="Calibri" pitchFamily="34" charset="-120"/>
              </a:rPr>
              <a:t>• Order Amount</a:t>
            </a:r>
            <a:endParaRPr lang="en-US" sz="950" dirty="0"/>
          </a:p>
        </p:txBody>
      </p:sp>
      <p:sp>
        <p:nvSpPr>
          <p:cNvPr id="20" name="Shape 18"/>
          <p:cNvSpPr/>
          <p:nvPr/>
        </p:nvSpPr>
        <p:spPr>
          <a:xfrm>
            <a:off x="8549640" y="2606040"/>
            <a:ext cx="685800" cy="0"/>
          </a:xfrm>
          <a:prstGeom prst="line">
            <a:avLst/>
          </a:prstGeom>
          <a:noFill/>
          <a:ln w="25400">
            <a:solidFill>
              <a:srgbClr val="0F62FE"/>
            </a:solidFill>
            <a:prstDash val="solid"/>
          </a:ln>
        </p:spPr>
      </p:sp>
      <p:sp>
        <p:nvSpPr>
          <p:cNvPr id="21" name="Text 19"/>
          <p:cNvSpPr/>
          <p:nvPr/>
        </p:nvSpPr>
        <p:spPr>
          <a:xfrm>
            <a:off x="8549640" y="2331720"/>
            <a:ext cx="685800" cy="274320"/>
          </a:xfrm>
          <a:prstGeom prst="rect">
            <a:avLst/>
          </a:prstGeom>
          <a:noFill/>
          <a:ln/>
        </p:spPr>
        <p:txBody>
          <a:bodyPr wrap="square" rtlCol="0" anchor="ctr"/>
          <a:lstStyle/>
          <a:p>
            <a:pPr algn="ctr" indent="0" marL="0">
              <a:buNone/>
            </a:pPr>
            <a:r>
              <a:rPr lang="en-US" sz="900" b="1" dirty="0">
                <a:solidFill>
                  <a:srgbClr val="0F62FE"/>
                </a:solidFill>
                <a:latin typeface="Calibri" pitchFamily="34" charset="0"/>
                <a:ea typeface="Calibri" pitchFamily="34" charset="-122"/>
                <a:cs typeface="Calibri" pitchFamily="34" charset="-120"/>
              </a:rPr>
              <a:t>1 : M</a:t>
            </a:r>
            <a:endParaRPr lang="en-US" sz="900" dirty="0"/>
          </a:p>
        </p:txBody>
      </p:sp>
      <p:sp>
        <p:nvSpPr>
          <p:cNvPr id="22" name="Shape 20"/>
          <p:cNvSpPr/>
          <p:nvPr/>
        </p:nvSpPr>
        <p:spPr>
          <a:xfrm>
            <a:off x="7406640" y="3657600"/>
            <a:ext cx="3291840" cy="914400"/>
          </a:xfrm>
          <a:prstGeom prst="roundRect">
            <a:avLst>
              <a:gd name="adj" fmla="val 8000"/>
            </a:avLst>
          </a:prstGeom>
          <a:solidFill>
            <a:srgbClr val="D0E2FF"/>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3" name="Text 21"/>
          <p:cNvSpPr/>
          <p:nvPr/>
        </p:nvSpPr>
        <p:spPr>
          <a:xfrm>
            <a:off x="7589520" y="3767328"/>
            <a:ext cx="2926080" cy="713232"/>
          </a:xfrm>
          <a:prstGeom prst="rect">
            <a:avLst/>
          </a:prstGeom>
          <a:noFill/>
          <a:ln/>
        </p:spPr>
        <p:txBody>
          <a:bodyPr wrap="square" rtlCol="0" anchor="t"/>
          <a:lstStyle/>
          <a:p>
            <a:pPr indent="0" marL="0">
              <a:buNone/>
            </a:pPr>
            <a:r>
              <a:rPr lang="en-US" sz="1000" i="1" dirty="0">
                <a:solidFill>
                  <a:srgbClr val="161616"/>
                </a:solidFill>
                <a:latin typeface="Calibri" pitchFamily="34" charset="0"/>
                <a:ea typeface="Calibri" pitchFamily="34" charset="-122"/>
                <a:cs typeface="Calibri" pitchFamily="34" charset="-120"/>
              </a:rPr>
              <a:t>Business Layer renames "CUST_ID" → "Customer ID" so report authors never see raw SQL column names.</a:t>
            </a:r>
            <a:endParaRPr lang="en-US" sz="1000" dirty="0"/>
          </a:p>
        </p:txBody>
      </p:sp>
      <p:sp>
        <p:nvSpPr>
          <p:cNvPr id="24" name="Shape 22"/>
          <p:cNvSpPr/>
          <p:nvPr/>
        </p:nvSpPr>
        <p:spPr>
          <a:xfrm>
            <a:off x="6263640" y="4892040"/>
            <a:ext cx="5303520" cy="1417320"/>
          </a:xfrm>
          <a:prstGeom prst="roundRect">
            <a:avLst>
              <a:gd name="adj" fmla="val 5161"/>
            </a:avLst>
          </a:prstGeom>
          <a:solidFill>
            <a:srgbClr val="F4F4F4"/>
          </a:solidFill>
          <a:ln w="9525">
            <a:solidFill>
              <a:srgbClr val="E0E0E0"/>
            </a:solidFill>
            <a:prstDash val="solid"/>
          </a:ln>
        </p:spPr>
      </p:sp>
      <p:sp>
        <p:nvSpPr>
          <p:cNvPr id="25" name="Text 23"/>
          <p:cNvSpPr/>
          <p:nvPr/>
        </p:nvSpPr>
        <p:spPr>
          <a:xfrm>
            <a:off x="6492240" y="5029200"/>
            <a:ext cx="3657600" cy="274320"/>
          </a:xfrm>
          <a:prstGeom prst="rect">
            <a:avLst/>
          </a:prstGeom>
          <a:noFill/>
          <a:ln/>
        </p:spPr>
        <p:txBody>
          <a:bodyPr wrap="square" rtlCol="0" anchor="ctr"/>
          <a:lstStyle/>
          <a:p>
            <a:pPr indent="0" marL="0">
              <a:buNone/>
            </a:pPr>
            <a:r>
              <a:rPr lang="en-US" sz="1200" b="1" dirty="0">
                <a:solidFill>
                  <a:srgbClr val="161616"/>
                </a:solidFill>
                <a:latin typeface="Calibri" pitchFamily="34" charset="0"/>
                <a:ea typeface="Calibri" pitchFamily="34" charset="-122"/>
                <a:cs typeface="Calibri" pitchFamily="34" charset="-120"/>
              </a:rPr>
              <a:t>Published Package</a:t>
            </a:r>
            <a:endParaRPr lang="en-US" sz="1200" dirty="0"/>
          </a:p>
        </p:txBody>
      </p:sp>
      <p:sp>
        <p:nvSpPr>
          <p:cNvPr id="26" name="Shape 24"/>
          <p:cNvSpPr/>
          <p:nvPr/>
        </p:nvSpPr>
        <p:spPr>
          <a:xfrm>
            <a:off x="9921240" y="4983480"/>
            <a:ext cx="685800" cy="685800"/>
          </a:xfrm>
          <a:prstGeom prst="ellipse">
            <a:avLst/>
          </a:prstGeom>
          <a:solidFill>
            <a:srgbClr val="0F62FE"/>
          </a:solidFill>
          <a:ln/>
        </p:spPr>
      </p:sp>
      <p:pic>
        <p:nvPicPr>
          <p:cNvPr id="27" name="Image 0" descr="/home/claude/icons/box_FFFFFF.png">    </p:cNvPr>
          <p:cNvPicPr>
            <a:picLocks noChangeAspect="1"/>
          </p:cNvPicPr>
          <p:nvPr/>
        </p:nvPicPr>
        <p:blipFill>
          <a:blip r:embed="rId1"/>
          <a:stretch>
            <a:fillRect/>
          </a:stretch>
        </p:blipFill>
        <p:spPr>
          <a:xfrm>
            <a:off x="10099548" y="5161788"/>
            <a:ext cx="329184" cy="329184"/>
          </a:xfrm>
          <a:prstGeom prst="rect">
            <a:avLst/>
          </a:prstGeom>
        </p:spPr>
      </p:pic>
      <p:sp>
        <p:nvSpPr>
          <p:cNvPr id="28" name="Text 25"/>
          <p:cNvSpPr/>
          <p:nvPr/>
        </p:nvSpPr>
        <p:spPr>
          <a:xfrm>
            <a:off x="6492240" y="5349240"/>
            <a:ext cx="3200400" cy="868680"/>
          </a:xfrm>
          <a:prstGeom prst="rect">
            <a:avLst/>
          </a:prstGeom>
          <a:noFill/>
          <a:ln/>
        </p:spPr>
        <p:txBody>
          <a:bodyPr wrap="square" rtlCol="0" anchor="t"/>
          <a:lstStyle/>
          <a:p>
            <a:pPr indent="0" marL="0">
              <a:buNone/>
            </a:pPr>
            <a:r>
              <a:rPr lang="en-US" sz="1000" dirty="0">
                <a:solidFill>
                  <a:srgbClr val="525252"/>
                </a:solidFill>
                <a:latin typeface="Calibri" pitchFamily="34" charset="0"/>
                <a:ea typeface="Calibri" pitchFamily="34" charset="-122"/>
                <a:cs typeface="Calibri" pitchFamily="34" charset="-120"/>
              </a:rPr>
              <a:t>The finished "Sales Analysis" package combines Customers + Orders, ready for report authors to drag and drop.</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200" b="1" spc="100" kern="0" dirty="0">
                <a:solidFill>
                  <a:srgbClr val="0F62FE"/>
                </a:solidFill>
                <a:latin typeface="Calibri" pitchFamily="34" charset="0"/>
                <a:ea typeface="Calibri" pitchFamily="34" charset="-122"/>
                <a:cs typeface="Calibri" pitchFamily="34" charset="-120"/>
              </a:rPr>
              <a:t>REPORT TYPES</a:t>
            </a:r>
            <a:endParaRPr lang="en-US" sz="1200" dirty="0"/>
          </a:p>
        </p:txBody>
      </p:sp>
      <p:sp>
        <p:nvSpPr>
          <p:cNvPr id="3" name="Text 1"/>
          <p:cNvSpPr/>
          <p:nvPr/>
        </p:nvSpPr>
        <p:spPr>
          <a:xfrm>
            <a:off x="548640" y="566928"/>
            <a:ext cx="10789920" cy="685800"/>
          </a:xfrm>
          <a:prstGeom prst="rect">
            <a:avLst/>
          </a:prstGeom>
          <a:noFill/>
          <a:ln/>
        </p:spPr>
        <p:txBody>
          <a:bodyPr wrap="square" rtlCol="0" anchor="ctr"/>
          <a:lstStyle/>
          <a:p>
            <a:pPr indent="0" marL="0">
              <a:buNone/>
            </a:pPr>
            <a:r>
              <a:rPr lang="en-US" sz="3000" b="1" dirty="0">
                <a:solidFill>
                  <a:srgbClr val="161616"/>
                </a:solidFill>
                <a:latin typeface="Cambria" pitchFamily="34" charset="0"/>
                <a:ea typeface="Cambria" pitchFamily="34" charset="-122"/>
                <a:cs typeface="Cambria" pitchFamily="34" charset="-120"/>
              </a:rPr>
              <a:t>Reporting in Cognos</a:t>
            </a:r>
            <a:endParaRPr lang="en-US" sz="3000" dirty="0"/>
          </a:p>
        </p:txBody>
      </p:sp>
      <p:sp>
        <p:nvSpPr>
          <p:cNvPr id="4" name="Shape 2"/>
          <p:cNvSpPr/>
          <p:nvPr/>
        </p:nvSpPr>
        <p:spPr>
          <a:xfrm>
            <a:off x="548640" y="1298448"/>
            <a:ext cx="11064240" cy="18288"/>
          </a:xfrm>
          <a:prstGeom prst="rect">
            <a:avLst/>
          </a:prstGeom>
          <a:solidFill>
            <a:srgbClr val="E0E0E0"/>
          </a:solidFill>
          <a:ln/>
        </p:spPr>
      </p:sp>
      <p:sp>
        <p:nvSpPr>
          <p:cNvPr id="5" name="Text 3"/>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525252"/>
                </a:solidFill>
                <a:latin typeface="Calibri" pitchFamily="34" charset="0"/>
                <a:ea typeface="Calibri" pitchFamily="34" charset="-122"/>
                <a:cs typeface="Calibri" pitchFamily="34" charset="-120"/>
              </a:rPr>
              <a:t>IBM Cognos Analytics Overview  |  Knowledge Transfer</a:t>
            </a:r>
            <a:endParaRPr lang="en-US" sz="900" dirty="0"/>
          </a:p>
        </p:txBody>
      </p:sp>
      <p:sp>
        <p:nvSpPr>
          <p:cNvPr id="6" name="Text 4"/>
          <p:cNvSpPr/>
          <p:nvPr/>
        </p:nvSpPr>
        <p:spPr>
          <a:xfrm>
            <a:off x="11365992" y="6510528"/>
            <a:ext cx="457200" cy="274320"/>
          </a:xfrm>
          <a:prstGeom prst="rect">
            <a:avLst/>
          </a:prstGeom>
          <a:noFill/>
          <a:ln/>
        </p:spPr>
        <p:txBody>
          <a:bodyPr wrap="square" rtlCol="0" anchor="ctr"/>
          <a:lstStyle/>
          <a:p>
            <a:pPr algn="r" indent="0" marL="0">
              <a:buNone/>
            </a:pPr>
            <a:r>
              <a:rPr lang="en-US" sz="900" dirty="0">
                <a:solidFill>
                  <a:srgbClr val="525252"/>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548640" y="1508760"/>
            <a:ext cx="2697480" cy="1920240"/>
          </a:xfrm>
          <a:prstGeom prst="roundRect">
            <a:avLst>
              <a:gd name="adj" fmla="val 3810"/>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731520" y="1691640"/>
            <a:ext cx="548640" cy="548640"/>
          </a:xfrm>
          <a:prstGeom prst="ellipse">
            <a:avLst/>
          </a:prstGeom>
          <a:solidFill>
            <a:srgbClr val="0F62FE"/>
          </a:solidFill>
          <a:ln/>
        </p:spPr>
      </p:sp>
      <p:pic>
        <p:nvPicPr>
          <p:cNvPr id="9" name="Image 0" descr="/home/claude/icons/table_FFFFFF.png">    </p:cNvPr>
          <p:cNvPicPr>
            <a:picLocks noChangeAspect="1"/>
          </p:cNvPicPr>
          <p:nvPr/>
        </p:nvPicPr>
        <p:blipFill>
          <a:blip r:embed="rId1"/>
          <a:stretch>
            <a:fillRect/>
          </a:stretch>
        </p:blipFill>
        <p:spPr>
          <a:xfrm>
            <a:off x="874166" y="1834286"/>
            <a:ext cx="263347" cy="263347"/>
          </a:xfrm>
          <a:prstGeom prst="rect">
            <a:avLst/>
          </a:prstGeom>
        </p:spPr>
      </p:pic>
      <p:sp>
        <p:nvSpPr>
          <p:cNvPr id="10" name="Text 7"/>
          <p:cNvSpPr/>
          <p:nvPr/>
        </p:nvSpPr>
        <p:spPr>
          <a:xfrm>
            <a:off x="1417320" y="1709928"/>
            <a:ext cx="1691640" cy="50292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List</a:t>
            </a:r>
            <a:endParaRPr lang="en-US" sz="1300" dirty="0"/>
          </a:p>
        </p:txBody>
      </p:sp>
      <p:sp>
        <p:nvSpPr>
          <p:cNvPr id="11" name="Text 8"/>
          <p:cNvSpPr/>
          <p:nvPr/>
        </p:nvSpPr>
        <p:spPr>
          <a:xfrm>
            <a:off x="731520" y="2377440"/>
            <a:ext cx="2331720" cy="960120"/>
          </a:xfrm>
          <a:prstGeom prst="rect">
            <a:avLst/>
          </a:prstGeom>
          <a:noFill/>
          <a:ln/>
        </p:spPr>
        <p:txBody>
          <a:bodyPr wrap="square" rtlCol="0" anchor="t"/>
          <a:lstStyle/>
          <a:p>
            <a:pPr indent="0" marL="0">
              <a:buNone/>
            </a:pPr>
            <a:r>
              <a:rPr lang="en-US" sz="1000" dirty="0">
                <a:solidFill>
                  <a:srgbClr val="525252"/>
                </a:solidFill>
                <a:latin typeface="Calibri" pitchFamily="34" charset="0"/>
                <a:ea typeface="Calibri" pitchFamily="34" charset="-122"/>
                <a:cs typeface="Calibri" pitchFamily="34" charset="-120"/>
              </a:rPr>
              <a:t>Simple row-by-row tabular report — e.g. a transaction listing.</a:t>
            </a:r>
            <a:endParaRPr lang="en-US" sz="1000" dirty="0"/>
          </a:p>
        </p:txBody>
      </p:sp>
      <p:sp>
        <p:nvSpPr>
          <p:cNvPr id="12" name="Shape 9"/>
          <p:cNvSpPr/>
          <p:nvPr/>
        </p:nvSpPr>
        <p:spPr>
          <a:xfrm>
            <a:off x="3447288" y="1508760"/>
            <a:ext cx="2697480" cy="1920240"/>
          </a:xfrm>
          <a:prstGeom prst="roundRect">
            <a:avLst>
              <a:gd name="adj" fmla="val 3810"/>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3630168" y="1691640"/>
            <a:ext cx="548640" cy="548640"/>
          </a:xfrm>
          <a:prstGeom prst="ellipse">
            <a:avLst/>
          </a:prstGeom>
          <a:solidFill>
            <a:srgbClr val="0F62FE"/>
          </a:solidFill>
          <a:ln/>
        </p:spPr>
      </p:sp>
      <p:pic>
        <p:nvPicPr>
          <p:cNvPr id="14" name="Image 1" descr="/home/claude/icons/chartarea_FFFFFF.png">    </p:cNvPr>
          <p:cNvPicPr>
            <a:picLocks noChangeAspect="1"/>
          </p:cNvPicPr>
          <p:nvPr/>
        </p:nvPicPr>
        <p:blipFill>
          <a:blip r:embed="rId2"/>
          <a:stretch>
            <a:fillRect/>
          </a:stretch>
        </p:blipFill>
        <p:spPr>
          <a:xfrm>
            <a:off x="3772814" y="1834286"/>
            <a:ext cx="263347" cy="263347"/>
          </a:xfrm>
          <a:prstGeom prst="rect">
            <a:avLst/>
          </a:prstGeom>
        </p:spPr>
      </p:pic>
      <p:sp>
        <p:nvSpPr>
          <p:cNvPr id="15" name="Text 11"/>
          <p:cNvSpPr/>
          <p:nvPr/>
        </p:nvSpPr>
        <p:spPr>
          <a:xfrm>
            <a:off x="4315968" y="1709928"/>
            <a:ext cx="1691640" cy="50292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Crosstab</a:t>
            </a:r>
            <a:endParaRPr lang="en-US" sz="1300" dirty="0"/>
          </a:p>
        </p:txBody>
      </p:sp>
      <p:sp>
        <p:nvSpPr>
          <p:cNvPr id="16" name="Text 12"/>
          <p:cNvSpPr/>
          <p:nvPr/>
        </p:nvSpPr>
        <p:spPr>
          <a:xfrm>
            <a:off x="3630168" y="2377440"/>
            <a:ext cx="2331720" cy="960120"/>
          </a:xfrm>
          <a:prstGeom prst="rect">
            <a:avLst/>
          </a:prstGeom>
          <a:noFill/>
          <a:ln/>
        </p:spPr>
        <p:txBody>
          <a:bodyPr wrap="square" rtlCol="0" anchor="t"/>
          <a:lstStyle/>
          <a:p>
            <a:pPr indent="0" marL="0">
              <a:buNone/>
            </a:pPr>
            <a:r>
              <a:rPr lang="en-US" sz="1000" dirty="0">
                <a:solidFill>
                  <a:srgbClr val="525252"/>
                </a:solidFill>
                <a:latin typeface="Calibri" pitchFamily="34" charset="0"/>
                <a:ea typeface="Calibri" pitchFamily="34" charset="-122"/>
                <a:cs typeface="Calibri" pitchFamily="34" charset="-120"/>
              </a:rPr>
              <a:t>Cross-tabulated summary, like a pivot table (Region × Month).</a:t>
            </a:r>
            <a:endParaRPr lang="en-US" sz="1000" dirty="0"/>
          </a:p>
        </p:txBody>
      </p:sp>
      <p:sp>
        <p:nvSpPr>
          <p:cNvPr id="17" name="Shape 13"/>
          <p:cNvSpPr/>
          <p:nvPr/>
        </p:nvSpPr>
        <p:spPr>
          <a:xfrm>
            <a:off x="6345936" y="1508760"/>
            <a:ext cx="2697480" cy="1920240"/>
          </a:xfrm>
          <a:prstGeom prst="roundRect">
            <a:avLst>
              <a:gd name="adj" fmla="val 3810"/>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8" name="Shape 14"/>
          <p:cNvSpPr/>
          <p:nvPr/>
        </p:nvSpPr>
        <p:spPr>
          <a:xfrm>
            <a:off x="6528816" y="1691640"/>
            <a:ext cx="548640" cy="548640"/>
          </a:xfrm>
          <a:prstGeom prst="ellipse">
            <a:avLst/>
          </a:prstGeom>
          <a:solidFill>
            <a:srgbClr val="0F62FE"/>
          </a:solidFill>
          <a:ln/>
        </p:spPr>
      </p:sp>
      <p:pic>
        <p:nvPicPr>
          <p:cNvPr id="19" name="Image 2" descr="/home/claude/icons/chartbar_FFFFFF.png">    </p:cNvPr>
          <p:cNvPicPr>
            <a:picLocks noChangeAspect="1"/>
          </p:cNvPicPr>
          <p:nvPr/>
        </p:nvPicPr>
        <p:blipFill>
          <a:blip r:embed="rId3"/>
          <a:stretch>
            <a:fillRect/>
          </a:stretch>
        </p:blipFill>
        <p:spPr>
          <a:xfrm>
            <a:off x="6671462" y="1834286"/>
            <a:ext cx="263347" cy="263347"/>
          </a:xfrm>
          <a:prstGeom prst="rect">
            <a:avLst/>
          </a:prstGeom>
        </p:spPr>
      </p:pic>
      <p:sp>
        <p:nvSpPr>
          <p:cNvPr id="20" name="Text 15"/>
          <p:cNvSpPr/>
          <p:nvPr/>
        </p:nvSpPr>
        <p:spPr>
          <a:xfrm>
            <a:off x="7214616" y="1709928"/>
            <a:ext cx="1691640" cy="50292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Chart</a:t>
            </a:r>
            <a:endParaRPr lang="en-US" sz="1300" dirty="0"/>
          </a:p>
        </p:txBody>
      </p:sp>
      <p:sp>
        <p:nvSpPr>
          <p:cNvPr id="21" name="Text 16"/>
          <p:cNvSpPr/>
          <p:nvPr/>
        </p:nvSpPr>
        <p:spPr>
          <a:xfrm>
            <a:off x="6528816" y="2377440"/>
            <a:ext cx="2331720" cy="960120"/>
          </a:xfrm>
          <a:prstGeom prst="rect">
            <a:avLst/>
          </a:prstGeom>
          <a:noFill/>
          <a:ln/>
        </p:spPr>
        <p:txBody>
          <a:bodyPr wrap="square" rtlCol="0" anchor="t"/>
          <a:lstStyle/>
          <a:p>
            <a:pPr indent="0" marL="0">
              <a:buNone/>
            </a:pPr>
            <a:r>
              <a:rPr lang="en-US" sz="1000" dirty="0">
                <a:solidFill>
                  <a:srgbClr val="525252"/>
                </a:solidFill>
                <a:latin typeface="Calibri" pitchFamily="34" charset="0"/>
                <a:ea typeface="Calibri" pitchFamily="34" charset="-122"/>
                <a:cs typeface="Calibri" pitchFamily="34" charset="-120"/>
              </a:rPr>
              <a:t>Bar, line, or pie visuals for trends and comparisons.</a:t>
            </a:r>
            <a:endParaRPr lang="en-US" sz="1000" dirty="0"/>
          </a:p>
        </p:txBody>
      </p:sp>
      <p:sp>
        <p:nvSpPr>
          <p:cNvPr id="22" name="Shape 17"/>
          <p:cNvSpPr/>
          <p:nvPr/>
        </p:nvSpPr>
        <p:spPr>
          <a:xfrm>
            <a:off x="9244584" y="1508760"/>
            <a:ext cx="2697480" cy="1920240"/>
          </a:xfrm>
          <a:prstGeom prst="roundRect">
            <a:avLst>
              <a:gd name="adj" fmla="val 3810"/>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9427464" y="1691640"/>
            <a:ext cx="548640" cy="548640"/>
          </a:xfrm>
          <a:prstGeom prst="ellipse">
            <a:avLst/>
          </a:prstGeom>
          <a:solidFill>
            <a:srgbClr val="0F62FE"/>
          </a:solidFill>
          <a:ln/>
        </p:spPr>
      </p:sp>
      <p:pic>
        <p:nvPicPr>
          <p:cNvPr id="24" name="Image 3" descr="/home/claude/icons/map_FFFFFF.png">    </p:cNvPr>
          <p:cNvPicPr>
            <a:picLocks noChangeAspect="1"/>
          </p:cNvPicPr>
          <p:nvPr/>
        </p:nvPicPr>
        <p:blipFill>
          <a:blip r:embed="rId4"/>
          <a:stretch>
            <a:fillRect/>
          </a:stretch>
        </p:blipFill>
        <p:spPr>
          <a:xfrm>
            <a:off x="9570110" y="1834286"/>
            <a:ext cx="263347" cy="263347"/>
          </a:xfrm>
          <a:prstGeom prst="rect">
            <a:avLst/>
          </a:prstGeom>
        </p:spPr>
      </p:pic>
      <p:sp>
        <p:nvSpPr>
          <p:cNvPr id="25" name="Text 19"/>
          <p:cNvSpPr/>
          <p:nvPr/>
        </p:nvSpPr>
        <p:spPr>
          <a:xfrm>
            <a:off x="10113264" y="1709928"/>
            <a:ext cx="1691640" cy="50292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Map</a:t>
            </a:r>
            <a:endParaRPr lang="en-US" sz="1300" dirty="0"/>
          </a:p>
        </p:txBody>
      </p:sp>
      <p:sp>
        <p:nvSpPr>
          <p:cNvPr id="26" name="Text 20"/>
          <p:cNvSpPr/>
          <p:nvPr/>
        </p:nvSpPr>
        <p:spPr>
          <a:xfrm>
            <a:off x="9427464" y="2377440"/>
            <a:ext cx="2331720" cy="960120"/>
          </a:xfrm>
          <a:prstGeom prst="rect">
            <a:avLst/>
          </a:prstGeom>
          <a:noFill/>
          <a:ln/>
        </p:spPr>
        <p:txBody>
          <a:bodyPr wrap="square" rtlCol="0" anchor="t"/>
          <a:lstStyle/>
          <a:p>
            <a:pPr indent="0" marL="0">
              <a:buNone/>
            </a:pPr>
            <a:r>
              <a:rPr lang="en-US" sz="1000" dirty="0">
                <a:solidFill>
                  <a:srgbClr val="525252"/>
                </a:solidFill>
                <a:latin typeface="Calibri" pitchFamily="34" charset="0"/>
                <a:ea typeface="Calibri" pitchFamily="34" charset="-122"/>
                <a:cs typeface="Calibri" pitchFamily="34" charset="-120"/>
              </a:rPr>
              <a:t>Geographic visualization — e.g. sales by state or country.</a:t>
            </a:r>
            <a:endParaRPr lang="en-US" sz="1000" dirty="0"/>
          </a:p>
        </p:txBody>
      </p:sp>
      <p:sp>
        <p:nvSpPr>
          <p:cNvPr id="27" name="Shape 21"/>
          <p:cNvSpPr/>
          <p:nvPr/>
        </p:nvSpPr>
        <p:spPr>
          <a:xfrm>
            <a:off x="548640" y="3657600"/>
            <a:ext cx="2697480" cy="1920240"/>
          </a:xfrm>
          <a:prstGeom prst="roundRect">
            <a:avLst>
              <a:gd name="adj" fmla="val 3810"/>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8" name="Shape 22"/>
          <p:cNvSpPr/>
          <p:nvPr/>
        </p:nvSpPr>
        <p:spPr>
          <a:xfrm>
            <a:off x="731520" y="3840480"/>
            <a:ext cx="548640" cy="548640"/>
          </a:xfrm>
          <a:prstGeom prst="ellipse">
            <a:avLst/>
          </a:prstGeom>
          <a:solidFill>
            <a:srgbClr val="0F62FE"/>
          </a:solidFill>
          <a:ln/>
        </p:spPr>
      </p:sp>
      <p:pic>
        <p:nvPicPr>
          <p:cNvPr id="29" name="Image 4" descr="/home/claude/icons/repeat_FFFFFF.png">    </p:cNvPr>
          <p:cNvPicPr>
            <a:picLocks noChangeAspect="1"/>
          </p:cNvPicPr>
          <p:nvPr/>
        </p:nvPicPr>
        <p:blipFill>
          <a:blip r:embed="rId5"/>
          <a:stretch>
            <a:fillRect/>
          </a:stretch>
        </p:blipFill>
        <p:spPr>
          <a:xfrm>
            <a:off x="874166" y="3983126"/>
            <a:ext cx="263347" cy="263347"/>
          </a:xfrm>
          <a:prstGeom prst="rect">
            <a:avLst/>
          </a:prstGeom>
        </p:spPr>
      </p:pic>
      <p:sp>
        <p:nvSpPr>
          <p:cNvPr id="30" name="Text 23"/>
          <p:cNvSpPr/>
          <p:nvPr/>
        </p:nvSpPr>
        <p:spPr>
          <a:xfrm>
            <a:off x="1417320" y="3858768"/>
            <a:ext cx="1691640" cy="50292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Repeater</a:t>
            </a:r>
            <a:endParaRPr lang="en-US" sz="1300" dirty="0"/>
          </a:p>
        </p:txBody>
      </p:sp>
      <p:sp>
        <p:nvSpPr>
          <p:cNvPr id="31" name="Text 24"/>
          <p:cNvSpPr/>
          <p:nvPr/>
        </p:nvSpPr>
        <p:spPr>
          <a:xfrm>
            <a:off x="731520" y="4526280"/>
            <a:ext cx="2331720" cy="960120"/>
          </a:xfrm>
          <a:prstGeom prst="rect">
            <a:avLst/>
          </a:prstGeom>
          <a:noFill/>
          <a:ln/>
        </p:spPr>
        <p:txBody>
          <a:bodyPr wrap="square" rtlCol="0" anchor="t"/>
          <a:lstStyle/>
          <a:p>
            <a:pPr indent="0" marL="0">
              <a:buNone/>
            </a:pPr>
            <a:r>
              <a:rPr lang="en-US" sz="1000" dirty="0">
                <a:solidFill>
                  <a:srgbClr val="525252"/>
                </a:solidFill>
                <a:latin typeface="Calibri" pitchFamily="34" charset="0"/>
                <a:ea typeface="Calibri" pitchFamily="34" charset="-122"/>
                <a:cs typeface="Calibri" pitchFamily="34" charset="-120"/>
              </a:rPr>
              <a:t>Repeats a layout per data item — e.g. one card per product.</a:t>
            </a:r>
            <a:endParaRPr lang="en-US" sz="1000" dirty="0"/>
          </a:p>
        </p:txBody>
      </p:sp>
      <p:sp>
        <p:nvSpPr>
          <p:cNvPr id="32" name="Shape 25"/>
          <p:cNvSpPr/>
          <p:nvPr/>
        </p:nvSpPr>
        <p:spPr>
          <a:xfrm>
            <a:off x="3447288" y="3657600"/>
            <a:ext cx="2697480" cy="1920240"/>
          </a:xfrm>
          <a:prstGeom prst="roundRect">
            <a:avLst>
              <a:gd name="adj" fmla="val 3810"/>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33" name="Shape 26"/>
          <p:cNvSpPr/>
          <p:nvPr/>
        </p:nvSpPr>
        <p:spPr>
          <a:xfrm>
            <a:off x="3630168" y="3840480"/>
            <a:ext cx="548640" cy="548640"/>
          </a:xfrm>
          <a:prstGeom prst="ellipse">
            <a:avLst/>
          </a:prstGeom>
          <a:solidFill>
            <a:srgbClr val="0F62FE"/>
          </a:solidFill>
          <a:ln/>
        </p:spPr>
      </p:sp>
      <p:pic>
        <p:nvPicPr>
          <p:cNvPr id="34" name="Image 5" descr="/home/claude/icons/bolt_FFFFFF.png">    </p:cNvPr>
          <p:cNvPicPr>
            <a:picLocks noChangeAspect="1"/>
          </p:cNvPicPr>
          <p:nvPr/>
        </p:nvPicPr>
        <p:blipFill>
          <a:blip r:embed="rId6"/>
          <a:stretch>
            <a:fillRect/>
          </a:stretch>
        </p:blipFill>
        <p:spPr>
          <a:xfrm>
            <a:off x="3772814" y="3983126"/>
            <a:ext cx="263347" cy="263347"/>
          </a:xfrm>
          <a:prstGeom prst="rect">
            <a:avLst/>
          </a:prstGeom>
        </p:spPr>
      </p:pic>
      <p:sp>
        <p:nvSpPr>
          <p:cNvPr id="35" name="Text 27"/>
          <p:cNvSpPr/>
          <p:nvPr/>
        </p:nvSpPr>
        <p:spPr>
          <a:xfrm>
            <a:off x="4315968" y="3858768"/>
            <a:ext cx="1691640" cy="50292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Active Report</a:t>
            </a:r>
            <a:endParaRPr lang="en-US" sz="1300" dirty="0"/>
          </a:p>
        </p:txBody>
      </p:sp>
      <p:sp>
        <p:nvSpPr>
          <p:cNvPr id="36" name="Text 28"/>
          <p:cNvSpPr/>
          <p:nvPr/>
        </p:nvSpPr>
        <p:spPr>
          <a:xfrm>
            <a:off x="3630168" y="4526280"/>
            <a:ext cx="2331720" cy="960120"/>
          </a:xfrm>
          <a:prstGeom prst="rect">
            <a:avLst/>
          </a:prstGeom>
          <a:noFill/>
          <a:ln/>
        </p:spPr>
        <p:txBody>
          <a:bodyPr wrap="square" rtlCol="0" anchor="t"/>
          <a:lstStyle/>
          <a:p>
            <a:pPr indent="0" marL="0">
              <a:buNone/>
            </a:pPr>
            <a:r>
              <a:rPr lang="en-US" sz="1000" dirty="0">
                <a:solidFill>
                  <a:srgbClr val="525252"/>
                </a:solidFill>
                <a:latin typeface="Calibri" pitchFamily="34" charset="0"/>
                <a:ea typeface="Calibri" pitchFamily="34" charset="-122"/>
                <a:cs typeface="Calibri" pitchFamily="34" charset="-120"/>
              </a:rPr>
              <a:t>Offline-capable, highly interactive report with filters built in.</a:t>
            </a:r>
            <a:endParaRPr lang="en-US" sz="1000" dirty="0"/>
          </a:p>
        </p:txBody>
      </p:sp>
      <p:sp>
        <p:nvSpPr>
          <p:cNvPr id="37" name="Shape 29"/>
          <p:cNvSpPr/>
          <p:nvPr/>
        </p:nvSpPr>
        <p:spPr>
          <a:xfrm>
            <a:off x="6345936" y="3657600"/>
            <a:ext cx="2697480" cy="1920240"/>
          </a:xfrm>
          <a:prstGeom prst="roundRect">
            <a:avLst>
              <a:gd name="adj" fmla="val 3810"/>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38" name="Shape 30"/>
          <p:cNvSpPr/>
          <p:nvPr/>
        </p:nvSpPr>
        <p:spPr>
          <a:xfrm>
            <a:off x="6528816" y="3840480"/>
            <a:ext cx="548640" cy="548640"/>
          </a:xfrm>
          <a:prstGeom prst="ellipse">
            <a:avLst/>
          </a:prstGeom>
          <a:solidFill>
            <a:srgbClr val="0F62FE"/>
          </a:solidFill>
          <a:ln/>
        </p:spPr>
      </p:sp>
      <p:pic>
        <p:nvPicPr>
          <p:cNvPr id="39" name="Image 6" descr="/home/claude/icons/drillthrough_FFFFFF.png">    </p:cNvPr>
          <p:cNvPicPr>
            <a:picLocks noChangeAspect="1"/>
          </p:cNvPicPr>
          <p:nvPr/>
        </p:nvPicPr>
        <p:blipFill>
          <a:blip r:embed="rId7"/>
          <a:stretch>
            <a:fillRect/>
          </a:stretch>
        </p:blipFill>
        <p:spPr>
          <a:xfrm>
            <a:off x="6671462" y="3983126"/>
            <a:ext cx="263347" cy="263347"/>
          </a:xfrm>
          <a:prstGeom prst="rect">
            <a:avLst/>
          </a:prstGeom>
        </p:spPr>
      </p:pic>
      <p:sp>
        <p:nvSpPr>
          <p:cNvPr id="40" name="Text 31"/>
          <p:cNvSpPr/>
          <p:nvPr/>
        </p:nvSpPr>
        <p:spPr>
          <a:xfrm>
            <a:off x="7214616" y="3858768"/>
            <a:ext cx="1691640" cy="50292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Drill-through</a:t>
            </a:r>
            <a:endParaRPr lang="en-US" sz="1300" dirty="0"/>
          </a:p>
        </p:txBody>
      </p:sp>
      <p:sp>
        <p:nvSpPr>
          <p:cNvPr id="41" name="Text 32"/>
          <p:cNvSpPr/>
          <p:nvPr/>
        </p:nvSpPr>
        <p:spPr>
          <a:xfrm>
            <a:off x="6528816" y="4526280"/>
            <a:ext cx="2331720" cy="960120"/>
          </a:xfrm>
          <a:prstGeom prst="rect">
            <a:avLst/>
          </a:prstGeom>
          <a:noFill/>
          <a:ln/>
        </p:spPr>
        <p:txBody>
          <a:bodyPr wrap="square" rtlCol="0" anchor="t"/>
          <a:lstStyle/>
          <a:p>
            <a:pPr indent="0" marL="0">
              <a:buNone/>
            </a:pPr>
            <a:r>
              <a:rPr lang="en-US" sz="1000" dirty="0">
                <a:solidFill>
                  <a:srgbClr val="525252"/>
                </a:solidFill>
                <a:latin typeface="Calibri" pitchFamily="34" charset="0"/>
                <a:ea typeface="Calibri" pitchFamily="34" charset="-122"/>
                <a:cs typeface="Calibri" pitchFamily="34" charset="-120"/>
              </a:rPr>
              <a:t>Click a summary value to jump into underlying detail.</a:t>
            </a:r>
            <a:endParaRPr lang="en-US" sz="1000" dirty="0"/>
          </a:p>
        </p:txBody>
      </p:sp>
      <p:sp>
        <p:nvSpPr>
          <p:cNvPr id="42" name="Shape 33"/>
          <p:cNvSpPr/>
          <p:nvPr/>
        </p:nvSpPr>
        <p:spPr>
          <a:xfrm>
            <a:off x="9244584" y="3657600"/>
            <a:ext cx="2697480" cy="1920240"/>
          </a:xfrm>
          <a:prstGeom prst="roundRect">
            <a:avLst>
              <a:gd name="adj" fmla="val 3810"/>
            </a:avLst>
          </a:prstGeom>
          <a:solidFill>
            <a:srgbClr val="001141"/>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43" name="Text 34"/>
          <p:cNvSpPr/>
          <p:nvPr/>
        </p:nvSpPr>
        <p:spPr>
          <a:xfrm>
            <a:off x="9427464" y="3840480"/>
            <a:ext cx="2331720" cy="1554480"/>
          </a:xfrm>
          <a:prstGeom prst="rect">
            <a:avLst/>
          </a:prstGeom>
          <a:noFill/>
          <a:ln/>
        </p:spPr>
        <p:txBody>
          <a:bodyPr wrap="square" rtlCol="0" anchor="ctr"/>
          <a:lstStyle/>
          <a:p>
            <a:pPr algn="ctr" indent="0" marL="0">
              <a:buNone/>
            </a:pPr>
            <a:r>
              <a:rPr lang="en-US" sz="1050" i="1" dirty="0">
                <a:solidFill>
                  <a:srgbClr val="FFFFFF"/>
                </a:solidFill>
                <a:latin typeface="Calibri" pitchFamily="34" charset="0"/>
                <a:ea typeface="Calibri" pitchFamily="34" charset="-122"/>
                <a:cs typeface="Calibri" pitchFamily="34" charset="-120"/>
              </a:rPr>
              <a:t>Example: A finance team uses a Crosstab for budget vs. actuals, and Drill-through to jump from a summary to invoice-level detail.</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200" b="1" spc="100" kern="0" dirty="0">
                <a:solidFill>
                  <a:srgbClr val="0F62FE"/>
                </a:solidFill>
                <a:latin typeface="Calibri" pitchFamily="34" charset="0"/>
                <a:ea typeface="Calibri" pitchFamily="34" charset="-122"/>
                <a:cs typeface="Calibri" pitchFamily="34" charset="-120"/>
              </a:rPr>
              <a:t>INTERACTIVE VISUAL ANALYTICS</a:t>
            </a:r>
            <a:endParaRPr lang="en-US" sz="1200" dirty="0"/>
          </a:p>
        </p:txBody>
      </p:sp>
      <p:sp>
        <p:nvSpPr>
          <p:cNvPr id="3" name="Text 1"/>
          <p:cNvSpPr/>
          <p:nvPr/>
        </p:nvSpPr>
        <p:spPr>
          <a:xfrm>
            <a:off x="548640" y="566928"/>
            <a:ext cx="10789920" cy="685800"/>
          </a:xfrm>
          <a:prstGeom prst="rect">
            <a:avLst/>
          </a:prstGeom>
          <a:noFill/>
          <a:ln/>
        </p:spPr>
        <p:txBody>
          <a:bodyPr wrap="square" rtlCol="0" anchor="ctr"/>
          <a:lstStyle/>
          <a:p>
            <a:pPr indent="0" marL="0">
              <a:buNone/>
            </a:pPr>
            <a:r>
              <a:rPr lang="en-US" sz="3000" b="1" dirty="0">
                <a:solidFill>
                  <a:srgbClr val="161616"/>
                </a:solidFill>
                <a:latin typeface="Cambria" pitchFamily="34" charset="0"/>
                <a:ea typeface="Cambria" pitchFamily="34" charset="-122"/>
                <a:cs typeface="Cambria" pitchFamily="34" charset="-120"/>
              </a:rPr>
              <a:t>Dashboard Creation</a:t>
            </a:r>
            <a:endParaRPr lang="en-US" sz="3000" dirty="0"/>
          </a:p>
        </p:txBody>
      </p:sp>
      <p:sp>
        <p:nvSpPr>
          <p:cNvPr id="4" name="Shape 2"/>
          <p:cNvSpPr/>
          <p:nvPr/>
        </p:nvSpPr>
        <p:spPr>
          <a:xfrm>
            <a:off x="548640" y="1298448"/>
            <a:ext cx="11064240" cy="18288"/>
          </a:xfrm>
          <a:prstGeom prst="rect">
            <a:avLst/>
          </a:prstGeom>
          <a:solidFill>
            <a:srgbClr val="E0E0E0"/>
          </a:solidFill>
          <a:ln/>
        </p:spPr>
      </p:sp>
      <p:sp>
        <p:nvSpPr>
          <p:cNvPr id="5" name="Text 3"/>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525252"/>
                </a:solidFill>
                <a:latin typeface="Calibri" pitchFamily="34" charset="0"/>
                <a:ea typeface="Calibri" pitchFamily="34" charset="-122"/>
                <a:cs typeface="Calibri" pitchFamily="34" charset="-120"/>
              </a:rPr>
              <a:t>IBM Cognos Analytics Overview  |  Knowledge Transfer</a:t>
            </a:r>
            <a:endParaRPr lang="en-US" sz="900" dirty="0"/>
          </a:p>
        </p:txBody>
      </p:sp>
      <p:sp>
        <p:nvSpPr>
          <p:cNvPr id="6" name="Text 4"/>
          <p:cNvSpPr/>
          <p:nvPr/>
        </p:nvSpPr>
        <p:spPr>
          <a:xfrm>
            <a:off x="11365992" y="6510528"/>
            <a:ext cx="457200" cy="274320"/>
          </a:xfrm>
          <a:prstGeom prst="rect">
            <a:avLst/>
          </a:prstGeom>
          <a:noFill/>
          <a:ln/>
        </p:spPr>
        <p:txBody>
          <a:bodyPr wrap="square" rtlCol="0" anchor="ctr"/>
          <a:lstStyle/>
          <a:p>
            <a:pPr algn="r" indent="0" marL="0">
              <a:buNone/>
            </a:pPr>
            <a:r>
              <a:rPr lang="en-US" sz="900" dirty="0">
                <a:solidFill>
                  <a:srgbClr val="525252"/>
                </a:solidFill>
                <a:latin typeface="Calibri" pitchFamily="34" charset="0"/>
                <a:ea typeface="Calibri" pitchFamily="34" charset="-122"/>
                <a:cs typeface="Calibri" pitchFamily="34" charset="-120"/>
              </a:rPr>
              <a:t>11</a:t>
            </a:r>
            <a:endParaRPr lang="en-US" sz="900" dirty="0"/>
          </a:p>
        </p:txBody>
      </p:sp>
      <p:sp>
        <p:nvSpPr>
          <p:cNvPr id="7" name="Shape 5"/>
          <p:cNvSpPr/>
          <p:nvPr/>
        </p:nvSpPr>
        <p:spPr>
          <a:xfrm>
            <a:off x="548640" y="1463040"/>
            <a:ext cx="6492240" cy="4480560"/>
          </a:xfrm>
          <a:prstGeom prst="roundRect">
            <a:avLst>
              <a:gd name="adj" fmla="val 1633"/>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8" name="Text 6"/>
          <p:cNvSpPr/>
          <p:nvPr/>
        </p:nvSpPr>
        <p:spPr>
          <a:xfrm>
            <a:off x="777240" y="1600200"/>
            <a:ext cx="6035040" cy="320040"/>
          </a:xfrm>
          <a:prstGeom prst="rect">
            <a:avLst/>
          </a:prstGeom>
          <a:noFill/>
          <a:ln/>
        </p:spPr>
        <p:txBody>
          <a:bodyPr wrap="square" rtlCol="0" anchor="ctr"/>
          <a:lstStyle/>
          <a:p>
            <a:pPr indent="0" marL="0">
              <a:buNone/>
            </a:pPr>
            <a:r>
              <a:rPr lang="en-US" sz="1250" b="1" dirty="0">
                <a:solidFill>
                  <a:srgbClr val="161616"/>
                </a:solidFill>
                <a:latin typeface="Calibri" pitchFamily="34" charset="0"/>
                <a:ea typeface="Calibri" pitchFamily="34" charset="-122"/>
                <a:cs typeface="Calibri" pitchFamily="34" charset="-120"/>
              </a:rPr>
              <a:t>Sales Performance Dashboard</a:t>
            </a:r>
            <a:endParaRPr lang="en-US" sz="1250" dirty="0"/>
          </a:p>
        </p:txBody>
      </p:sp>
      <p:sp>
        <p:nvSpPr>
          <p:cNvPr id="9" name="Shape 7"/>
          <p:cNvSpPr/>
          <p:nvPr/>
        </p:nvSpPr>
        <p:spPr>
          <a:xfrm>
            <a:off x="777240" y="1965960"/>
            <a:ext cx="1554480" cy="365760"/>
          </a:xfrm>
          <a:prstGeom prst="roundRect">
            <a:avLst>
              <a:gd name="adj" fmla="val 20000"/>
            </a:avLst>
          </a:prstGeom>
          <a:solidFill>
            <a:srgbClr val="FFFFFF"/>
          </a:solidFill>
          <a:ln w="9525">
            <a:solidFill>
              <a:srgbClr val="E0E0E0"/>
            </a:solidFill>
            <a:prstDash val="solid"/>
          </a:ln>
        </p:spPr>
      </p:sp>
      <p:sp>
        <p:nvSpPr>
          <p:cNvPr id="10" name="Text 8"/>
          <p:cNvSpPr/>
          <p:nvPr/>
        </p:nvSpPr>
        <p:spPr>
          <a:xfrm>
            <a:off x="868680" y="1965960"/>
            <a:ext cx="1371600" cy="365760"/>
          </a:xfrm>
          <a:prstGeom prst="rect">
            <a:avLst/>
          </a:prstGeom>
          <a:noFill/>
          <a:ln/>
        </p:spPr>
        <p:txBody>
          <a:bodyPr wrap="square" rtlCol="0" anchor="ctr"/>
          <a:lstStyle/>
          <a:p>
            <a:pPr indent="0" marL="0">
              <a:buNone/>
            </a:pPr>
            <a:r>
              <a:rPr lang="en-US" sz="900" dirty="0">
                <a:solidFill>
                  <a:srgbClr val="0043CE"/>
                </a:solidFill>
                <a:latin typeface="Calibri" pitchFamily="34" charset="0"/>
                <a:ea typeface="Calibri" pitchFamily="34" charset="-122"/>
                <a:cs typeface="Calibri" pitchFamily="34" charset="-120"/>
              </a:rPr>
              <a:t>Region: All</a:t>
            </a:r>
            <a:endParaRPr lang="en-US" sz="900" dirty="0"/>
          </a:p>
        </p:txBody>
      </p:sp>
      <p:sp>
        <p:nvSpPr>
          <p:cNvPr id="11" name="Shape 9"/>
          <p:cNvSpPr/>
          <p:nvPr/>
        </p:nvSpPr>
        <p:spPr>
          <a:xfrm>
            <a:off x="2468880" y="1965960"/>
            <a:ext cx="1554480" cy="365760"/>
          </a:xfrm>
          <a:prstGeom prst="roundRect">
            <a:avLst>
              <a:gd name="adj" fmla="val 20000"/>
            </a:avLst>
          </a:prstGeom>
          <a:solidFill>
            <a:srgbClr val="FFFFFF"/>
          </a:solidFill>
          <a:ln w="9525">
            <a:solidFill>
              <a:srgbClr val="E0E0E0"/>
            </a:solidFill>
            <a:prstDash val="solid"/>
          </a:ln>
        </p:spPr>
      </p:sp>
      <p:sp>
        <p:nvSpPr>
          <p:cNvPr id="12" name="Text 10"/>
          <p:cNvSpPr/>
          <p:nvPr/>
        </p:nvSpPr>
        <p:spPr>
          <a:xfrm>
            <a:off x="2560320" y="1965960"/>
            <a:ext cx="1371600" cy="365760"/>
          </a:xfrm>
          <a:prstGeom prst="rect">
            <a:avLst/>
          </a:prstGeom>
          <a:noFill/>
          <a:ln/>
        </p:spPr>
        <p:txBody>
          <a:bodyPr wrap="square" rtlCol="0" anchor="ctr"/>
          <a:lstStyle/>
          <a:p>
            <a:pPr indent="0" marL="0">
              <a:buNone/>
            </a:pPr>
            <a:r>
              <a:rPr lang="en-US" sz="900" dirty="0">
                <a:solidFill>
                  <a:srgbClr val="0043CE"/>
                </a:solidFill>
                <a:latin typeface="Calibri" pitchFamily="34" charset="0"/>
                <a:ea typeface="Calibri" pitchFamily="34" charset="-122"/>
                <a:cs typeface="Calibri" pitchFamily="34" charset="-120"/>
              </a:rPr>
              <a:t>Quarter: Q3</a:t>
            </a:r>
            <a:endParaRPr lang="en-US" sz="900" dirty="0"/>
          </a:p>
        </p:txBody>
      </p:sp>
      <p:sp>
        <p:nvSpPr>
          <p:cNvPr id="13" name="Shape 11"/>
          <p:cNvSpPr/>
          <p:nvPr/>
        </p:nvSpPr>
        <p:spPr>
          <a:xfrm>
            <a:off x="4160520" y="1965960"/>
            <a:ext cx="1554480" cy="365760"/>
          </a:xfrm>
          <a:prstGeom prst="roundRect">
            <a:avLst>
              <a:gd name="adj" fmla="val 20000"/>
            </a:avLst>
          </a:prstGeom>
          <a:solidFill>
            <a:srgbClr val="FFFFFF"/>
          </a:solidFill>
          <a:ln w="9525">
            <a:solidFill>
              <a:srgbClr val="E0E0E0"/>
            </a:solidFill>
            <a:prstDash val="solid"/>
          </a:ln>
        </p:spPr>
      </p:sp>
      <p:sp>
        <p:nvSpPr>
          <p:cNvPr id="14" name="Text 12"/>
          <p:cNvSpPr/>
          <p:nvPr/>
        </p:nvSpPr>
        <p:spPr>
          <a:xfrm>
            <a:off x="4251960" y="1965960"/>
            <a:ext cx="1371600" cy="365760"/>
          </a:xfrm>
          <a:prstGeom prst="rect">
            <a:avLst/>
          </a:prstGeom>
          <a:noFill/>
          <a:ln/>
        </p:spPr>
        <p:txBody>
          <a:bodyPr wrap="square" rtlCol="0" anchor="ctr"/>
          <a:lstStyle/>
          <a:p>
            <a:pPr indent="0" marL="0">
              <a:buNone/>
            </a:pPr>
            <a:r>
              <a:rPr lang="en-US" sz="900" dirty="0">
                <a:solidFill>
                  <a:srgbClr val="0043CE"/>
                </a:solidFill>
                <a:latin typeface="Calibri" pitchFamily="34" charset="0"/>
                <a:ea typeface="Calibri" pitchFamily="34" charset="-122"/>
                <a:cs typeface="Calibri" pitchFamily="34" charset="-120"/>
              </a:rPr>
              <a:t>Product: All</a:t>
            </a:r>
            <a:endParaRPr lang="en-US" sz="900" dirty="0"/>
          </a:p>
        </p:txBody>
      </p:sp>
      <p:sp>
        <p:nvSpPr>
          <p:cNvPr id="15" name="Shape 13"/>
          <p:cNvSpPr/>
          <p:nvPr/>
        </p:nvSpPr>
        <p:spPr>
          <a:xfrm>
            <a:off x="777240" y="2468880"/>
            <a:ext cx="1371600" cy="868680"/>
          </a:xfrm>
          <a:prstGeom prst="roundRect">
            <a:avLst>
              <a:gd name="adj" fmla="val 8421"/>
            </a:avLst>
          </a:prstGeom>
          <a:solidFill>
            <a:srgbClr val="001141"/>
          </a:solidFill>
          <a:ln w="9525">
            <a:solidFill>
              <a:srgbClr val="E0E0E0"/>
            </a:solidFill>
            <a:prstDash val="solid"/>
          </a:ln>
        </p:spPr>
      </p:sp>
      <p:sp>
        <p:nvSpPr>
          <p:cNvPr id="16" name="Text 14"/>
          <p:cNvSpPr/>
          <p:nvPr/>
        </p:nvSpPr>
        <p:spPr>
          <a:xfrm>
            <a:off x="777240" y="2523744"/>
            <a:ext cx="137160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$4.2M</a:t>
            </a:r>
            <a:endParaRPr lang="en-US" sz="1600" dirty="0"/>
          </a:p>
        </p:txBody>
      </p:sp>
      <p:sp>
        <p:nvSpPr>
          <p:cNvPr id="17" name="Text 15"/>
          <p:cNvSpPr/>
          <p:nvPr/>
        </p:nvSpPr>
        <p:spPr>
          <a:xfrm>
            <a:off x="777240" y="2926080"/>
            <a:ext cx="1371600" cy="274320"/>
          </a:xfrm>
          <a:prstGeom prst="rect">
            <a:avLst/>
          </a:prstGeom>
          <a:noFill/>
          <a:ln/>
        </p:spPr>
        <p:txBody>
          <a:bodyPr wrap="square" rtlCol="0" anchor="ctr"/>
          <a:lstStyle/>
          <a:p>
            <a:pPr algn="ctr" indent="0" marL="0">
              <a:buNone/>
            </a:pPr>
            <a:r>
              <a:rPr lang="en-US" sz="850" dirty="0">
                <a:solidFill>
                  <a:srgbClr val="D0E2FF"/>
                </a:solidFill>
                <a:latin typeface="Calibri" pitchFamily="34" charset="0"/>
                <a:ea typeface="Calibri" pitchFamily="34" charset="-122"/>
                <a:cs typeface="Calibri" pitchFamily="34" charset="-120"/>
              </a:rPr>
              <a:t>Revenue</a:t>
            </a:r>
            <a:endParaRPr lang="en-US" sz="850" dirty="0"/>
          </a:p>
        </p:txBody>
      </p:sp>
      <p:sp>
        <p:nvSpPr>
          <p:cNvPr id="18" name="Shape 16"/>
          <p:cNvSpPr/>
          <p:nvPr/>
        </p:nvSpPr>
        <p:spPr>
          <a:xfrm>
            <a:off x="2286000" y="2468880"/>
            <a:ext cx="1371600" cy="868680"/>
          </a:xfrm>
          <a:prstGeom prst="roundRect">
            <a:avLst>
              <a:gd name="adj" fmla="val 8421"/>
            </a:avLst>
          </a:prstGeom>
          <a:solidFill>
            <a:srgbClr val="001141"/>
          </a:solidFill>
          <a:ln w="9525">
            <a:solidFill>
              <a:srgbClr val="E0E0E0"/>
            </a:solidFill>
            <a:prstDash val="solid"/>
          </a:ln>
        </p:spPr>
      </p:sp>
      <p:sp>
        <p:nvSpPr>
          <p:cNvPr id="19" name="Text 17"/>
          <p:cNvSpPr/>
          <p:nvPr/>
        </p:nvSpPr>
        <p:spPr>
          <a:xfrm>
            <a:off x="2286000" y="2523744"/>
            <a:ext cx="137160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+12%</a:t>
            </a:r>
            <a:endParaRPr lang="en-US" sz="1600" dirty="0"/>
          </a:p>
        </p:txBody>
      </p:sp>
      <p:sp>
        <p:nvSpPr>
          <p:cNvPr id="20" name="Text 18"/>
          <p:cNvSpPr/>
          <p:nvPr/>
        </p:nvSpPr>
        <p:spPr>
          <a:xfrm>
            <a:off x="2286000" y="2926080"/>
            <a:ext cx="1371600" cy="274320"/>
          </a:xfrm>
          <a:prstGeom prst="rect">
            <a:avLst/>
          </a:prstGeom>
          <a:noFill/>
          <a:ln/>
        </p:spPr>
        <p:txBody>
          <a:bodyPr wrap="square" rtlCol="0" anchor="ctr"/>
          <a:lstStyle/>
          <a:p>
            <a:pPr algn="ctr" indent="0" marL="0">
              <a:buNone/>
            </a:pPr>
            <a:r>
              <a:rPr lang="en-US" sz="850" dirty="0">
                <a:solidFill>
                  <a:srgbClr val="D0E2FF"/>
                </a:solidFill>
                <a:latin typeface="Calibri" pitchFamily="34" charset="0"/>
                <a:ea typeface="Calibri" pitchFamily="34" charset="-122"/>
                <a:cs typeface="Calibri" pitchFamily="34" charset="-120"/>
              </a:rPr>
              <a:t>Growth</a:t>
            </a:r>
            <a:endParaRPr lang="en-US" sz="850" dirty="0"/>
          </a:p>
        </p:txBody>
      </p:sp>
      <p:sp>
        <p:nvSpPr>
          <p:cNvPr id="21" name="Shape 19"/>
          <p:cNvSpPr/>
          <p:nvPr/>
        </p:nvSpPr>
        <p:spPr>
          <a:xfrm>
            <a:off x="3794760" y="2468880"/>
            <a:ext cx="1371600" cy="868680"/>
          </a:xfrm>
          <a:prstGeom prst="roundRect">
            <a:avLst>
              <a:gd name="adj" fmla="val 8421"/>
            </a:avLst>
          </a:prstGeom>
          <a:solidFill>
            <a:srgbClr val="001141"/>
          </a:solidFill>
          <a:ln w="9525">
            <a:solidFill>
              <a:srgbClr val="E0E0E0"/>
            </a:solidFill>
            <a:prstDash val="solid"/>
          </a:ln>
        </p:spPr>
      </p:sp>
      <p:sp>
        <p:nvSpPr>
          <p:cNvPr id="22" name="Text 20"/>
          <p:cNvSpPr/>
          <p:nvPr/>
        </p:nvSpPr>
        <p:spPr>
          <a:xfrm>
            <a:off x="3794760" y="2523744"/>
            <a:ext cx="137160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1,204</a:t>
            </a:r>
            <a:endParaRPr lang="en-US" sz="1600" dirty="0"/>
          </a:p>
        </p:txBody>
      </p:sp>
      <p:sp>
        <p:nvSpPr>
          <p:cNvPr id="23" name="Text 21"/>
          <p:cNvSpPr/>
          <p:nvPr/>
        </p:nvSpPr>
        <p:spPr>
          <a:xfrm>
            <a:off x="3794760" y="2926080"/>
            <a:ext cx="1371600" cy="274320"/>
          </a:xfrm>
          <a:prstGeom prst="rect">
            <a:avLst/>
          </a:prstGeom>
          <a:noFill/>
          <a:ln/>
        </p:spPr>
        <p:txBody>
          <a:bodyPr wrap="square" rtlCol="0" anchor="ctr"/>
          <a:lstStyle/>
          <a:p>
            <a:pPr algn="ctr" indent="0" marL="0">
              <a:buNone/>
            </a:pPr>
            <a:r>
              <a:rPr lang="en-US" sz="850" dirty="0">
                <a:solidFill>
                  <a:srgbClr val="D0E2FF"/>
                </a:solidFill>
                <a:latin typeface="Calibri" pitchFamily="34" charset="0"/>
                <a:ea typeface="Calibri" pitchFamily="34" charset="-122"/>
                <a:cs typeface="Calibri" pitchFamily="34" charset="-120"/>
              </a:rPr>
              <a:t>Orders</a:t>
            </a:r>
            <a:endParaRPr lang="en-US" sz="850" dirty="0"/>
          </a:p>
        </p:txBody>
      </p:sp>
      <p:sp>
        <p:nvSpPr>
          <p:cNvPr id="24" name="Shape 22"/>
          <p:cNvSpPr/>
          <p:nvPr/>
        </p:nvSpPr>
        <p:spPr>
          <a:xfrm>
            <a:off x="5303520" y="2468880"/>
            <a:ext cx="1371600" cy="868680"/>
          </a:xfrm>
          <a:prstGeom prst="roundRect">
            <a:avLst>
              <a:gd name="adj" fmla="val 8421"/>
            </a:avLst>
          </a:prstGeom>
          <a:solidFill>
            <a:srgbClr val="001141"/>
          </a:solidFill>
          <a:ln w="9525">
            <a:solidFill>
              <a:srgbClr val="E0E0E0"/>
            </a:solidFill>
            <a:prstDash val="solid"/>
          </a:ln>
        </p:spPr>
      </p:sp>
      <p:sp>
        <p:nvSpPr>
          <p:cNvPr id="25" name="Text 23"/>
          <p:cNvSpPr/>
          <p:nvPr/>
        </p:nvSpPr>
        <p:spPr>
          <a:xfrm>
            <a:off x="5303520" y="2523744"/>
            <a:ext cx="137160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96%</a:t>
            </a:r>
            <a:endParaRPr lang="en-US" sz="1600" dirty="0"/>
          </a:p>
        </p:txBody>
      </p:sp>
      <p:sp>
        <p:nvSpPr>
          <p:cNvPr id="26" name="Text 24"/>
          <p:cNvSpPr/>
          <p:nvPr/>
        </p:nvSpPr>
        <p:spPr>
          <a:xfrm>
            <a:off x="5303520" y="2926080"/>
            <a:ext cx="1371600" cy="274320"/>
          </a:xfrm>
          <a:prstGeom prst="rect">
            <a:avLst/>
          </a:prstGeom>
          <a:noFill/>
          <a:ln/>
        </p:spPr>
        <p:txBody>
          <a:bodyPr wrap="square" rtlCol="0" anchor="ctr"/>
          <a:lstStyle/>
          <a:p>
            <a:pPr algn="ctr" indent="0" marL="0">
              <a:buNone/>
            </a:pPr>
            <a:r>
              <a:rPr lang="en-US" sz="850" dirty="0">
                <a:solidFill>
                  <a:srgbClr val="D0E2FF"/>
                </a:solidFill>
                <a:latin typeface="Calibri" pitchFamily="34" charset="0"/>
                <a:ea typeface="Calibri" pitchFamily="34" charset="-122"/>
                <a:cs typeface="Calibri" pitchFamily="34" charset="-120"/>
              </a:rPr>
              <a:t>SLA Met</a:t>
            </a:r>
            <a:endParaRPr lang="en-US" sz="850" dirty="0"/>
          </a:p>
        </p:txBody>
      </p:sp>
      <p:sp>
        <p:nvSpPr>
          <p:cNvPr id="27" name="Shape 25"/>
          <p:cNvSpPr/>
          <p:nvPr/>
        </p:nvSpPr>
        <p:spPr>
          <a:xfrm>
            <a:off x="777240" y="3520440"/>
            <a:ext cx="2926080" cy="1920240"/>
          </a:xfrm>
          <a:prstGeom prst="roundRect">
            <a:avLst>
              <a:gd name="adj" fmla="val 3810"/>
            </a:avLst>
          </a:prstGeom>
          <a:solidFill>
            <a:srgbClr val="FFFFFF"/>
          </a:solidFill>
          <a:ln w="9525">
            <a:solidFill>
              <a:srgbClr val="E0E0E0"/>
            </a:solidFill>
            <a:prstDash val="solid"/>
          </a:ln>
        </p:spPr>
      </p:sp>
      <p:sp>
        <p:nvSpPr>
          <p:cNvPr id="28" name="Text 26"/>
          <p:cNvSpPr/>
          <p:nvPr/>
        </p:nvSpPr>
        <p:spPr>
          <a:xfrm>
            <a:off x="914400" y="3611880"/>
            <a:ext cx="2743200" cy="274320"/>
          </a:xfrm>
          <a:prstGeom prst="rect">
            <a:avLst/>
          </a:prstGeom>
          <a:noFill/>
          <a:ln/>
        </p:spPr>
        <p:txBody>
          <a:bodyPr wrap="square" rtlCol="0" anchor="ctr"/>
          <a:lstStyle/>
          <a:p>
            <a:pPr indent="0" marL="0">
              <a:buNone/>
            </a:pPr>
            <a:r>
              <a:rPr lang="en-US" sz="1000" b="1" dirty="0">
                <a:solidFill>
                  <a:srgbClr val="393939"/>
                </a:solidFill>
                <a:latin typeface="Calibri" pitchFamily="34" charset="0"/>
                <a:ea typeface="Calibri" pitchFamily="34" charset="-122"/>
                <a:cs typeface="Calibri" pitchFamily="34" charset="-120"/>
              </a:rPr>
              <a:t>Revenue by Month</a:t>
            </a:r>
            <a:endParaRPr lang="en-US" sz="1000" dirty="0"/>
          </a:p>
        </p:txBody>
      </p:sp>
      <p:sp>
        <p:nvSpPr>
          <p:cNvPr id="29" name="Shape 27"/>
          <p:cNvSpPr/>
          <p:nvPr/>
        </p:nvSpPr>
        <p:spPr>
          <a:xfrm>
            <a:off x="1005840" y="4709160"/>
            <a:ext cx="274320" cy="502920"/>
          </a:xfrm>
          <a:prstGeom prst="rect">
            <a:avLst/>
          </a:prstGeom>
          <a:solidFill>
            <a:srgbClr val="0F62FE"/>
          </a:solidFill>
          <a:ln/>
        </p:spPr>
      </p:sp>
      <p:sp>
        <p:nvSpPr>
          <p:cNvPr id="30" name="Shape 28"/>
          <p:cNvSpPr/>
          <p:nvPr/>
        </p:nvSpPr>
        <p:spPr>
          <a:xfrm>
            <a:off x="1417320" y="4407408"/>
            <a:ext cx="274320" cy="804672"/>
          </a:xfrm>
          <a:prstGeom prst="rect">
            <a:avLst/>
          </a:prstGeom>
          <a:solidFill>
            <a:srgbClr val="0F62FE"/>
          </a:solidFill>
          <a:ln/>
        </p:spPr>
      </p:sp>
      <p:sp>
        <p:nvSpPr>
          <p:cNvPr id="31" name="Shape 29"/>
          <p:cNvSpPr/>
          <p:nvPr/>
        </p:nvSpPr>
        <p:spPr>
          <a:xfrm>
            <a:off x="1828800" y="4608576"/>
            <a:ext cx="274320" cy="603504"/>
          </a:xfrm>
          <a:prstGeom prst="rect">
            <a:avLst/>
          </a:prstGeom>
          <a:solidFill>
            <a:srgbClr val="0F62FE"/>
          </a:solidFill>
          <a:ln/>
        </p:spPr>
      </p:sp>
      <p:sp>
        <p:nvSpPr>
          <p:cNvPr id="32" name="Shape 30"/>
          <p:cNvSpPr/>
          <p:nvPr/>
        </p:nvSpPr>
        <p:spPr>
          <a:xfrm>
            <a:off x="2240280" y="4206240"/>
            <a:ext cx="274320" cy="1005840"/>
          </a:xfrm>
          <a:prstGeom prst="rect">
            <a:avLst/>
          </a:prstGeom>
          <a:solidFill>
            <a:srgbClr val="0F62FE"/>
          </a:solidFill>
          <a:ln/>
        </p:spPr>
      </p:sp>
      <p:sp>
        <p:nvSpPr>
          <p:cNvPr id="33" name="Shape 31"/>
          <p:cNvSpPr/>
          <p:nvPr/>
        </p:nvSpPr>
        <p:spPr>
          <a:xfrm>
            <a:off x="2651760" y="4457700"/>
            <a:ext cx="274320" cy="754380"/>
          </a:xfrm>
          <a:prstGeom prst="rect">
            <a:avLst/>
          </a:prstGeom>
          <a:solidFill>
            <a:srgbClr val="0F62FE"/>
          </a:solidFill>
          <a:ln/>
        </p:spPr>
      </p:sp>
      <p:sp>
        <p:nvSpPr>
          <p:cNvPr id="34" name="Shape 32"/>
          <p:cNvSpPr/>
          <p:nvPr/>
        </p:nvSpPr>
        <p:spPr>
          <a:xfrm>
            <a:off x="3063240" y="4005072"/>
            <a:ext cx="274320" cy="1207008"/>
          </a:xfrm>
          <a:prstGeom prst="rect">
            <a:avLst/>
          </a:prstGeom>
          <a:solidFill>
            <a:srgbClr val="0F62FE"/>
          </a:solidFill>
          <a:ln/>
        </p:spPr>
      </p:sp>
      <p:sp>
        <p:nvSpPr>
          <p:cNvPr id="35" name="Shape 33"/>
          <p:cNvSpPr/>
          <p:nvPr/>
        </p:nvSpPr>
        <p:spPr>
          <a:xfrm>
            <a:off x="3886200" y="3520440"/>
            <a:ext cx="2926080" cy="1920240"/>
          </a:xfrm>
          <a:prstGeom prst="roundRect">
            <a:avLst>
              <a:gd name="adj" fmla="val 3810"/>
            </a:avLst>
          </a:prstGeom>
          <a:solidFill>
            <a:srgbClr val="FFFFFF"/>
          </a:solidFill>
          <a:ln w="9525">
            <a:solidFill>
              <a:srgbClr val="E0E0E0"/>
            </a:solidFill>
            <a:prstDash val="solid"/>
          </a:ln>
        </p:spPr>
      </p:sp>
      <p:sp>
        <p:nvSpPr>
          <p:cNvPr id="36" name="Text 34"/>
          <p:cNvSpPr/>
          <p:nvPr/>
        </p:nvSpPr>
        <p:spPr>
          <a:xfrm>
            <a:off x="4023360" y="3611880"/>
            <a:ext cx="2743200" cy="274320"/>
          </a:xfrm>
          <a:prstGeom prst="rect">
            <a:avLst/>
          </a:prstGeom>
          <a:noFill/>
          <a:ln/>
        </p:spPr>
        <p:txBody>
          <a:bodyPr wrap="square" rtlCol="0" anchor="ctr"/>
          <a:lstStyle/>
          <a:p>
            <a:pPr indent="0" marL="0">
              <a:buNone/>
            </a:pPr>
            <a:r>
              <a:rPr lang="en-US" sz="1000" b="1" dirty="0">
                <a:solidFill>
                  <a:srgbClr val="393939"/>
                </a:solidFill>
                <a:latin typeface="Calibri" pitchFamily="34" charset="0"/>
                <a:ea typeface="Calibri" pitchFamily="34" charset="-122"/>
                <a:cs typeface="Calibri" pitchFamily="34" charset="-120"/>
              </a:rPr>
              <a:t>Share by Region</a:t>
            </a:r>
            <a:endParaRPr lang="en-US" sz="1000" dirty="0"/>
          </a:p>
        </p:txBody>
      </p:sp>
      <p:graphicFrame>
        <p:nvGraphicFramePr>
          <p:cNvPr id="37" name="Chart 0" descr=""/>
          <p:cNvGraphicFramePr/>
          <p:nvPr/>
        </p:nvGraphicFramePr>
        <p:xfrm>
          <a:off x="4526280" y="3886200"/>
          <a:ext cx="1554480" cy="1463040"/>
        </p:xfrm>
        <a:graphic xmlns:a="http://schemas.openxmlformats.org/drawingml/2006/main">
          <a:graphicData uri="http://schemas.openxmlformats.org/drawingml/2006/chart">
            <c:chart xmlns:c="http://schemas.openxmlformats.org/drawingml/2006/chart" r:id="rId1"/>
          </a:graphicData>
        </a:graphic>
      </p:graphicFrame>
      <p:sp>
        <p:nvSpPr>
          <p:cNvPr id="38" name="Shape 35"/>
          <p:cNvSpPr/>
          <p:nvPr/>
        </p:nvSpPr>
        <p:spPr>
          <a:xfrm>
            <a:off x="7360920" y="1508760"/>
            <a:ext cx="384048" cy="384048"/>
          </a:xfrm>
          <a:prstGeom prst="ellipse">
            <a:avLst/>
          </a:prstGeom>
          <a:solidFill>
            <a:srgbClr val="0F62FE"/>
          </a:solidFill>
          <a:ln/>
        </p:spPr>
      </p:sp>
      <p:pic>
        <p:nvPicPr>
          <p:cNvPr id="39" name="Image 0" descr="/home/claude/icons/dashboard_FFFFFF.png">    </p:cNvPr>
          <p:cNvPicPr>
            <a:picLocks noChangeAspect="1"/>
          </p:cNvPicPr>
          <p:nvPr/>
        </p:nvPicPr>
        <p:blipFill>
          <a:blip r:embed="rId2"/>
          <a:stretch>
            <a:fillRect/>
          </a:stretch>
        </p:blipFill>
        <p:spPr>
          <a:xfrm>
            <a:off x="7460772" y="1608612"/>
            <a:ext cx="184343" cy="184343"/>
          </a:xfrm>
          <a:prstGeom prst="rect">
            <a:avLst/>
          </a:prstGeom>
        </p:spPr>
      </p:pic>
      <p:sp>
        <p:nvSpPr>
          <p:cNvPr id="40" name="Text 36"/>
          <p:cNvSpPr/>
          <p:nvPr/>
        </p:nvSpPr>
        <p:spPr>
          <a:xfrm>
            <a:off x="7863840" y="1481328"/>
            <a:ext cx="4297680" cy="274320"/>
          </a:xfrm>
          <a:prstGeom prst="rect">
            <a:avLst/>
          </a:prstGeom>
          <a:noFill/>
          <a:ln/>
        </p:spPr>
        <p:txBody>
          <a:bodyPr wrap="square" rtlCol="0" anchor="ctr"/>
          <a:lstStyle/>
          <a:p>
            <a:pPr indent="0" marL="0">
              <a:buNone/>
            </a:pPr>
            <a:r>
              <a:rPr lang="en-US" sz="1200" b="1" dirty="0">
                <a:solidFill>
                  <a:srgbClr val="161616"/>
                </a:solidFill>
                <a:latin typeface="Calibri" pitchFamily="34" charset="0"/>
                <a:ea typeface="Calibri" pitchFamily="34" charset="-122"/>
                <a:cs typeface="Calibri" pitchFamily="34" charset="-120"/>
              </a:rPr>
              <a:t>Widgets</a:t>
            </a:r>
            <a:endParaRPr lang="en-US" sz="1200" dirty="0"/>
          </a:p>
        </p:txBody>
      </p:sp>
      <p:sp>
        <p:nvSpPr>
          <p:cNvPr id="41" name="Text 37"/>
          <p:cNvSpPr/>
          <p:nvPr/>
        </p:nvSpPr>
        <p:spPr>
          <a:xfrm>
            <a:off x="7863840" y="1737360"/>
            <a:ext cx="4297680" cy="365760"/>
          </a:xfrm>
          <a:prstGeom prst="rect">
            <a:avLst/>
          </a:prstGeom>
          <a:noFill/>
          <a:ln/>
        </p:spPr>
        <p:txBody>
          <a:bodyPr wrap="square" rtlCol="0" anchor="ctr"/>
          <a:lstStyle/>
          <a:p>
            <a:pPr indent="0" marL="0">
              <a:buNone/>
            </a:pPr>
            <a:r>
              <a:rPr lang="en-US" sz="950" dirty="0">
                <a:solidFill>
                  <a:srgbClr val="525252"/>
                </a:solidFill>
                <a:latin typeface="Calibri" pitchFamily="34" charset="0"/>
                <a:ea typeface="Calibri" pitchFamily="34" charset="-122"/>
                <a:cs typeface="Calibri" pitchFamily="34" charset="-120"/>
              </a:rPr>
              <a:t>Drag-and-drop visual blocks — charts, lists, KPIs, images.</a:t>
            </a:r>
            <a:endParaRPr lang="en-US" sz="950" dirty="0"/>
          </a:p>
        </p:txBody>
      </p:sp>
      <p:sp>
        <p:nvSpPr>
          <p:cNvPr id="42" name="Shape 38"/>
          <p:cNvSpPr/>
          <p:nvPr/>
        </p:nvSpPr>
        <p:spPr>
          <a:xfrm>
            <a:off x="7360920" y="2231136"/>
            <a:ext cx="384048" cy="384048"/>
          </a:xfrm>
          <a:prstGeom prst="ellipse">
            <a:avLst/>
          </a:prstGeom>
          <a:solidFill>
            <a:srgbClr val="0F62FE"/>
          </a:solidFill>
          <a:ln/>
        </p:spPr>
      </p:sp>
      <p:pic>
        <p:nvPicPr>
          <p:cNvPr id="43" name="Image 1" descr="/home/claude/icons/chartpie_FFFFFF.png">    </p:cNvPr>
          <p:cNvPicPr>
            <a:picLocks noChangeAspect="1"/>
          </p:cNvPicPr>
          <p:nvPr/>
        </p:nvPicPr>
        <p:blipFill>
          <a:blip r:embed="rId3"/>
          <a:stretch>
            <a:fillRect/>
          </a:stretch>
        </p:blipFill>
        <p:spPr>
          <a:xfrm>
            <a:off x="7460772" y="2330988"/>
            <a:ext cx="184343" cy="184343"/>
          </a:xfrm>
          <a:prstGeom prst="rect">
            <a:avLst/>
          </a:prstGeom>
        </p:spPr>
      </p:pic>
      <p:sp>
        <p:nvSpPr>
          <p:cNvPr id="44" name="Text 39"/>
          <p:cNvSpPr/>
          <p:nvPr/>
        </p:nvSpPr>
        <p:spPr>
          <a:xfrm>
            <a:off x="7863840" y="2203704"/>
            <a:ext cx="4297680" cy="274320"/>
          </a:xfrm>
          <a:prstGeom prst="rect">
            <a:avLst/>
          </a:prstGeom>
          <a:noFill/>
          <a:ln/>
        </p:spPr>
        <p:txBody>
          <a:bodyPr wrap="square" rtlCol="0" anchor="ctr"/>
          <a:lstStyle/>
          <a:p>
            <a:pPr indent="0" marL="0">
              <a:buNone/>
            </a:pPr>
            <a:r>
              <a:rPr lang="en-US" sz="1200" b="1" dirty="0">
                <a:solidFill>
                  <a:srgbClr val="161616"/>
                </a:solidFill>
                <a:latin typeface="Calibri" pitchFamily="34" charset="0"/>
                <a:ea typeface="Calibri" pitchFamily="34" charset="-122"/>
                <a:cs typeface="Calibri" pitchFamily="34" charset="-120"/>
              </a:rPr>
              <a:t>Visualizations</a:t>
            </a:r>
            <a:endParaRPr lang="en-US" sz="1200" dirty="0"/>
          </a:p>
        </p:txBody>
      </p:sp>
      <p:sp>
        <p:nvSpPr>
          <p:cNvPr id="45" name="Text 40"/>
          <p:cNvSpPr/>
          <p:nvPr/>
        </p:nvSpPr>
        <p:spPr>
          <a:xfrm>
            <a:off x="7863840" y="2459736"/>
            <a:ext cx="4297680" cy="365760"/>
          </a:xfrm>
          <a:prstGeom prst="rect">
            <a:avLst/>
          </a:prstGeom>
          <a:noFill/>
          <a:ln/>
        </p:spPr>
        <p:txBody>
          <a:bodyPr wrap="square" rtlCol="0" anchor="ctr"/>
          <a:lstStyle/>
          <a:p>
            <a:pPr indent="0" marL="0">
              <a:buNone/>
            </a:pPr>
            <a:r>
              <a:rPr lang="en-US" sz="950" dirty="0">
                <a:solidFill>
                  <a:srgbClr val="525252"/>
                </a:solidFill>
                <a:latin typeface="Calibri" pitchFamily="34" charset="0"/>
                <a:ea typeface="Calibri" pitchFamily="34" charset="-122"/>
                <a:cs typeface="Calibri" pitchFamily="34" charset="-120"/>
              </a:rPr>
              <a:t>Multiple chart types auto-suggested based on your data.</a:t>
            </a:r>
            <a:endParaRPr lang="en-US" sz="950" dirty="0"/>
          </a:p>
        </p:txBody>
      </p:sp>
      <p:sp>
        <p:nvSpPr>
          <p:cNvPr id="46" name="Shape 41"/>
          <p:cNvSpPr/>
          <p:nvPr/>
        </p:nvSpPr>
        <p:spPr>
          <a:xfrm>
            <a:off x="7360920" y="2953512"/>
            <a:ext cx="384048" cy="384048"/>
          </a:xfrm>
          <a:prstGeom prst="ellipse">
            <a:avLst/>
          </a:prstGeom>
          <a:solidFill>
            <a:srgbClr val="0F62FE"/>
          </a:solidFill>
          <a:ln/>
        </p:spPr>
      </p:sp>
      <p:pic>
        <p:nvPicPr>
          <p:cNvPr id="47" name="Image 2" descr="/home/claude/icons/filter_FFFFFF.png">    </p:cNvPr>
          <p:cNvPicPr>
            <a:picLocks noChangeAspect="1"/>
          </p:cNvPicPr>
          <p:nvPr/>
        </p:nvPicPr>
        <p:blipFill>
          <a:blip r:embed="rId4"/>
          <a:stretch>
            <a:fillRect/>
          </a:stretch>
        </p:blipFill>
        <p:spPr>
          <a:xfrm>
            <a:off x="7460772" y="3053364"/>
            <a:ext cx="184343" cy="184343"/>
          </a:xfrm>
          <a:prstGeom prst="rect">
            <a:avLst/>
          </a:prstGeom>
        </p:spPr>
      </p:pic>
      <p:sp>
        <p:nvSpPr>
          <p:cNvPr id="48" name="Text 42"/>
          <p:cNvSpPr/>
          <p:nvPr/>
        </p:nvSpPr>
        <p:spPr>
          <a:xfrm>
            <a:off x="7863840" y="2926080"/>
            <a:ext cx="4297680" cy="274320"/>
          </a:xfrm>
          <a:prstGeom prst="rect">
            <a:avLst/>
          </a:prstGeom>
          <a:noFill/>
          <a:ln/>
        </p:spPr>
        <p:txBody>
          <a:bodyPr wrap="square" rtlCol="0" anchor="ctr"/>
          <a:lstStyle/>
          <a:p>
            <a:pPr indent="0" marL="0">
              <a:buNone/>
            </a:pPr>
            <a:r>
              <a:rPr lang="en-US" sz="1200" b="1" dirty="0">
                <a:solidFill>
                  <a:srgbClr val="161616"/>
                </a:solidFill>
                <a:latin typeface="Calibri" pitchFamily="34" charset="0"/>
                <a:ea typeface="Calibri" pitchFamily="34" charset="-122"/>
                <a:cs typeface="Calibri" pitchFamily="34" charset="-120"/>
              </a:rPr>
              <a:t>Filters</a:t>
            </a:r>
            <a:endParaRPr lang="en-US" sz="1200" dirty="0"/>
          </a:p>
        </p:txBody>
      </p:sp>
      <p:sp>
        <p:nvSpPr>
          <p:cNvPr id="49" name="Text 43"/>
          <p:cNvSpPr/>
          <p:nvPr/>
        </p:nvSpPr>
        <p:spPr>
          <a:xfrm>
            <a:off x="7863840" y="3182112"/>
            <a:ext cx="4297680" cy="365760"/>
          </a:xfrm>
          <a:prstGeom prst="rect">
            <a:avLst/>
          </a:prstGeom>
          <a:noFill/>
          <a:ln/>
        </p:spPr>
        <p:txBody>
          <a:bodyPr wrap="square" rtlCol="0" anchor="ctr"/>
          <a:lstStyle/>
          <a:p>
            <a:pPr indent="0" marL="0">
              <a:buNone/>
            </a:pPr>
            <a:r>
              <a:rPr lang="en-US" sz="950" dirty="0">
                <a:solidFill>
                  <a:srgbClr val="525252"/>
                </a:solidFill>
                <a:latin typeface="Calibri" pitchFamily="34" charset="0"/>
                <a:ea typeface="Calibri" pitchFamily="34" charset="-122"/>
                <a:cs typeface="Calibri" pitchFamily="34" charset="-120"/>
              </a:rPr>
              <a:t>Slice the dashboard by region, date, or any dimension.</a:t>
            </a:r>
            <a:endParaRPr lang="en-US" sz="950" dirty="0"/>
          </a:p>
        </p:txBody>
      </p:sp>
      <p:sp>
        <p:nvSpPr>
          <p:cNvPr id="50" name="Shape 44"/>
          <p:cNvSpPr/>
          <p:nvPr/>
        </p:nvSpPr>
        <p:spPr>
          <a:xfrm>
            <a:off x="7360920" y="3675888"/>
            <a:ext cx="384048" cy="384048"/>
          </a:xfrm>
          <a:prstGeom prst="ellipse">
            <a:avLst/>
          </a:prstGeom>
          <a:solidFill>
            <a:srgbClr val="0F62FE"/>
          </a:solidFill>
          <a:ln/>
        </p:spPr>
      </p:sp>
      <p:pic>
        <p:nvPicPr>
          <p:cNvPr id="51" name="Image 3" descr="/home/claude/icons/drilldown_FFFFFF.png">    </p:cNvPr>
          <p:cNvPicPr>
            <a:picLocks noChangeAspect="1"/>
          </p:cNvPicPr>
          <p:nvPr/>
        </p:nvPicPr>
        <p:blipFill>
          <a:blip r:embed="rId5"/>
          <a:stretch>
            <a:fillRect/>
          </a:stretch>
        </p:blipFill>
        <p:spPr>
          <a:xfrm>
            <a:off x="7460772" y="3775740"/>
            <a:ext cx="184343" cy="184343"/>
          </a:xfrm>
          <a:prstGeom prst="rect">
            <a:avLst/>
          </a:prstGeom>
        </p:spPr>
      </p:pic>
      <p:sp>
        <p:nvSpPr>
          <p:cNvPr id="52" name="Text 45"/>
          <p:cNvSpPr/>
          <p:nvPr/>
        </p:nvSpPr>
        <p:spPr>
          <a:xfrm>
            <a:off x="7863840" y="3648456"/>
            <a:ext cx="4297680" cy="274320"/>
          </a:xfrm>
          <a:prstGeom prst="rect">
            <a:avLst/>
          </a:prstGeom>
          <a:noFill/>
          <a:ln/>
        </p:spPr>
        <p:txBody>
          <a:bodyPr wrap="square" rtlCol="0" anchor="ctr"/>
          <a:lstStyle/>
          <a:p>
            <a:pPr indent="0" marL="0">
              <a:buNone/>
            </a:pPr>
            <a:r>
              <a:rPr lang="en-US" sz="1200" b="1" dirty="0">
                <a:solidFill>
                  <a:srgbClr val="161616"/>
                </a:solidFill>
                <a:latin typeface="Calibri" pitchFamily="34" charset="0"/>
                <a:ea typeface="Calibri" pitchFamily="34" charset="-122"/>
                <a:cs typeface="Calibri" pitchFamily="34" charset="-120"/>
              </a:rPr>
              <a:t>Drill-down</a:t>
            </a:r>
            <a:endParaRPr lang="en-US" sz="1200" dirty="0"/>
          </a:p>
        </p:txBody>
      </p:sp>
      <p:sp>
        <p:nvSpPr>
          <p:cNvPr id="53" name="Text 46"/>
          <p:cNvSpPr/>
          <p:nvPr/>
        </p:nvSpPr>
        <p:spPr>
          <a:xfrm>
            <a:off x="7863840" y="3904488"/>
            <a:ext cx="4297680" cy="365760"/>
          </a:xfrm>
          <a:prstGeom prst="rect">
            <a:avLst/>
          </a:prstGeom>
          <a:noFill/>
          <a:ln/>
        </p:spPr>
        <p:txBody>
          <a:bodyPr wrap="square" rtlCol="0" anchor="ctr"/>
          <a:lstStyle/>
          <a:p>
            <a:pPr indent="0" marL="0">
              <a:buNone/>
            </a:pPr>
            <a:r>
              <a:rPr lang="en-US" sz="950" dirty="0">
                <a:solidFill>
                  <a:srgbClr val="525252"/>
                </a:solidFill>
                <a:latin typeface="Calibri" pitchFamily="34" charset="0"/>
                <a:ea typeface="Calibri" pitchFamily="34" charset="-122"/>
                <a:cs typeface="Calibri" pitchFamily="34" charset="-120"/>
              </a:rPr>
              <a:t>Click a chart segment to see the next level of detail.</a:t>
            </a:r>
            <a:endParaRPr lang="en-US" sz="950" dirty="0"/>
          </a:p>
        </p:txBody>
      </p:sp>
      <p:sp>
        <p:nvSpPr>
          <p:cNvPr id="54" name="Shape 47"/>
          <p:cNvSpPr/>
          <p:nvPr/>
        </p:nvSpPr>
        <p:spPr>
          <a:xfrm>
            <a:off x="7360920" y="4398264"/>
            <a:ext cx="384048" cy="384048"/>
          </a:xfrm>
          <a:prstGeom prst="ellipse">
            <a:avLst/>
          </a:prstGeom>
          <a:solidFill>
            <a:srgbClr val="0F62FE"/>
          </a:solidFill>
          <a:ln/>
        </p:spPr>
      </p:sp>
      <p:pic>
        <p:nvPicPr>
          <p:cNvPr id="55" name="Image 4" descr="/home/claude/icons/gauge_FFFFFF.png">    </p:cNvPr>
          <p:cNvPicPr>
            <a:picLocks noChangeAspect="1"/>
          </p:cNvPicPr>
          <p:nvPr/>
        </p:nvPicPr>
        <p:blipFill>
          <a:blip r:embed="rId6"/>
          <a:stretch>
            <a:fillRect/>
          </a:stretch>
        </p:blipFill>
        <p:spPr>
          <a:xfrm>
            <a:off x="7460772" y="4498116"/>
            <a:ext cx="184343" cy="184343"/>
          </a:xfrm>
          <a:prstGeom prst="rect">
            <a:avLst/>
          </a:prstGeom>
        </p:spPr>
      </p:pic>
      <p:sp>
        <p:nvSpPr>
          <p:cNvPr id="56" name="Text 48"/>
          <p:cNvSpPr/>
          <p:nvPr/>
        </p:nvSpPr>
        <p:spPr>
          <a:xfrm>
            <a:off x="7863840" y="4370832"/>
            <a:ext cx="4297680" cy="274320"/>
          </a:xfrm>
          <a:prstGeom prst="rect">
            <a:avLst/>
          </a:prstGeom>
          <a:noFill/>
          <a:ln/>
        </p:spPr>
        <p:txBody>
          <a:bodyPr wrap="square" rtlCol="0" anchor="ctr"/>
          <a:lstStyle/>
          <a:p>
            <a:pPr indent="0" marL="0">
              <a:buNone/>
            </a:pPr>
            <a:r>
              <a:rPr lang="en-US" sz="1200" b="1" dirty="0">
                <a:solidFill>
                  <a:srgbClr val="161616"/>
                </a:solidFill>
                <a:latin typeface="Calibri" pitchFamily="34" charset="0"/>
                <a:ea typeface="Calibri" pitchFamily="34" charset="-122"/>
                <a:cs typeface="Calibri" pitchFamily="34" charset="-120"/>
              </a:rPr>
              <a:t>KPI Cards</a:t>
            </a:r>
            <a:endParaRPr lang="en-US" sz="1200" dirty="0"/>
          </a:p>
        </p:txBody>
      </p:sp>
      <p:sp>
        <p:nvSpPr>
          <p:cNvPr id="57" name="Text 49"/>
          <p:cNvSpPr/>
          <p:nvPr/>
        </p:nvSpPr>
        <p:spPr>
          <a:xfrm>
            <a:off x="7863840" y="4626864"/>
            <a:ext cx="4297680" cy="365760"/>
          </a:xfrm>
          <a:prstGeom prst="rect">
            <a:avLst/>
          </a:prstGeom>
          <a:noFill/>
          <a:ln/>
        </p:spPr>
        <p:txBody>
          <a:bodyPr wrap="square" rtlCol="0" anchor="ctr"/>
          <a:lstStyle/>
          <a:p>
            <a:pPr indent="0" marL="0">
              <a:buNone/>
            </a:pPr>
            <a:r>
              <a:rPr lang="en-US" sz="950" dirty="0">
                <a:solidFill>
                  <a:srgbClr val="525252"/>
                </a:solidFill>
                <a:latin typeface="Calibri" pitchFamily="34" charset="0"/>
                <a:ea typeface="Calibri" pitchFamily="34" charset="-122"/>
                <a:cs typeface="Calibri" pitchFamily="34" charset="-120"/>
              </a:rPr>
              <a:t>Highlight key numbers like revenue or SLA at a glance.</a:t>
            </a:r>
            <a:endParaRPr lang="en-US" sz="950" dirty="0"/>
          </a:p>
        </p:txBody>
      </p:sp>
      <p:sp>
        <p:nvSpPr>
          <p:cNvPr id="58" name="Shape 50"/>
          <p:cNvSpPr/>
          <p:nvPr/>
        </p:nvSpPr>
        <p:spPr>
          <a:xfrm>
            <a:off x="7360920" y="5120640"/>
            <a:ext cx="384048" cy="384048"/>
          </a:xfrm>
          <a:prstGeom prst="ellipse">
            <a:avLst/>
          </a:prstGeom>
          <a:solidFill>
            <a:srgbClr val="0F62FE"/>
          </a:solidFill>
          <a:ln/>
        </p:spPr>
      </p:sp>
      <p:pic>
        <p:nvPicPr>
          <p:cNvPr id="59" name="Image 5" descr="/home/claude/icons/bolt_FFFFFF.png">    </p:cNvPr>
          <p:cNvPicPr>
            <a:picLocks noChangeAspect="1"/>
          </p:cNvPicPr>
          <p:nvPr/>
        </p:nvPicPr>
        <p:blipFill>
          <a:blip r:embed="rId7"/>
          <a:stretch>
            <a:fillRect/>
          </a:stretch>
        </p:blipFill>
        <p:spPr>
          <a:xfrm>
            <a:off x="7460772" y="5220492"/>
            <a:ext cx="184343" cy="184343"/>
          </a:xfrm>
          <a:prstGeom prst="rect">
            <a:avLst/>
          </a:prstGeom>
        </p:spPr>
      </p:pic>
      <p:sp>
        <p:nvSpPr>
          <p:cNvPr id="60" name="Text 51"/>
          <p:cNvSpPr/>
          <p:nvPr/>
        </p:nvSpPr>
        <p:spPr>
          <a:xfrm>
            <a:off x="7863840" y="5093208"/>
            <a:ext cx="4297680" cy="274320"/>
          </a:xfrm>
          <a:prstGeom prst="rect">
            <a:avLst/>
          </a:prstGeom>
          <a:noFill/>
          <a:ln/>
        </p:spPr>
        <p:txBody>
          <a:bodyPr wrap="square" rtlCol="0" anchor="ctr"/>
          <a:lstStyle/>
          <a:p>
            <a:pPr indent="0" marL="0">
              <a:buNone/>
            </a:pPr>
            <a:r>
              <a:rPr lang="en-US" sz="1200" b="1" dirty="0">
                <a:solidFill>
                  <a:srgbClr val="161616"/>
                </a:solidFill>
                <a:latin typeface="Calibri" pitchFamily="34" charset="0"/>
                <a:ea typeface="Calibri" pitchFamily="34" charset="-122"/>
                <a:cs typeface="Calibri" pitchFamily="34" charset="-120"/>
              </a:rPr>
              <a:t>Interactivity</a:t>
            </a:r>
            <a:endParaRPr lang="en-US" sz="1200" dirty="0"/>
          </a:p>
        </p:txBody>
      </p:sp>
      <p:sp>
        <p:nvSpPr>
          <p:cNvPr id="61" name="Text 52"/>
          <p:cNvSpPr/>
          <p:nvPr/>
        </p:nvSpPr>
        <p:spPr>
          <a:xfrm>
            <a:off x="7863840" y="5349240"/>
            <a:ext cx="4297680" cy="365760"/>
          </a:xfrm>
          <a:prstGeom prst="rect">
            <a:avLst/>
          </a:prstGeom>
          <a:noFill/>
          <a:ln/>
        </p:spPr>
        <p:txBody>
          <a:bodyPr wrap="square" rtlCol="0" anchor="ctr"/>
          <a:lstStyle/>
          <a:p>
            <a:pPr indent="0" marL="0">
              <a:buNone/>
            </a:pPr>
            <a:r>
              <a:rPr lang="en-US" sz="950" dirty="0">
                <a:solidFill>
                  <a:srgbClr val="525252"/>
                </a:solidFill>
                <a:latin typeface="Calibri" pitchFamily="34" charset="0"/>
                <a:ea typeface="Calibri" pitchFamily="34" charset="-122"/>
                <a:cs typeface="Calibri" pitchFamily="34" charset="-120"/>
              </a:rPr>
              <a:t>Widgets stay linked — one filter updates the whole dashboard.</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200" b="1" spc="100" kern="0" dirty="0">
                <a:solidFill>
                  <a:srgbClr val="0F62FE"/>
                </a:solidFill>
                <a:latin typeface="Calibri" pitchFamily="34" charset="0"/>
                <a:ea typeface="Calibri" pitchFamily="34" charset="-122"/>
                <a:cs typeface="Calibri" pitchFamily="34" charset="-120"/>
              </a:rPr>
              <a:t>SELF-SERVICE DATA PREPARATION</a:t>
            </a:r>
            <a:endParaRPr lang="en-US" sz="1200" dirty="0"/>
          </a:p>
        </p:txBody>
      </p:sp>
      <p:sp>
        <p:nvSpPr>
          <p:cNvPr id="3" name="Text 1"/>
          <p:cNvSpPr/>
          <p:nvPr/>
        </p:nvSpPr>
        <p:spPr>
          <a:xfrm>
            <a:off x="548640" y="566928"/>
            <a:ext cx="10789920" cy="685800"/>
          </a:xfrm>
          <a:prstGeom prst="rect">
            <a:avLst/>
          </a:prstGeom>
          <a:noFill/>
          <a:ln/>
        </p:spPr>
        <p:txBody>
          <a:bodyPr wrap="square" rtlCol="0" anchor="ctr"/>
          <a:lstStyle/>
          <a:p>
            <a:pPr indent="0" marL="0">
              <a:buNone/>
            </a:pPr>
            <a:r>
              <a:rPr lang="en-US" sz="3000" b="1" dirty="0">
                <a:solidFill>
                  <a:srgbClr val="161616"/>
                </a:solidFill>
                <a:latin typeface="Cambria" pitchFamily="34" charset="0"/>
                <a:ea typeface="Cambria" pitchFamily="34" charset="-122"/>
                <a:cs typeface="Cambria" pitchFamily="34" charset="-120"/>
              </a:rPr>
              <a:t>Data Modules</a:t>
            </a:r>
            <a:endParaRPr lang="en-US" sz="3000" dirty="0"/>
          </a:p>
        </p:txBody>
      </p:sp>
      <p:sp>
        <p:nvSpPr>
          <p:cNvPr id="4" name="Shape 2"/>
          <p:cNvSpPr/>
          <p:nvPr/>
        </p:nvSpPr>
        <p:spPr>
          <a:xfrm>
            <a:off x="548640" y="1298448"/>
            <a:ext cx="11064240" cy="18288"/>
          </a:xfrm>
          <a:prstGeom prst="rect">
            <a:avLst/>
          </a:prstGeom>
          <a:solidFill>
            <a:srgbClr val="E0E0E0"/>
          </a:solidFill>
          <a:ln/>
        </p:spPr>
      </p:sp>
      <p:sp>
        <p:nvSpPr>
          <p:cNvPr id="5" name="Text 3"/>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525252"/>
                </a:solidFill>
                <a:latin typeface="Calibri" pitchFamily="34" charset="0"/>
                <a:ea typeface="Calibri" pitchFamily="34" charset="-122"/>
                <a:cs typeface="Calibri" pitchFamily="34" charset="-120"/>
              </a:rPr>
              <a:t>IBM Cognos Analytics Overview  |  Knowledge Transfer</a:t>
            </a:r>
            <a:endParaRPr lang="en-US" sz="900" dirty="0"/>
          </a:p>
        </p:txBody>
      </p:sp>
      <p:sp>
        <p:nvSpPr>
          <p:cNvPr id="6" name="Text 4"/>
          <p:cNvSpPr/>
          <p:nvPr/>
        </p:nvSpPr>
        <p:spPr>
          <a:xfrm>
            <a:off x="11365992" y="6510528"/>
            <a:ext cx="457200" cy="274320"/>
          </a:xfrm>
          <a:prstGeom prst="rect">
            <a:avLst/>
          </a:prstGeom>
          <a:noFill/>
          <a:ln/>
        </p:spPr>
        <p:txBody>
          <a:bodyPr wrap="square" rtlCol="0" anchor="ctr"/>
          <a:lstStyle/>
          <a:p>
            <a:pPr algn="r" indent="0" marL="0">
              <a:buNone/>
            </a:pPr>
            <a:r>
              <a:rPr lang="en-US" sz="900" dirty="0">
                <a:solidFill>
                  <a:srgbClr val="525252"/>
                </a:solidFill>
                <a:latin typeface="Calibri" pitchFamily="34" charset="0"/>
                <a:ea typeface="Calibri" pitchFamily="34" charset="-122"/>
                <a:cs typeface="Calibri" pitchFamily="34" charset="-120"/>
              </a:rPr>
              <a:t>12</a:t>
            </a:r>
            <a:endParaRPr lang="en-US" sz="900" dirty="0"/>
          </a:p>
        </p:txBody>
      </p:sp>
      <p:sp>
        <p:nvSpPr>
          <p:cNvPr id="7" name="Text 5"/>
          <p:cNvSpPr/>
          <p:nvPr/>
        </p:nvSpPr>
        <p:spPr>
          <a:xfrm>
            <a:off x="548640" y="1417320"/>
            <a:ext cx="5486400" cy="320040"/>
          </a:xfrm>
          <a:prstGeom prst="rect">
            <a:avLst/>
          </a:prstGeom>
          <a:noFill/>
          <a:ln/>
        </p:spPr>
        <p:txBody>
          <a:bodyPr wrap="square" rtlCol="0" anchor="ctr"/>
          <a:lstStyle/>
          <a:p>
            <a:pPr indent="0" marL="0">
              <a:buNone/>
            </a:pPr>
            <a:r>
              <a:rPr lang="en-US" sz="1400" b="1" dirty="0">
                <a:solidFill>
                  <a:srgbClr val="161616"/>
                </a:solidFill>
                <a:latin typeface="Calibri" pitchFamily="34" charset="0"/>
                <a:ea typeface="Calibri" pitchFamily="34" charset="-122"/>
                <a:cs typeface="Calibri" pitchFamily="34" charset="-120"/>
              </a:rPr>
              <a:t>What are Data Modules?</a:t>
            </a:r>
            <a:endParaRPr lang="en-US" sz="1400" dirty="0"/>
          </a:p>
        </p:txBody>
      </p:sp>
      <p:sp>
        <p:nvSpPr>
          <p:cNvPr id="8" name="Text 6"/>
          <p:cNvSpPr/>
          <p:nvPr/>
        </p:nvSpPr>
        <p:spPr>
          <a:xfrm>
            <a:off x="548640" y="1737360"/>
            <a:ext cx="5486400" cy="777240"/>
          </a:xfrm>
          <a:prstGeom prst="rect">
            <a:avLst/>
          </a:prstGeom>
          <a:noFill/>
          <a:ln/>
        </p:spPr>
        <p:txBody>
          <a:bodyPr wrap="square" rtlCol="0" anchor="ctr"/>
          <a:lstStyle/>
          <a:p>
            <a:pPr indent="0" marL="0">
              <a:buNone/>
            </a:pPr>
            <a:r>
              <a:rPr lang="en-US" sz="1200" dirty="0">
                <a:solidFill>
                  <a:srgbClr val="525252"/>
                </a:solidFill>
                <a:latin typeface="Calibri" pitchFamily="34" charset="0"/>
                <a:ea typeface="Calibri" pitchFamily="34" charset="-122"/>
                <a:cs typeface="Calibri" pitchFamily="34" charset="-120"/>
              </a:rPr>
              <a:t>A web-based, lightweight way for business users to shape their own data — combining tables, files, and calculations — without needing Framework Manager.</a:t>
            </a:r>
            <a:endParaRPr lang="en-US" sz="1200" dirty="0"/>
          </a:p>
        </p:txBody>
      </p:sp>
      <p:sp>
        <p:nvSpPr>
          <p:cNvPr id="9" name="Shape 7"/>
          <p:cNvSpPr/>
          <p:nvPr/>
        </p:nvSpPr>
        <p:spPr>
          <a:xfrm>
            <a:off x="548640" y="2651760"/>
            <a:ext cx="2743200" cy="3566160"/>
          </a:xfrm>
          <a:prstGeom prst="roundRect">
            <a:avLst>
              <a:gd name="adj" fmla="val 2667"/>
            </a:avLst>
          </a:prstGeom>
          <a:solidFill>
            <a:srgbClr val="0043CE"/>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0" name="Text 8"/>
          <p:cNvSpPr/>
          <p:nvPr/>
        </p:nvSpPr>
        <p:spPr>
          <a:xfrm>
            <a:off x="548640" y="2788920"/>
            <a:ext cx="27432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Framework Manager</a:t>
            </a:r>
            <a:endParaRPr lang="en-US" sz="1300" dirty="0"/>
          </a:p>
        </p:txBody>
      </p:sp>
      <p:sp>
        <p:nvSpPr>
          <p:cNvPr id="11" name="Text 9"/>
          <p:cNvSpPr/>
          <p:nvPr/>
        </p:nvSpPr>
        <p:spPr>
          <a:xfrm>
            <a:off x="777240" y="3291840"/>
            <a:ext cx="2286000" cy="50292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 IT-managed, governed model</a:t>
            </a:r>
            <a:endParaRPr lang="en-US" sz="1000" dirty="0"/>
          </a:p>
        </p:txBody>
      </p:sp>
      <p:sp>
        <p:nvSpPr>
          <p:cNvPr id="12" name="Text 10"/>
          <p:cNvSpPr/>
          <p:nvPr/>
        </p:nvSpPr>
        <p:spPr>
          <a:xfrm>
            <a:off x="777240" y="3840480"/>
            <a:ext cx="2286000" cy="50292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 Desktop tool, formal deployment</a:t>
            </a:r>
            <a:endParaRPr lang="en-US" sz="1000" dirty="0"/>
          </a:p>
        </p:txBody>
      </p:sp>
      <p:sp>
        <p:nvSpPr>
          <p:cNvPr id="13" name="Text 11"/>
          <p:cNvSpPr/>
          <p:nvPr/>
        </p:nvSpPr>
        <p:spPr>
          <a:xfrm>
            <a:off x="777240" y="4389120"/>
            <a:ext cx="2286000" cy="50292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 Best for enterprise-wide reuse</a:t>
            </a:r>
            <a:endParaRPr lang="en-US" sz="1000" dirty="0"/>
          </a:p>
        </p:txBody>
      </p:sp>
      <p:sp>
        <p:nvSpPr>
          <p:cNvPr id="14" name="Shape 12"/>
          <p:cNvSpPr/>
          <p:nvPr/>
        </p:nvSpPr>
        <p:spPr>
          <a:xfrm>
            <a:off x="3429000" y="2651760"/>
            <a:ext cx="2743200" cy="3566160"/>
          </a:xfrm>
          <a:prstGeom prst="roundRect">
            <a:avLst>
              <a:gd name="adj" fmla="val 2667"/>
            </a:avLst>
          </a:prstGeom>
          <a:solidFill>
            <a:srgbClr val="007D79"/>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5" name="Text 13"/>
          <p:cNvSpPr/>
          <p:nvPr/>
        </p:nvSpPr>
        <p:spPr>
          <a:xfrm>
            <a:off x="3429000" y="2788920"/>
            <a:ext cx="27432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Data Modules</a:t>
            </a:r>
            <a:endParaRPr lang="en-US" sz="1300" dirty="0"/>
          </a:p>
        </p:txBody>
      </p:sp>
      <p:sp>
        <p:nvSpPr>
          <p:cNvPr id="16" name="Text 14"/>
          <p:cNvSpPr/>
          <p:nvPr/>
        </p:nvSpPr>
        <p:spPr>
          <a:xfrm>
            <a:off x="3657600" y="3291840"/>
            <a:ext cx="2286000" cy="50292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 Business-user friendly, web-based</a:t>
            </a:r>
            <a:endParaRPr lang="en-US" sz="1000" dirty="0"/>
          </a:p>
        </p:txBody>
      </p:sp>
      <p:sp>
        <p:nvSpPr>
          <p:cNvPr id="17" name="Text 15"/>
          <p:cNvSpPr/>
          <p:nvPr/>
        </p:nvSpPr>
        <p:spPr>
          <a:xfrm>
            <a:off x="3657600" y="3840480"/>
            <a:ext cx="2286000" cy="50292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 Faster to build and iterate</a:t>
            </a:r>
            <a:endParaRPr lang="en-US" sz="1000" dirty="0"/>
          </a:p>
        </p:txBody>
      </p:sp>
      <p:sp>
        <p:nvSpPr>
          <p:cNvPr id="18" name="Text 16"/>
          <p:cNvSpPr/>
          <p:nvPr/>
        </p:nvSpPr>
        <p:spPr>
          <a:xfrm>
            <a:off x="3657600" y="4389120"/>
            <a:ext cx="2286000" cy="50292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 Best for self-service analytics</a:t>
            </a:r>
            <a:endParaRPr lang="en-US" sz="1000" dirty="0"/>
          </a:p>
        </p:txBody>
      </p:sp>
      <p:sp>
        <p:nvSpPr>
          <p:cNvPr id="19" name="Shape 17"/>
          <p:cNvSpPr/>
          <p:nvPr/>
        </p:nvSpPr>
        <p:spPr>
          <a:xfrm>
            <a:off x="6446520" y="2651760"/>
            <a:ext cx="5166360" cy="3566160"/>
          </a:xfrm>
          <a:prstGeom prst="roundRect">
            <a:avLst>
              <a:gd name="adj" fmla="val 2051"/>
            </a:avLst>
          </a:prstGeom>
          <a:solidFill>
            <a:srgbClr val="F4F4F4"/>
          </a:solidFill>
          <a:ln w="9525">
            <a:solidFill>
              <a:srgbClr val="E0E0E0"/>
            </a:solidFill>
            <a:prstDash val="solid"/>
          </a:ln>
        </p:spPr>
      </p:sp>
      <p:sp>
        <p:nvSpPr>
          <p:cNvPr id="20" name="Text 18"/>
          <p:cNvSpPr/>
          <p:nvPr/>
        </p:nvSpPr>
        <p:spPr>
          <a:xfrm>
            <a:off x="6675120" y="2788920"/>
            <a:ext cx="4572000" cy="32004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Key Capabilities</a:t>
            </a:r>
            <a:endParaRPr lang="en-US" sz="1300" dirty="0"/>
          </a:p>
        </p:txBody>
      </p:sp>
      <p:sp>
        <p:nvSpPr>
          <p:cNvPr id="21" name="Text 19"/>
          <p:cNvSpPr/>
          <p:nvPr/>
        </p:nvSpPr>
        <p:spPr>
          <a:xfrm>
            <a:off x="6675120" y="3154680"/>
            <a:ext cx="4754880" cy="2926080"/>
          </a:xfrm>
          <a:prstGeom prst="rect">
            <a:avLst/>
          </a:prstGeom>
          <a:noFill/>
          <a:ln/>
        </p:spPr>
        <p:txBody>
          <a:bodyPr wrap="square" rtlCol="0" anchor="t"/>
          <a:lstStyle/>
          <a:p>
            <a:pPr marL="228600" indent="-228600">
              <a:spcAft>
                <a:spcPts val="1200"/>
              </a:spcAft>
              <a:buSzPct val="100000"/>
              <a:buChar char="●"/>
            </a:pPr>
            <a:r>
              <a:rPr lang="en-US" sz="1200" dirty="0">
                <a:solidFill>
                  <a:srgbClr val="161616"/>
                </a:solidFill>
                <a:latin typeface="Calibri" pitchFamily="34" charset="0"/>
                <a:ea typeface="Calibri" pitchFamily="34" charset="-122"/>
                <a:cs typeface="Calibri" pitchFamily="34" charset="-120"/>
              </a:rPr>
              <a:t>Joins: link two tables (e.g. Orders to Products) visually</a:t>
            </a:r>
            <a:endParaRPr lang="en-US" sz="1200" dirty="0"/>
          </a:p>
          <a:p>
            <a:pPr marL="228600" indent="-228600">
              <a:spcAft>
                <a:spcPts val="1200"/>
              </a:spcAft>
              <a:buSzPct val="100000"/>
              <a:buChar char="●"/>
            </a:pPr>
            <a:r>
              <a:rPr lang="en-US" sz="1200" dirty="0">
                <a:solidFill>
                  <a:srgbClr val="161616"/>
                </a:solidFill>
                <a:latin typeface="Calibri" pitchFamily="34" charset="0"/>
                <a:ea typeface="Calibri" pitchFamily="34" charset="-122"/>
                <a:cs typeface="Calibri" pitchFamily="34" charset="-120"/>
              </a:rPr>
              <a:t>Calculations: create new fields, e.g. Profit = Revenue − Cost</a:t>
            </a:r>
            <a:endParaRPr lang="en-US" sz="1200" dirty="0"/>
          </a:p>
          <a:p>
            <a:pPr marL="228600" indent="-228600">
              <a:spcAft>
                <a:spcPts val="1200"/>
              </a:spcAft>
              <a:buSzPct val="100000"/>
              <a:buChar char="●"/>
            </a:pPr>
            <a:r>
              <a:rPr lang="en-US" sz="1200" dirty="0">
                <a:solidFill>
                  <a:srgbClr val="161616"/>
                </a:solidFill>
                <a:latin typeface="Calibri" pitchFamily="34" charset="0"/>
                <a:ea typeface="Calibri" pitchFamily="34" charset="-122"/>
                <a:cs typeface="Calibri" pitchFamily="34" charset="-120"/>
              </a:rPr>
              <a:t>Uploading files: add an Excel or CSV file as a data source</a:t>
            </a:r>
            <a:endParaRPr lang="en-US" sz="1200" dirty="0"/>
          </a:p>
          <a:p>
            <a:pPr marL="228600" indent="-228600">
              <a:spcAft>
                <a:spcPts val="1200"/>
              </a:spcAft>
              <a:buSzPct val="100000"/>
              <a:buChar char="●"/>
            </a:pPr>
            <a:r>
              <a:rPr lang="en-US" sz="1200" dirty="0">
                <a:solidFill>
                  <a:srgbClr val="161616"/>
                </a:solidFill>
                <a:latin typeface="Calibri" pitchFamily="34" charset="0"/>
                <a:ea typeface="Calibri" pitchFamily="34" charset="-122"/>
                <a:cs typeface="Calibri" pitchFamily="34" charset="-120"/>
              </a:rPr>
              <a:t>Self-service analytics: blend uploaded files with governed data</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200" b="1" spc="100" kern="0" dirty="0">
                <a:solidFill>
                  <a:srgbClr val="0F62FE"/>
                </a:solidFill>
                <a:latin typeface="Calibri" pitchFamily="34" charset="0"/>
                <a:ea typeface="Calibri" pitchFamily="34" charset="-122"/>
                <a:cs typeface="Calibri" pitchFamily="34" charset="-120"/>
              </a:rPr>
              <a:t>WORKING WITH DATA IN REPORTS</a:t>
            </a:r>
            <a:endParaRPr lang="en-US" sz="1200" dirty="0"/>
          </a:p>
        </p:txBody>
      </p:sp>
      <p:sp>
        <p:nvSpPr>
          <p:cNvPr id="3" name="Text 1"/>
          <p:cNvSpPr/>
          <p:nvPr/>
        </p:nvSpPr>
        <p:spPr>
          <a:xfrm>
            <a:off x="548640" y="566928"/>
            <a:ext cx="10789920" cy="685800"/>
          </a:xfrm>
          <a:prstGeom prst="rect">
            <a:avLst/>
          </a:prstGeom>
          <a:noFill/>
          <a:ln/>
        </p:spPr>
        <p:txBody>
          <a:bodyPr wrap="square" rtlCol="0" anchor="ctr"/>
          <a:lstStyle/>
          <a:p>
            <a:pPr indent="0" marL="0">
              <a:buNone/>
            </a:pPr>
            <a:r>
              <a:rPr lang="en-US" sz="3000" b="1" dirty="0">
                <a:solidFill>
                  <a:srgbClr val="161616"/>
                </a:solidFill>
                <a:latin typeface="Cambria" pitchFamily="34" charset="0"/>
                <a:ea typeface="Cambria" pitchFamily="34" charset="-122"/>
                <a:cs typeface="Cambria" pitchFamily="34" charset="-120"/>
              </a:rPr>
              <a:t>Query and Data Handling</a:t>
            </a:r>
            <a:endParaRPr lang="en-US" sz="3000" dirty="0"/>
          </a:p>
        </p:txBody>
      </p:sp>
      <p:sp>
        <p:nvSpPr>
          <p:cNvPr id="4" name="Shape 2"/>
          <p:cNvSpPr/>
          <p:nvPr/>
        </p:nvSpPr>
        <p:spPr>
          <a:xfrm>
            <a:off x="548640" y="1298448"/>
            <a:ext cx="11064240" cy="18288"/>
          </a:xfrm>
          <a:prstGeom prst="rect">
            <a:avLst/>
          </a:prstGeom>
          <a:solidFill>
            <a:srgbClr val="E0E0E0"/>
          </a:solidFill>
          <a:ln/>
        </p:spPr>
      </p:sp>
      <p:sp>
        <p:nvSpPr>
          <p:cNvPr id="5" name="Text 3"/>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525252"/>
                </a:solidFill>
                <a:latin typeface="Calibri" pitchFamily="34" charset="0"/>
                <a:ea typeface="Calibri" pitchFamily="34" charset="-122"/>
                <a:cs typeface="Calibri" pitchFamily="34" charset="-120"/>
              </a:rPr>
              <a:t>IBM Cognos Analytics Overview  |  Knowledge Transfer</a:t>
            </a:r>
            <a:endParaRPr lang="en-US" sz="900" dirty="0"/>
          </a:p>
        </p:txBody>
      </p:sp>
      <p:sp>
        <p:nvSpPr>
          <p:cNvPr id="6" name="Text 4"/>
          <p:cNvSpPr/>
          <p:nvPr/>
        </p:nvSpPr>
        <p:spPr>
          <a:xfrm>
            <a:off x="11365992" y="6510528"/>
            <a:ext cx="457200" cy="274320"/>
          </a:xfrm>
          <a:prstGeom prst="rect">
            <a:avLst/>
          </a:prstGeom>
          <a:noFill/>
          <a:ln/>
        </p:spPr>
        <p:txBody>
          <a:bodyPr wrap="square" rtlCol="0" anchor="ctr"/>
          <a:lstStyle/>
          <a:p>
            <a:pPr algn="r" indent="0" marL="0">
              <a:buNone/>
            </a:pPr>
            <a:r>
              <a:rPr lang="en-US" sz="900" dirty="0">
                <a:solidFill>
                  <a:srgbClr val="525252"/>
                </a:solidFill>
                <a:latin typeface="Calibri" pitchFamily="34" charset="0"/>
                <a:ea typeface="Calibri" pitchFamily="34" charset="-122"/>
                <a:cs typeface="Calibri" pitchFamily="34" charset="-120"/>
              </a:rPr>
              <a:t>13</a:t>
            </a:r>
            <a:endParaRPr lang="en-US" sz="900" dirty="0"/>
          </a:p>
        </p:txBody>
      </p:sp>
      <p:sp>
        <p:nvSpPr>
          <p:cNvPr id="7" name="Shape 5"/>
          <p:cNvSpPr/>
          <p:nvPr/>
        </p:nvSpPr>
        <p:spPr>
          <a:xfrm>
            <a:off x="548640" y="1463040"/>
            <a:ext cx="2697480" cy="1417320"/>
          </a:xfrm>
          <a:prstGeom prst="roundRect">
            <a:avLst>
              <a:gd name="adj" fmla="val 516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713232" y="1627632"/>
            <a:ext cx="457200" cy="457200"/>
          </a:xfrm>
          <a:prstGeom prst="ellipse">
            <a:avLst/>
          </a:prstGeom>
          <a:solidFill>
            <a:srgbClr val="0F62FE"/>
          </a:solidFill>
          <a:ln/>
        </p:spPr>
      </p:sp>
      <p:pic>
        <p:nvPicPr>
          <p:cNvPr id="9" name="Image 0" descr="/home/claude/icons/table_FFFFFF.png">    </p:cNvPr>
          <p:cNvPicPr>
            <a:picLocks noChangeAspect="1"/>
          </p:cNvPicPr>
          <p:nvPr/>
        </p:nvPicPr>
        <p:blipFill>
          <a:blip r:embed="rId1"/>
          <a:stretch>
            <a:fillRect/>
          </a:stretch>
        </p:blipFill>
        <p:spPr>
          <a:xfrm>
            <a:off x="832104" y="1746504"/>
            <a:ext cx="219456" cy="219456"/>
          </a:xfrm>
          <a:prstGeom prst="rect">
            <a:avLst/>
          </a:prstGeom>
        </p:spPr>
      </p:pic>
      <p:sp>
        <p:nvSpPr>
          <p:cNvPr id="10" name="Text 7"/>
          <p:cNvSpPr/>
          <p:nvPr/>
        </p:nvSpPr>
        <p:spPr>
          <a:xfrm>
            <a:off x="1280160" y="1600200"/>
            <a:ext cx="1828800" cy="502920"/>
          </a:xfrm>
          <a:prstGeom prst="rect">
            <a:avLst/>
          </a:prstGeom>
          <a:noFill/>
          <a:ln/>
        </p:spPr>
        <p:txBody>
          <a:bodyPr wrap="square" rtlCol="0" anchor="ctr"/>
          <a:lstStyle/>
          <a:p>
            <a:pPr indent="0" marL="0">
              <a:buNone/>
            </a:pPr>
            <a:r>
              <a:rPr lang="en-US" sz="1150" b="1" dirty="0">
                <a:solidFill>
                  <a:srgbClr val="161616"/>
                </a:solidFill>
                <a:latin typeface="Calibri" pitchFamily="34" charset="0"/>
                <a:ea typeface="Calibri" pitchFamily="34" charset="-122"/>
                <a:cs typeface="Calibri" pitchFamily="34" charset="-120"/>
              </a:rPr>
              <a:t>Query Subjects</a:t>
            </a:r>
            <a:endParaRPr lang="en-US" sz="1150" dirty="0"/>
          </a:p>
        </p:txBody>
      </p:sp>
      <p:sp>
        <p:nvSpPr>
          <p:cNvPr id="11" name="Text 8"/>
          <p:cNvSpPr/>
          <p:nvPr/>
        </p:nvSpPr>
        <p:spPr>
          <a:xfrm>
            <a:off x="713232" y="2176272"/>
            <a:ext cx="2368296" cy="640080"/>
          </a:xfrm>
          <a:prstGeom prst="rect">
            <a:avLst/>
          </a:prstGeom>
          <a:noFill/>
          <a:ln/>
        </p:spPr>
        <p:txBody>
          <a:bodyPr wrap="square" rtlCol="0" anchor="t"/>
          <a:lstStyle/>
          <a:p>
            <a:pPr indent="0" marL="0">
              <a:buNone/>
            </a:pPr>
            <a:r>
              <a:rPr lang="en-US" sz="930" dirty="0">
                <a:solidFill>
                  <a:srgbClr val="525252"/>
                </a:solidFill>
                <a:latin typeface="Calibri" pitchFamily="34" charset="0"/>
                <a:ea typeface="Calibri" pitchFamily="34" charset="-122"/>
                <a:cs typeface="Calibri" pitchFamily="34" charset="-120"/>
              </a:rPr>
              <a:t>Named sets of data items (like a virtual table) used in a report.</a:t>
            </a:r>
            <a:endParaRPr lang="en-US" sz="930" dirty="0"/>
          </a:p>
        </p:txBody>
      </p:sp>
      <p:sp>
        <p:nvSpPr>
          <p:cNvPr id="12" name="Shape 9"/>
          <p:cNvSpPr/>
          <p:nvPr/>
        </p:nvSpPr>
        <p:spPr>
          <a:xfrm>
            <a:off x="3447288" y="1463040"/>
            <a:ext cx="2697480" cy="1417320"/>
          </a:xfrm>
          <a:prstGeom prst="roundRect">
            <a:avLst>
              <a:gd name="adj" fmla="val 516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3611880" y="1627632"/>
            <a:ext cx="457200" cy="457200"/>
          </a:xfrm>
          <a:prstGeom prst="ellipse">
            <a:avLst/>
          </a:prstGeom>
          <a:solidFill>
            <a:srgbClr val="0F62FE"/>
          </a:solidFill>
          <a:ln/>
        </p:spPr>
      </p:sp>
      <p:pic>
        <p:nvPicPr>
          <p:cNvPr id="14" name="Image 1" descr="/home/claude/icons/filter_FFFFFF.png">    </p:cNvPr>
          <p:cNvPicPr>
            <a:picLocks noChangeAspect="1"/>
          </p:cNvPicPr>
          <p:nvPr/>
        </p:nvPicPr>
        <p:blipFill>
          <a:blip r:embed="rId2"/>
          <a:stretch>
            <a:fillRect/>
          </a:stretch>
        </p:blipFill>
        <p:spPr>
          <a:xfrm>
            <a:off x="3730752" y="1746504"/>
            <a:ext cx="219456" cy="219456"/>
          </a:xfrm>
          <a:prstGeom prst="rect">
            <a:avLst/>
          </a:prstGeom>
        </p:spPr>
      </p:pic>
      <p:sp>
        <p:nvSpPr>
          <p:cNvPr id="15" name="Text 11"/>
          <p:cNvSpPr/>
          <p:nvPr/>
        </p:nvSpPr>
        <p:spPr>
          <a:xfrm>
            <a:off x="4178808" y="1600200"/>
            <a:ext cx="1828800" cy="502920"/>
          </a:xfrm>
          <a:prstGeom prst="rect">
            <a:avLst/>
          </a:prstGeom>
          <a:noFill/>
          <a:ln/>
        </p:spPr>
        <p:txBody>
          <a:bodyPr wrap="square" rtlCol="0" anchor="ctr"/>
          <a:lstStyle/>
          <a:p>
            <a:pPr indent="0" marL="0">
              <a:buNone/>
            </a:pPr>
            <a:r>
              <a:rPr lang="en-US" sz="1150" b="1" dirty="0">
                <a:solidFill>
                  <a:srgbClr val="161616"/>
                </a:solidFill>
                <a:latin typeface="Calibri" pitchFamily="34" charset="0"/>
                <a:ea typeface="Calibri" pitchFamily="34" charset="-122"/>
                <a:cs typeface="Calibri" pitchFamily="34" charset="-120"/>
              </a:rPr>
              <a:t>Filters</a:t>
            </a:r>
            <a:endParaRPr lang="en-US" sz="1150" dirty="0"/>
          </a:p>
        </p:txBody>
      </p:sp>
      <p:sp>
        <p:nvSpPr>
          <p:cNvPr id="16" name="Text 12"/>
          <p:cNvSpPr/>
          <p:nvPr/>
        </p:nvSpPr>
        <p:spPr>
          <a:xfrm>
            <a:off x="3611880" y="2176272"/>
            <a:ext cx="2368296" cy="640080"/>
          </a:xfrm>
          <a:prstGeom prst="rect">
            <a:avLst/>
          </a:prstGeom>
          <a:noFill/>
          <a:ln/>
        </p:spPr>
        <p:txBody>
          <a:bodyPr wrap="square" rtlCol="0" anchor="t"/>
          <a:lstStyle/>
          <a:p>
            <a:pPr indent="0" marL="0">
              <a:buNone/>
            </a:pPr>
            <a:r>
              <a:rPr lang="en-US" sz="930" dirty="0">
                <a:solidFill>
                  <a:srgbClr val="525252"/>
                </a:solidFill>
                <a:latin typeface="Calibri" pitchFamily="34" charset="0"/>
                <a:ea typeface="Calibri" pitchFamily="34" charset="-122"/>
                <a:cs typeface="Calibri" pitchFamily="34" charset="-120"/>
              </a:rPr>
              <a:t>Restrict rows — e.g. show only "Region = West".</a:t>
            </a:r>
            <a:endParaRPr lang="en-US" sz="930" dirty="0"/>
          </a:p>
        </p:txBody>
      </p:sp>
      <p:sp>
        <p:nvSpPr>
          <p:cNvPr id="17" name="Shape 13"/>
          <p:cNvSpPr/>
          <p:nvPr/>
        </p:nvSpPr>
        <p:spPr>
          <a:xfrm>
            <a:off x="6345936" y="1463040"/>
            <a:ext cx="2697480" cy="1417320"/>
          </a:xfrm>
          <a:prstGeom prst="roundRect">
            <a:avLst>
              <a:gd name="adj" fmla="val 516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8" name="Shape 14"/>
          <p:cNvSpPr/>
          <p:nvPr/>
        </p:nvSpPr>
        <p:spPr>
          <a:xfrm>
            <a:off x="6510528" y="1627632"/>
            <a:ext cx="457200" cy="457200"/>
          </a:xfrm>
          <a:prstGeom prst="ellipse">
            <a:avLst/>
          </a:prstGeom>
          <a:solidFill>
            <a:srgbClr val="0F62FE"/>
          </a:solidFill>
          <a:ln/>
        </p:spPr>
      </p:sp>
      <p:pic>
        <p:nvPicPr>
          <p:cNvPr id="19" name="Image 2" descr="/home/claude/icons/comment_FFFFFF.png">    </p:cNvPr>
          <p:cNvPicPr>
            <a:picLocks noChangeAspect="1"/>
          </p:cNvPicPr>
          <p:nvPr/>
        </p:nvPicPr>
        <p:blipFill>
          <a:blip r:embed="rId3"/>
          <a:stretch>
            <a:fillRect/>
          </a:stretch>
        </p:blipFill>
        <p:spPr>
          <a:xfrm>
            <a:off x="6629400" y="1746504"/>
            <a:ext cx="219456" cy="219456"/>
          </a:xfrm>
          <a:prstGeom prst="rect">
            <a:avLst/>
          </a:prstGeom>
        </p:spPr>
      </p:pic>
      <p:sp>
        <p:nvSpPr>
          <p:cNvPr id="20" name="Text 15"/>
          <p:cNvSpPr/>
          <p:nvPr/>
        </p:nvSpPr>
        <p:spPr>
          <a:xfrm>
            <a:off x="7077456" y="1600200"/>
            <a:ext cx="1828800" cy="502920"/>
          </a:xfrm>
          <a:prstGeom prst="rect">
            <a:avLst/>
          </a:prstGeom>
          <a:noFill/>
          <a:ln/>
        </p:spPr>
        <p:txBody>
          <a:bodyPr wrap="square" rtlCol="0" anchor="ctr"/>
          <a:lstStyle/>
          <a:p>
            <a:pPr indent="0" marL="0">
              <a:buNone/>
            </a:pPr>
            <a:r>
              <a:rPr lang="en-US" sz="1150" b="1" dirty="0">
                <a:solidFill>
                  <a:srgbClr val="161616"/>
                </a:solidFill>
                <a:latin typeface="Calibri" pitchFamily="34" charset="0"/>
                <a:ea typeface="Calibri" pitchFamily="34" charset="-122"/>
                <a:cs typeface="Calibri" pitchFamily="34" charset="-120"/>
              </a:rPr>
              <a:t>Prompts</a:t>
            </a:r>
            <a:endParaRPr lang="en-US" sz="1150" dirty="0"/>
          </a:p>
        </p:txBody>
      </p:sp>
      <p:sp>
        <p:nvSpPr>
          <p:cNvPr id="21" name="Text 16"/>
          <p:cNvSpPr/>
          <p:nvPr/>
        </p:nvSpPr>
        <p:spPr>
          <a:xfrm>
            <a:off x="6510528" y="2176272"/>
            <a:ext cx="2368296" cy="640080"/>
          </a:xfrm>
          <a:prstGeom prst="rect">
            <a:avLst/>
          </a:prstGeom>
          <a:noFill/>
          <a:ln/>
        </p:spPr>
        <p:txBody>
          <a:bodyPr wrap="square" rtlCol="0" anchor="t"/>
          <a:lstStyle/>
          <a:p>
            <a:pPr indent="0" marL="0">
              <a:buNone/>
            </a:pPr>
            <a:r>
              <a:rPr lang="en-US" sz="930" dirty="0">
                <a:solidFill>
                  <a:srgbClr val="525252"/>
                </a:solidFill>
                <a:latin typeface="Calibri" pitchFamily="34" charset="0"/>
                <a:ea typeface="Calibri" pitchFamily="34" charset="-122"/>
                <a:cs typeface="Calibri" pitchFamily="34" charset="-120"/>
              </a:rPr>
              <a:t>Ask the user for input before running the report, e.g. a date range.</a:t>
            </a:r>
            <a:endParaRPr lang="en-US" sz="930" dirty="0"/>
          </a:p>
        </p:txBody>
      </p:sp>
      <p:sp>
        <p:nvSpPr>
          <p:cNvPr id="22" name="Shape 17"/>
          <p:cNvSpPr/>
          <p:nvPr/>
        </p:nvSpPr>
        <p:spPr>
          <a:xfrm>
            <a:off x="9244584" y="1463040"/>
            <a:ext cx="2697480" cy="1417320"/>
          </a:xfrm>
          <a:prstGeom prst="roundRect">
            <a:avLst>
              <a:gd name="adj" fmla="val 516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9409176" y="1627632"/>
            <a:ext cx="457200" cy="457200"/>
          </a:xfrm>
          <a:prstGeom prst="ellipse">
            <a:avLst/>
          </a:prstGeom>
          <a:solidFill>
            <a:srgbClr val="0F62FE"/>
          </a:solidFill>
          <a:ln/>
        </p:spPr>
      </p:sp>
      <p:pic>
        <p:nvPicPr>
          <p:cNvPr id="24" name="Image 3" descr="/home/claude/icons/key_FFFFFF.png">    </p:cNvPr>
          <p:cNvPicPr>
            <a:picLocks noChangeAspect="1"/>
          </p:cNvPicPr>
          <p:nvPr/>
        </p:nvPicPr>
        <p:blipFill>
          <a:blip r:embed="rId4"/>
          <a:stretch>
            <a:fillRect/>
          </a:stretch>
        </p:blipFill>
        <p:spPr>
          <a:xfrm>
            <a:off x="9528048" y="1746504"/>
            <a:ext cx="219456" cy="219456"/>
          </a:xfrm>
          <a:prstGeom prst="rect">
            <a:avLst/>
          </a:prstGeom>
        </p:spPr>
      </p:pic>
      <p:sp>
        <p:nvSpPr>
          <p:cNvPr id="25" name="Text 19"/>
          <p:cNvSpPr/>
          <p:nvPr/>
        </p:nvSpPr>
        <p:spPr>
          <a:xfrm>
            <a:off x="9976104" y="1600200"/>
            <a:ext cx="1828800" cy="502920"/>
          </a:xfrm>
          <a:prstGeom prst="rect">
            <a:avLst/>
          </a:prstGeom>
          <a:noFill/>
          <a:ln/>
        </p:spPr>
        <p:txBody>
          <a:bodyPr wrap="square" rtlCol="0" anchor="ctr"/>
          <a:lstStyle/>
          <a:p>
            <a:pPr indent="0" marL="0">
              <a:buNone/>
            </a:pPr>
            <a:r>
              <a:rPr lang="en-US" sz="1150" b="1" dirty="0">
                <a:solidFill>
                  <a:srgbClr val="161616"/>
                </a:solidFill>
                <a:latin typeface="Calibri" pitchFamily="34" charset="0"/>
                <a:ea typeface="Calibri" pitchFamily="34" charset="-122"/>
                <a:cs typeface="Calibri" pitchFamily="34" charset="-120"/>
              </a:rPr>
              <a:t>Parameters</a:t>
            </a:r>
            <a:endParaRPr lang="en-US" sz="1150" dirty="0"/>
          </a:p>
        </p:txBody>
      </p:sp>
      <p:sp>
        <p:nvSpPr>
          <p:cNvPr id="26" name="Text 20"/>
          <p:cNvSpPr/>
          <p:nvPr/>
        </p:nvSpPr>
        <p:spPr>
          <a:xfrm>
            <a:off x="9409176" y="2176272"/>
            <a:ext cx="2368296" cy="640080"/>
          </a:xfrm>
          <a:prstGeom prst="rect">
            <a:avLst/>
          </a:prstGeom>
          <a:noFill/>
          <a:ln/>
        </p:spPr>
        <p:txBody>
          <a:bodyPr wrap="square" rtlCol="0" anchor="t"/>
          <a:lstStyle/>
          <a:p>
            <a:pPr indent="0" marL="0">
              <a:buNone/>
            </a:pPr>
            <a:r>
              <a:rPr lang="en-US" sz="930" dirty="0">
                <a:solidFill>
                  <a:srgbClr val="525252"/>
                </a:solidFill>
                <a:latin typeface="Calibri" pitchFamily="34" charset="0"/>
                <a:ea typeface="Calibri" pitchFamily="34" charset="-122"/>
                <a:cs typeface="Calibri" pitchFamily="34" charset="-120"/>
              </a:rPr>
              <a:t>Values passed into a report to control what data is returned.</a:t>
            </a:r>
            <a:endParaRPr lang="en-US" sz="930" dirty="0"/>
          </a:p>
        </p:txBody>
      </p:sp>
      <p:sp>
        <p:nvSpPr>
          <p:cNvPr id="27" name="Shape 21"/>
          <p:cNvSpPr/>
          <p:nvPr/>
        </p:nvSpPr>
        <p:spPr>
          <a:xfrm>
            <a:off x="548640" y="3063240"/>
            <a:ext cx="2697480" cy="1417320"/>
          </a:xfrm>
          <a:prstGeom prst="roundRect">
            <a:avLst>
              <a:gd name="adj" fmla="val 516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8" name="Shape 22"/>
          <p:cNvSpPr/>
          <p:nvPr/>
        </p:nvSpPr>
        <p:spPr>
          <a:xfrm>
            <a:off x="713232" y="3227832"/>
            <a:ext cx="457200" cy="457200"/>
          </a:xfrm>
          <a:prstGeom prst="ellipse">
            <a:avLst/>
          </a:prstGeom>
          <a:solidFill>
            <a:srgbClr val="0F62FE"/>
          </a:solidFill>
          <a:ln/>
        </p:spPr>
      </p:sp>
      <p:pic>
        <p:nvPicPr>
          <p:cNvPr id="29" name="Image 4" descr="/home/claude/icons/chartline_FFFFFF.png">    </p:cNvPr>
          <p:cNvPicPr>
            <a:picLocks noChangeAspect="1"/>
          </p:cNvPicPr>
          <p:nvPr/>
        </p:nvPicPr>
        <p:blipFill>
          <a:blip r:embed="rId5"/>
          <a:stretch>
            <a:fillRect/>
          </a:stretch>
        </p:blipFill>
        <p:spPr>
          <a:xfrm>
            <a:off x="832104" y="3346704"/>
            <a:ext cx="219456" cy="219456"/>
          </a:xfrm>
          <a:prstGeom prst="rect">
            <a:avLst/>
          </a:prstGeom>
        </p:spPr>
      </p:pic>
      <p:sp>
        <p:nvSpPr>
          <p:cNvPr id="30" name="Text 23"/>
          <p:cNvSpPr/>
          <p:nvPr/>
        </p:nvSpPr>
        <p:spPr>
          <a:xfrm>
            <a:off x="1280160" y="3200400"/>
            <a:ext cx="1828800" cy="502920"/>
          </a:xfrm>
          <a:prstGeom prst="rect">
            <a:avLst/>
          </a:prstGeom>
          <a:noFill/>
          <a:ln/>
        </p:spPr>
        <p:txBody>
          <a:bodyPr wrap="square" rtlCol="0" anchor="ctr"/>
          <a:lstStyle/>
          <a:p>
            <a:pPr indent="0" marL="0">
              <a:buNone/>
            </a:pPr>
            <a:r>
              <a:rPr lang="en-US" sz="1150" b="1" dirty="0">
                <a:solidFill>
                  <a:srgbClr val="161616"/>
                </a:solidFill>
                <a:latin typeface="Calibri" pitchFamily="34" charset="0"/>
                <a:ea typeface="Calibri" pitchFamily="34" charset="-122"/>
                <a:cs typeface="Calibri" pitchFamily="34" charset="-120"/>
              </a:rPr>
              <a:t>Calculations</a:t>
            </a:r>
            <a:endParaRPr lang="en-US" sz="1150" dirty="0"/>
          </a:p>
        </p:txBody>
      </p:sp>
      <p:sp>
        <p:nvSpPr>
          <p:cNvPr id="31" name="Text 24"/>
          <p:cNvSpPr/>
          <p:nvPr/>
        </p:nvSpPr>
        <p:spPr>
          <a:xfrm>
            <a:off x="713232" y="3776472"/>
            <a:ext cx="2368296" cy="640080"/>
          </a:xfrm>
          <a:prstGeom prst="rect">
            <a:avLst/>
          </a:prstGeom>
          <a:noFill/>
          <a:ln/>
        </p:spPr>
        <p:txBody>
          <a:bodyPr wrap="square" rtlCol="0" anchor="t"/>
          <a:lstStyle/>
          <a:p>
            <a:pPr indent="0" marL="0">
              <a:buNone/>
            </a:pPr>
            <a:r>
              <a:rPr lang="en-US" sz="930" dirty="0">
                <a:solidFill>
                  <a:srgbClr val="525252"/>
                </a:solidFill>
                <a:latin typeface="Calibri" pitchFamily="34" charset="0"/>
                <a:ea typeface="Calibri" pitchFamily="34" charset="-122"/>
                <a:cs typeface="Calibri" pitchFamily="34" charset="-120"/>
              </a:rPr>
              <a:t>Derived fields, e.g. Profit = Revenue − Cost.</a:t>
            </a:r>
            <a:endParaRPr lang="en-US" sz="930" dirty="0"/>
          </a:p>
        </p:txBody>
      </p:sp>
      <p:sp>
        <p:nvSpPr>
          <p:cNvPr id="32" name="Shape 25"/>
          <p:cNvSpPr/>
          <p:nvPr/>
        </p:nvSpPr>
        <p:spPr>
          <a:xfrm>
            <a:off x="3447288" y="3063240"/>
            <a:ext cx="2697480" cy="1417320"/>
          </a:xfrm>
          <a:prstGeom prst="roundRect">
            <a:avLst>
              <a:gd name="adj" fmla="val 516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33" name="Shape 26"/>
          <p:cNvSpPr/>
          <p:nvPr/>
        </p:nvSpPr>
        <p:spPr>
          <a:xfrm>
            <a:off x="3611880" y="3227832"/>
            <a:ext cx="457200" cy="457200"/>
          </a:xfrm>
          <a:prstGeom prst="ellipse">
            <a:avLst/>
          </a:prstGeom>
          <a:solidFill>
            <a:srgbClr val="0F62FE"/>
          </a:solidFill>
          <a:ln/>
        </p:spPr>
      </p:sp>
      <p:pic>
        <p:nvPicPr>
          <p:cNvPr id="34" name="Image 5" descr="/home/claude/icons/chartbar_FFFFFF.png">    </p:cNvPr>
          <p:cNvPicPr>
            <a:picLocks noChangeAspect="1"/>
          </p:cNvPicPr>
          <p:nvPr/>
        </p:nvPicPr>
        <p:blipFill>
          <a:blip r:embed="rId6"/>
          <a:stretch>
            <a:fillRect/>
          </a:stretch>
        </p:blipFill>
        <p:spPr>
          <a:xfrm>
            <a:off x="3730752" y="3346704"/>
            <a:ext cx="219456" cy="219456"/>
          </a:xfrm>
          <a:prstGeom prst="rect">
            <a:avLst/>
          </a:prstGeom>
        </p:spPr>
      </p:pic>
      <p:sp>
        <p:nvSpPr>
          <p:cNvPr id="35" name="Text 27"/>
          <p:cNvSpPr/>
          <p:nvPr/>
        </p:nvSpPr>
        <p:spPr>
          <a:xfrm>
            <a:off x="4178808" y="3200400"/>
            <a:ext cx="1828800" cy="502920"/>
          </a:xfrm>
          <a:prstGeom prst="rect">
            <a:avLst/>
          </a:prstGeom>
          <a:noFill/>
          <a:ln/>
        </p:spPr>
        <p:txBody>
          <a:bodyPr wrap="square" rtlCol="0" anchor="ctr"/>
          <a:lstStyle/>
          <a:p>
            <a:pPr indent="0" marL="0">
              <a:buNone/>
            </a:pPr>
            <a:r>
              <a:rPr lang="en-US" sz="1150" b="1" dirty="0">
                <a:solidFill>
                  <a:srgbClr val="161616"/>
                </a:solidFill>
                <a:latin typeface="Calibri" pitchFamily="34" charset="0"/>
                <a:ea typeface="Calibri" pitchFamily="34" charset="-122"/>
                <a:cs typeface="Calibri" pitchFamily="34" charset="-120"/>
              </a:rPr>
              <a:t>Aggregations</a:t>
            </a:r>
            <a:endParaRPr lang="en-US" sz="1150" dirty="0"/>
          </a:p>
        </p:txBody>
      </p:sp>
      <p:sp>
        <p:nvSpPr>
          <p:cNvPr id="36" name="Text 28"/>
          <p:cNvSpPr/>
          <p:nvPr/>
        </p:nvSpPr>
        <p:spPr>
          <a:xfrm>
            <a:off x="3611880" y="3776472"/>
            <a:ext cx="2368296" cy="640080"/>
          </a:xfrm>
          <a:prstGeom prst="rect">
            <a:avLst/>
          </a:prstGeom>
          <a:noFill/>
          <a:ln/>
        </p:spPr>
        <p:txBody>
          <a:bodyPr wrap="square" rtlCol="0" anchor="t"/>
          <a:lstStyle/>
          <a:p>
            <a:pPr indent="0" marL="0">
              <a:buNone/>
            </a:pPr>
            <a:r>
              <a:rPr lang="en-US" sz="930" dirty="0">
                <a:solidFill>
                  <a:srgbClr val="525252"/>
                </a:solidFill>
                <a:latin typeface="Calibri" pitchFamily="34" charset="0"/>
                <a:ea typeface="Calibri" pitchFamily="34" charset="-122"/>
                <a:cs typeface="Calibri" pitchFamily="34" charset="-120"/>
              </a:rPr>
              <a:t>Summarize data — Sum, Average, Count — at a chosen level.</a:t>
            </a:r>
            <a:endParaRPr lang="en-US" sz="930" dirty="0"/>
          </a:p>
        </p:txBody>
      </p:sp>
      <p:sp>
        <p:nvSpPr>
          <p:cNvPr id="37" name="Shape 29"/>
          <p:cNvSpPr/>
          <p:nvPr/>
        </p:nvSpPr>
        <p:spPr>
          <a:xfrm>
            <a:off x="6345936" y="3063240"/>
            <a:ext cx="2697480" cy="1417320"/>
          </a:xfrm>
          <a:prstGeom prst="roundRect">
            <a:avLst>
              <a:gd name="adj" fmla="val 516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38" name="Shape 30"/>
          <p:cNvSpPr/>
          <p:nvPr/>
        </p:nvSpPr>
        <p:spPr>
          <a:xfrm>
            <a:off x="6510528" y="3227832"/>
            <a:ext cx="457200" cy="457200"/>
          </a:xfrm>
          <a:prstGeom prst="ellipse">
            <a:avLst/>
          </a:prstGeom>
          <a:solidFill>
            <a:srgbClr val="0F62FE"/>
          </a:solidFill>
          <a:ln/>
        </p:spPr>
      </p:sp>
      <p:pic>
        <p:nvPicPr>
          <p:cNvPr id="39" name="Image 6" descr="/home/claude/icons/sitemap_FFFFFF.png">    </p:cNvPr>
          <p:cNvPicPr>
            <a:picLocks noChangeAspect="1"/>
          </p:cNvPicPr>
          <p:nvPr/>
        </p:nvPicPr>
        <p:blipFill>
          <a:blip r:embed="rId7"/>
          <a:stretch>
            <a:fillRect/>
          </a:stretch>
        </p:blipFill>
        <p:spPr>
          <a:xfrm>
            <a:off x="6629400" y="3346704"/>
            <a:ext cx="219456" cy="219456"/>
          </a:xfrm>
          <a:prstGeom prst="rect">
            <a:avLst/>
          </a:prstGeom>
        </p:spPr>
      </p:pic>
      <p:sp>
        <p:nvSpPr>
          <p:cNvPr id="40" name="Text 31"/>
          <p:cNvSpPr/>
          <p:nvPr/>
        </p:nvSpPr>
        <p:spPr>
          <a:xfrm>
            <a:off x="7077456" y="3200400"/>
            <a:ext cx="1828800" cy="502920"/>
          </a:xfrm>
          <a:prstGeom prst="rect">
            <a:avLst/>
          </a:prstGeom>
          <a:noFill/>
          <a:ln/>
        </p:spPr>
        <p:txBody>
          <a:bodyPr wrap="square" rtlCol="0" anchor="ctr"/>
          <a:lstStyle/>
          <a:p>
            <a:pPr indent="0" marL="0">
              <a:buNone/>
            </a:pPr>
            <a:r>
              <a:rPr lang="en-US" sz="1150" b="1" dirty="0">
                <a:solidFill>
                  <a:srgbClr val="161616"/>
                </a:solidFill>
                <a:latin typeface="Calibri" pitchFamily="34" charset="0"/>
                <a:ea typeface="Calibri" pitchFamily="34" charset="-122"/>
                <a:cs typeface="Calibri" pitchFamily="34" charset="-120"/>
              </a:rPr>
              <a:t>Sorting</a:t>
            </a:r>
            <a:endParaRPr lang="en-US" sz="1150" dirty="0"/>
          </a:p>
        </p:txBody>
      </p:sp>
      <p:sp>
        <p:nvSpPr>
          <p:cNvPr id="41" name="Text 32"/>
          <p:cNvSpPr/>
          <p:nvPr/>
        </p:nvSpPr>
        <p:spPr>
          <a:xfrm>
            <a:off x="6510528" y="3776472"/>
            <a:ext cx="2368296" cy="640080"/>
          </a:xfrm>
          <a:prstGeom prst="rect">
            <a:avLst/>
          </a:prstGeom>
          <a:noFill/>
          <a:ln/>
        </p:spPr>
        <p:txBody>
          <a:bodyPr wrap="square" rtlCol="0" anchor="t"/>
          <a:lstStyle/>
          <a:p>
            <a:pPr indent="0" marL="0">
              <a:buNone/>
            </a:pPr>
            <a:r>
              <a:rPr lang="en-US" sz="930" dirty="0">
                <a:solidFill>
                  <a:srgbClr val="525252"/>
                </a:solidFill>
                <a:latin typeface="Calibri" pitchFamily="34" charset="0"/>
                <a:ea typeface="Calibri" pitchFamily="34" charset="-122"/>
                <a:cs typeface="Calibri" pitchFamily="34" charset="-120"/>
              </a:rPr>
              <a:t>Arrange rows in ascending or descending order.</a:t>
            </a:r>
            <a:endParaRPr lang="en-US" sz="930" dirty="0"/>
          </a:p>
        </p:txBody>
      </p:sp>
      <p:sp>
        <p:nvSpPr>
          <p:cNvPr id="42" name="Shape 33"/>
          <p:cNvSpPr/>
          <p:nvPr/>
        </p:nvSpPr>
        <p:spPr>
          <a:xfrm>
            <a:off x="9244584" y="3063240"/>
            <a:ext cx="2697480" cy="1417320"/>
          </a:xfrm>
          <a:prstGeom prst="roundRect">
            <a:avLst>
              <a:gd name="adj" fmla="val 516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43" name="Shape 34"/>
          <p:cNvSpPr/>
          <p:nvPr/>
        </p:nvSpPr>
        <p:spPr>
          <a:xfrm>
            <a:off x="9409176" y="3227832"/>
            <a:ext cx="457200" cy="457200"/>
          </a:xfrm>
          <a:prstGeom prst="ellipse">
            <a:avLst/>
          </a:prstGeom>
          <a:solidFill>
            <a:srgbClr val="0F62FE"/>
          </a:solidFill>
          <a:ln/>
        </p:spPr>
      </p:sp>
      <p:pic>
        <p:nvPicPr>
          <p:cNvPr id="44" name="Image 7" descr="/home/claude/icons/layer_FFFFFF.png">    </p:cNvPr>
          <p:cNvPicPr>
            <a:picLocks noChangeAspect="1"/>
          </p:cNvPicPr>
          <p:nvPr/>
        </p:nvPicPr>
        <p:blipFill>
          <a:blip r:embed="rId8"/>
          <a:stretch>
            <a:fillRect/>
          </a:stretch>
        </p:blipFill>
        <p:spPr>
          <a:xfrm>
            <a:off x="9528048" y="3346704"/>
            <a:ext cx="219456" cy="219456"/>
          </a:xfrm>
          <a:prstGeom prst="rect">
            <a:avLst/>
          </a:prstGeom>
        </p:spPr>
      </p:pic>
      <p:sp>
        <p:nvSpPr>
          <p:cNvPr id="45" name="Text 35"/>
          <p:cNvSpPr/>
          <p:nvPr/>
        </p:nvSpPr>
        <p:spPr>
          <a:xfrm>
            <a:off x="9976104" y="3200400"/>
            <a:ext cx="1828800" cy="502920"/>
          </a:xfrm>
          <a:prstGeom prst="rect">
            <a:avLst/>
          </a:prstGeom>
          <a:noFill/>
          <a:ln/>
        </p:spPr>
        <p:txBody>
          <a:bodyPr wrap="square" rtlCol="0" anchor="ctr"/>
          <a:lstStyle/>
          <a:p>
            <a:pPr indent="0" marL="0">
              <a:buNone/>
            </a:pPr>
            <a:r>
              <a:rPr lang="en-US" sz="1150" b="1" dirty="0">
                <a:solidFill>
                  <a:srgbClr val="161616"/>
                </a:solidFill>
                <a:latin typeface="Calibri" pitchFamily="34" charset="0"/>
                <a:ea typeface="Calibri" pitchFamily="34" charset="-122"/>
                <a:cs typeface="Calibri" pitchFamily="34" charset="-120"/>
              </a:rPr>
              <a:t>Grouping</a:t>
            </a:r>
            <a:endParaRPr lang="en-US" sz="1150" dirty="0"/>
          </a:p>
        </p:txBody>
      </p:sp>
      <p:sp>
        <p:nvSpPr>
          <p:cNvPr id="46" name="Text 36"/>
          <p:cNvSpPr/>
          <p:nvPr/>
        </p:nvSpPr>
        <p:spPr>
          <a:xfrm>
            <a:off x="9409176" y="3776472"/>
            <a:ext cx="2368296" cy="640080"/>
          </a:xfrm>
          <a:prstGeom prst="rect">
            <a:avLst/>
          </a:prstGeom>
          <a:noFill/>
          <a:ln/>
        </p:spPr>
        <p:txBody>
          <a:bodyPr wrap="square" rtlCol="0" anchor="t"/>
          <a:lstStyle/>
          <a:p>
            <a:pPr indent="0" marL="0">
              <a:buNone/>
            </a:pPr>
            <a:r>
              <a:rPr lang="en-US" sz="930" dirty="0">
                <a:solidFill>
                  <a:srgbClr val="525252"/>
                </a:solidFill>
                <a:latin typeface="Calibri" pitchFamily="34" charset="0"/>
                <a:ea typeface="Calibri" pitchFamily="34" charset="-122"/>
                <a:cs typeface="Calibri" pitchFamily="34" charset="-120"/>
              </a:rPr>
              <a:t>Cluster rows under a common value, e.g. group orders by Region.</a:t>
            </a:r>
            <a:endParaRPr lang="en-US" sz="930" dirty="0"/>
          </a:p>
        </p:txBody>
      </p:sp>
      <p:sp>
        <p:nvSpPr>
          <p:cNvPr id="47" name="Shape 37"/>
          <p:cNvSpPr/>
          <p:nvPr/>
        </p:nvSpPr>
        <p:spPr>
          <a:xfrm>
            <a:off x="548640" y="4846320"/>
            <a:ext cx="11064240" cy="1417320"/>
          </a:xfrm>
          <a:prstGeom prst="roundRect">
            <a:avLst>
              <a:gd name="adj" fmla="val 5161"/>
            </a:avLst>
          </a:prstGeom>
          <a:solidFill>
            <a:srgbClr val="D0E2FF"/>
          </a:solidFill>
          <a:ln w="9525">
            <a:solidFill>
              <a:srgbClr val="E0E0E0"/>
            </a:solidFill>
            <a:prstDash val="solid"/>
          </a:ln>
        </p:spPr>
      </p:sp>
      <p:sp>
        <p:nvSpPr>
          <p:cNvPr id="48" name="Text 38"/>
          <p:cNvSpPr/>
          <p:nvPr/>
        </p:nvSpPr>
        <p:spPr>
          <a:xfrm>
            <a:off x="777240" y="4956048"/>
            <a:ext cx="4572000" cy="274320"/>
          </a:xfrm>
          <a:prstGeom prst="rect">
            <a:avLst/>
          </a:prstGeom>
          <a:noFill/>
          <a:ln/>
        </p:spPr>
        <p:txBody>
          <a:bodyPr wrap="square" rtlCol="0" anchor="ctr"/>
          <a:lstStyle/>
          <a:p>
            <a:pPr indent="0" marL="0">
              <a:buNone/>
            </a:pPr>
            <a:r>
              <a:rPr lang="en-US" sz="1250" b="1" dirty="0">
                <a:solidFill>
                  <a:srgbClr val="0043CE"/>
                </a:solidFill>
                <a:latin typeface="Calibri" pitchFamily="34" charset="0"/>
                <a:ea typeface="Calibri" pitchFamily="34" charset="-122"/>
                <a:cs typeface="Calibri" pitchFamily="34" charset="-120"/>
              </a:rPr>
              <a:t>Practical Example</a:t>
            </a:r>
            <a:endParaRPr lang="en-US" sz="1250" dirty="0"/>
          </a:p>
        </p:txBody>
      </p:sp>
      <p:sp>
        <p:nvSpPr>
          <p:cNvPr id="49" name="Text 39"/>
          <p:cNvSpPr/>
          <p:nvPr/>
        </p:nvSpPr>
        <p:spPr>
          <a:xfrm>
            <a:off x="777240" y="5257800"/>
            <a:ext cx="10607040" cy="914400"/>
          </a:xfrm>
          <a:prstGeom prst="rect">
            <a:avLst/>
          </a:prstGeom>
          <a:noFill/>
          <a:ln/>
        </p:spPr>
        <p:txBody>
          <a:bodyPr wrap="square" rtlCol="0" anchor="t"/>
          <a:lstStyle/>
          <a:p>
            <a:pPr indent="0" marL="0">
              <a:buNone/>
            </a:pPr>
            <a:r>
              <a:rPr lang="en-US" sz="1150" dirty="0">
                <a:solidFill>
                  <a:srgbClr val="161616"/>
                </a:solidFill>
                <a:latin typeface="Calibri" pitchFamily="34" charset="0"/>
                <a:ea typeface="Calibri" pitchFamily="34" charset="-122"/>
                <a:cs typeface="Calibri" pitchFamily="34" charset="-120"/>
              </a:rPr>
              <a:t>A sales report prompts the user for a Date Range (prompt/parameter), filters to "Status = Closed", groups rows by Region, sorts by Revenue descending, and aggregates using Sum — producing a clean, ranked regional summary.</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200" b="1" spc="100" kern="0" dirty="0">
                <a:solidFill>
                  <a:srgbClr val="0F62FE"/>
                </a:solidFill>
                <a:latin typeface="Calibri" pitchFamily="34" charset="0"/>
                <a:ea typeface="Calibri" pitchFamily="34" charset="-122"/>
                <a:cs typeface="Calibri" pitchFamily="34" charset="-120"/>
              </a:rPr>
              <a:t>DELIVERING REPORTS AUTOMATICALLY</a:t>
            </a:r>
            <a:endParaRPr lang="en-US" sz="1200" dirty="0"/>
          </a:p>
        </p:txBody>
      </p:sp>
      <p:sp>
        <p:nvSpPr>
          <p:cNvPr id="3" name="Text 1"/>
          <p:cNvSpPr/>
          <p:nvPr/>
        </p:nvSpPr>
        <p:spPr>
          <a:xfrm>
            <a:off x="548640" y="566928"/>
            <a:ext cx="10789920" cy="685800"/>
          </a:xfrm>
          <a:prstGeom prst="rect">
            <a:avLst/>
          </a:prstGeom>
          <a:noFill/>
          <a:ln/>
        </p:spPr>
        <p:txBody>
          <a:bodyPr wrap="square" rtlCol="0" anchor="ctr"/>
          <a:lstStyle/>
          <a:p>
            <a:pPr indent="0" marL="0">
              <a:buNone/>
            </a:pPr>
            <a:r>
              <a:rPr lang="en-US" sz="3000" b="1" dirty="0">
                <a:solidFill>
                  <a:srgbClr val="161616"/>
                </a:solidFill>
                <a:latin typeface="Cambria" pitchFamily="34" charset="0"/>
                <a:ea typeface="Cambria" pitchFamily="34" charset="-122"/>
                <a:cs typeface="Cambria" pitchFamily="34" charset="-120"/>
              </a:rPr>
              <a:t>Scheduling and Automation</a:t>
            </a:r>
            <a:endParaRPr lang="en-US" sz="3000" dirty="0"/>
          </a:p>
        </p:txBody>
      </p:sp>
      <p:sp>
        <p:nvSpPr>
          <p:cNvPr id="4" name="Shape 2"/>
          <p:cNvSpPr/>
          <p:nvPr/>
        </p:nvSpPr>
        <p:spPr>
          <a:xfrm>
            <a:off x="548640" y="1298448"/>
            <a:ext cx="11064240" cy="18288"/>
          </a:xfrm>
          <a:prstGeom prst="rect">
            <a:avLst/>
          </a:prstGeom>
          <a:solidFill>
            <a:srgbClr val="E0E0E0"/>
          </a:solidFill>
          <a:ln/>
        </p:spPr>
      </p:sp>
      <p:sp>
        <p:nvSpPr>
          <p:cNvPr id="5" name="Text 3"/>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525252"/>
                </a:solidFill>
                <a:latin typeface="Calibri" pitchFamily="34" charset="0"/>
                <a:ea typeface="Calibri" pitchFamily="34" charset="-122"/>
                <a:cs typeface="Calibri" pitchFamily="34" charset="-120"/>
              </a:rPr>
              <a:t>IBM Cognos Analytics Overview  |  Knowledge Transfer</a:t>
            </a:r>
            <a:endParaRPr lang="en-US" sz="900" dirty="0"/>
          </a:p>
        </p:txBody>
      </p:sp>
      <p:sp>
        <p:nvSpPr>
          <p:cNvPr id="6" name="Text 4"/>
          <p:cNvSpPr/>
          <p:nvPr/>
        </p:nvSpPr>
        <p:spPr>
          <a:xfrm>
            <a:off x="11365992" y="6510528"/>
            <a:ext cx="457200" cy="274320"/>
          </a:xfrm>
          <a:prstGeom prst="rect">
            <a:avLst/>
          </a:prstGeom>
          <a:noFill/>
          <a:ln/>
        </p:spPr>
        <p:txBody>
          <a:bodyPr wrap="square" rtlCol="0" anchor="ctr"/>
          <a:lstStyle/>
          <a:p>
            <a:pPr algn="r" indent="0" marL="0">
              <a:buNone/>
            </a:pPr>
            <a:r>
              <a:rPr lang="en-US" sz="900" dirty="0">
                <a:solidFill>
                  <a:srgbClr val="525252"/>
                </a:solidFill>
                <a:latin typeface="Calibri" pitchFamily="34" charset="0"/>
                <a:ea typeface="Calibri" pitchFamily="34" charset="-122"/>
                <a:cs typeface="Calibri" pitchFamily="34" charset="-120"/>
              </a:rPr>
              <a:t>14</a:t>
            </a:r>
            <a:endParaRPr lang="en-US" sz="900" dirty="0"/>
          </a:p>
        </p:txBody>
      </p:sp>
      <p:sp>
        <p:nvSpPr>
          <p:cNvPr id="7" name="Shape 5"/>
          <p:cNvSpPr/>
          <p:nvPr/>
        </p:nvSpPr>
        <p:spPr>
          <a:xfrm>
            <a:off x="548640" y="1691640"/>
            <a:ext cx="2606040" cy="2103120"/>
          </a:xfrm>
          <a:prstGeom prst="roundRect">
            <a:avLst>
              <a:gd name="adj" fmla="val 3478"/>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1485900" y="1920240"/>
            <a:ext cx="731520" cy="731520"/>
          </a:xfrm>
          <a:prstGeom prst="ellipse">
            <a:avLst/>
          </a:prstGeom>
          <a:solidFill>
            <a:srgbClr val="0F62FE"/>
          </a:solidFill>
          <a:ln/>
        </p:spPr>
      </p:sp>
      <p:pic>
        <p:nvPicPr>
          <p:cNvPr id="9" name="Image 0" descr="/home/claude/icons/calendar_FFFFFF.png">    </p:cNvPr>
          <p:cNvPicPr>
            <a:picLocks noChangeAspect="1"/>
          </p:cNvPicPr>
          <p:nvPr/>
        </p:nvPicPr>
        <p:blipFill>
          <a:blip r:embed="rId1"/>
          <a:stretch>
            <a:fillRect/>
          </a:stretch>
        </p:blipFill>
        <p:spPr>
          <a:xfrm>
            <a:off x="1676095" y="2110435"/>
            <a:ext cx="351130" cy="351130"/>
          </a:xfrm>
          <a:prstGeom prst="rect">
            <a:avLst/>
          </a:prstGeom>
        </p:spPr>
      </p:pic>
      <p:sp>
        <p:nvSpPr>
          <p:cNvPr id="10" name="Text 7"/>
          <p:cNvSpPr/>
          <p:nvPr/>
        </p:nvSpPr>
        <p:spPr>
          <a:xfrm>
            <a:off x="685800" y="2788920"/>
            <a:ext cx="2331720" cy="457200"/>
          </a:xfrm>
          <a:prstGeom prst="rect">
            <a:avLst/>
          </a:prstGeom>
          <a:noFill/>
          <a:ln/>
        </p:spPr>
        <p:txBody>
          <a:bodyPr wrap="square" rtlCol="0" anchor="ctr"/>
          <a:lstStyle/>
          <a:p>
            <a:pPr algn="ctr" indent="0" marL="0">
              <a:buNone/>
            </a:pPr>
            <a:r>
              <a:rPr lang="en-US" sz="1200" b="1" dirty="0">
                <a:solidFill>
                  <a:srgbClr val="161616"/>
                </a:solidFill>
                <a:latin typeface="Calibri" pitchFamily="34" charset="0"/>
                <a:ea typeface="Calibri" pitchFamily="34" charset="-122"/>
                <a:cs typeface="Calibri" pitchFamily="34" charset="-120"/>
              </a:rPr>
              <a:t>Scheduled Reports</a:t>
            </a:r>
            <a:endParaRPr lang="en-US" sz="1200" dirty="0"/>
          </a:p>
        </p:txBody>
      </p:sp>
      <p:sp>
        <p:nvSpPr>
          <p:cNvPr id="11" name="Text 8"/>
          <p:cNvSpPr/>
          <p:nvPr/>
        </p:nvSpPr>
        <p:spPr>
          <a:xfrm>
            <a:off x="713232" y="3227832"/>
            <a:ext cx="2276856" cy="548640"/>
          </a:xfrm>
          <a:prstGeom prst="rect">
            <a:avLst/>
          </a:prstGeom>
          <a:noFill/>
          <a:ln/>
        </p:spPr>
        <p:txBody>
          <a:bodyPr wrap="square" rtlCol="0" anchor="t"/>
          <a:lstStyle/>
          <a:p>
            <a:pPr algn="ctr" indent="0" marL="0">
              <a:buNone/>
            </a:pPr>
            <a:r>
              <a:rPr lang="en-US" sz="950" dirty="0">
                <a:solidFill>
                  <a:srgbClr val="525252"/>
                </a:solidFill>
                <a:latin typeface="Calibri" pitchFamily="34" charset="0"/>
                <a:ea typeface="Calibri" pitchFamily="34" charset="-122"/>
                <a:cs typeface="Calibri" pitchFamily="34" charset="-120"/>
              </a:rPr>
              <a:t>Run automatically on a recurring calendar (daily, weekly, monthly).</a:t>
            </a:r>
            <a:endParaRPr lang="en-US" sz="950" dirty="0"/>
          </a:p>
        </p:txBody>
      </p:sp>
      <p:sp>
        <p:nvSpPr>
          <p:cNvPr id="12" name="Shape 9"/>
          <p:cNvSpPr/>
          <p:nvPr/>
        </p:nvSpPr>
        <p:spPr>
          <a:xfrm>
            <a:off x="3172968" y="2743200"/>
            <a:ext cx="219456" cy="0"/>
          </a:xfrm>
          <a:prstGeom prst="line">
            <a:avLst/>
          </a:prstGeom>
          <a:noFill/>
          <a:ln w="25400">
            <a:solidFill>
              <a:srgbClr val="0F62FE"/>
            </a:solidFill>
            <a:prstDash val="solid"/>
            <a:tailEnd type="triangle"/>
          </a:ln>
        </p:spPr>
      </p:sp>
      <p:sp>
        <p:nvSpPr>
          <p:cNvPr id="13" name="Shape 10"/>
          <p:cNvSpPr/>
          <p:nvPr/>
        </p:nvSpPr>
        <p:spPr>
          <a:xfrm>
            <a:off x="3410712" y="1691640"/>
            <a:ext cx="2606040" cy="2103120"/>
          </a:xfrm>
          <a:prstGeom prst="roundRect">
            <a:avLst>
              <a:gd name="adj" fmla="val 3478"/>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4" name="Shape 11"/>
          <p:cNvSpPr/>
          <p:nvPr/>
        </p:nvSpPr>
        <p:spPr>
          <a:xfrm>
            <a:off x="4347972" y="1920240"/>
            <a:ext cx="731520" cy="731520"/>
          </a:xfrm>
          <a:prstGeom prst="ellipse">
            <a:avLst/>
          </a:prstGeom>
          <a:solidFill>
            <a:srgbClr val="0F62FE"/>
          </a:solidFill>
          <a:ln/>
        </p:spPr>
      </p:sp>
      <p:pic>
        <p:nvPicPr>
          <p:cNvPr id="15" name="Image 1" descr="/home/claude/icons/bolt_FFFFFF.png">    </p:cNvPr>
          <p:cNvPicPr>
            <a:picLocks noChangeAspect="1"/>
          </p:cNvPicPr>
          <p:nvPr/>
        </p:nvPicPr>
        <p:blipFill>
          <a:blip r:embed="rId2"/>
          <a:stretch>
            <a:fillRect/>
          </a:stretch>
        </p:blipFill>
        <p:spPr>
          <a:xfrm>
            <a:off x="4538167" y="2110435"/>
            <a:ext cx="351130" cy="351130"/>
          </a:xfrm>
          <a:prstGeom prst="rect">
            <a:avLst/>
          </a:prstGeom>
        </p:spPr>
      </p:pic>
      <p:sp>
        <p:nvSpPr>
          <p:cNvPr id="16" name="Text 12"/>
          <p:cNvSpPr/>
          <p:nvPr/>
        </p:nvSpPr>
        <p:spPr>
          <a:xfrm>
            <a:off x="3547872" y="2788920"/>
            <a:ext cx="2331720" cy="457200"/>
          </a:xfrm>
          <a:prstGeom prst="rect">
            <a:avLst/>
          </a:prstGeom>
          <a:noFill/>
          <a:ln/>
        </p:spPr>
        <p:txBody>
          <a:bodyPr wrap="square" rtlCol="0" anchor="ctr"/>
          <a:lstStyle/>
          <a:p>
            <a:pPr algn="ctr" indent="0" marL="0">
              <a:buNone/>
            </a:pPr>
            <a:r>
              <a:rPr lang="en-US" sz="1200" b="1" dirty="0">
                <a:solidFill>
                  <a:srgbClr val="161616"/>
                </a:solidFill>
                <a:latin typeface="Calibri" pitchFamily="34" charset="0"/>
                <a:ea typeface="Calibri" pitchFamily="34" charset="-122"/>
                <a:cs typeface="Calibri" pitchFamily="34" charset="-120"/>
              </a:rPr>
              <a:t>Event-Driven Execution</a:t>
            </a:r>
            <a:endParaRPr lang="en-US" sz="1200" dirty="0"/>
          </a:p>
        </p:txBody>
      </p:sp>
      <p:sp>
        <p:nvSpPr>
          <p:cNvPr id="17" name="Text 13"/>
          <p:cNvSpPr/>
          <p:nvPr/>
        </p:nvSpPr>
        <p:spPr>
          <a:xfrm>
            <a:off x="3575304" y="3227832"/>
            <a:ext cx="2276856" cy="548640"/>
          </a:xfrm>
          <a:prstGeom prst="rect">
            <a:avLst/>
          </a:prstGeom>
          <a:noFill/>
          <a:ln/>
        </p:spPr>
        <p:txBody>
          <a:bodyPr wrap="square" rtlCol="0" anchor="t"/>
          <a:lstStyle/>
          <a:p>
            <a:pPr algn="ctr" indent="0" marL="0">
              <a:buNone/>
            </a:pPr>
            <a:r>
              <a:rPr lang="en-US" sz="950" dirty="0">
                <a:solidFill>
                  <a:srgbClr val="525252"/>
                </a:solidFill>
                <a:latin typeface="Calibri" pitchFamily="34" charset="0"/>
                <a:ea typeface="Calibri" pitchFamily="34" charset="-122"/>
                <a:cs typeface="Calibri" pitchFamily="34" charset="-120"/>
              </a:rPr>
              <a:t>Trigger a report run when a business event occurs (e.g. data load completes).</a:t>
            </a:r>
            <a:endParaRPr lang="en-US" sz="950" dirty="0"/>
          </a:p>
        </p:txBody>
      </p:sp>
      <p:sp>
        <p:nvSpPr>
          <p:cNvPr id="18" name="Shape 14"/>
          <p:cNvSpPr/>
          <p:nvPr/>
        </p:nvSpPr>
        <p:spPr>
          <a:xfrm>
            <a:off x="6035040" y="2743200"/>
            <a:ext cx="219456" cy="0"/>
          </a:xfrm>
          <a:prstGeom prst="line">
            <a:avLst/>
          </a:prstGeom>
          <a:noFill/>
          <a:ln w="25400">
            <a:solidFill>
              <a:srgbClr val="0F62FE"/>
            </a:solidFill>
            <a:prstDash val="solid"/>
            <a:tailEnd type="triangle"/>
          </a:ln>
        </p:spPr>
      </p:sp>
      <p:sp>
        <p:nvSpPr>
          <p:cNvPr id="19" name="Shape 15"/>
          <p:cNvSpPr/>
          <p:nvPr/>
        </p:nvSpPr>
        <p:spPr>
          <a:xfrm>
            <a:off x="6272784" y="1691640"/>
            <a:ext cx="2606040" cy="2103120"/>
          </a:xfrm>
          <a:prstGeom prst="roundRect">
            <a:avLst>
              <a:gd name="adj" fmla="val 3478"/>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0" name="Shape 16"/>
          <p:cNvSpPr/>
          <p:nvPr/>
        </p:nvSpPr>
        <p:spPr>
          <a:xfrm>
            <a:off x="7210044" y="1920240"/>
            <a:ext cx="731520" cy="731520"/>
          </a:xfrm>
          <a:prstGeom prst="ellipse">
            <a:avLst/>
          </a:prstGeom>
          <a:solidFill>
            <a:srgbClr val="0F62FE"/>
          </a:solidFill>
          <a:ln/>
        </p:spPr>
      </p:sp>
      <p:pic>
        <p:nvPicPr>
          <p:cNvPr id="21" name="Image 2" descr="/home/claude/icons/mail_FFFFFF.png">    </p:cNvPr>
          <p:cNvPicPr>
            <a:picLocks noChangeAspect="1"/>
          </p:cNvPicPr>
          <p:nvPr/>
        </p:nvPicPr>
        <p:blipFill>
          <a:blip r:embed="rId3"/>
          <a:stretch>
            <a:fillRect/>
          </a:stretch>
        </p:blipFill>
        <p:spPr>
          <a:xfrm>
            <a:off x="7400239" y="2110435"/>
            <a:ext cx="351130" cy="351130"/>
          </a:xfrm>
          <a:prstGeom prst="rect">
            <a:avLst/>
          </a:prstGeom>
        </p:spPr>
      </p:pic>
      <p:sp>
        <p:nvSpPr>
          <p:cNvPr id="22" name="Text 17"/>
          <p:cNvSpPr/>
          <p:nvPr/>
        </p:nvSpPr>
        <p:spPr>
          <a:xfrm>
            <a:off x="6409944" y="2788920"/>
            <a:ext cx="2331720" cy="457200"/>
          </a:xfrm>
          <a:prstGeom prst="rect">
            <a:avLst/>
          </a:prstGeom>
          <a:noFill/>
          <a:ln/>
        </p:spPr>
        <p:txBody>
          <a:bodyPr wrap="square" rtlCol="0" anchor="ctr"/>
          <a:lstStyle/>
          <a:p>
            <a:pPr algn="ctr" indent="0" marL="0">
              <a:buNone/>
            </a:pPr>
            <a:r>
              <a:rPr lang="en-US" sz="1200" b="1" dirty="0">
                <a:solidFill>
                  <a:srgbClr val="161616"/>
                </a:solidFill>
                <a:latin typeface="Calibri" pitchFamily="34" charset="0"/>
                <a:ea typeface="Calibri" pitchFamily="34" charset="-122"/>
                <a:cs typeface="Calibri" pitchFamily="34" charset="-120"/>
              </a:rPr>
              <a:t>Email Delivery</a:t>
            </a:r>
            <a:endParaRPr lang="en-US" sz="1200" dirty="0"/>
          </a:p>
        </p:txBody>
      </p:sp>
      <p:sp>
        <p:nvSpPr>
          <p:cNvPr id="23" name="Text 18"/>
          <p:cNvSpPr/>
          <p:nvPr/>
        </p:nvSpPr>
        <p:spPr>
          <a:xfrm>
            <a:off x="6437376" y="3227832"/>
            <a:ext cx="2276856" cy="548640"/>
          </a:xfrm>
          <a:prstGeom prst="rect">
            <a:avLst/>
          </a:prstGeom>
          <a:noFill/>
          <a:ln/>
        </p:spPr>
        <p:txBody>
          <a:bodyPr wrap="square" rtlCol="0" anchor="t"/>
          <a:lstStyle/>
          <a:p>
            <a:pPr algn="ctr" indent="0" marL="0">
              <a:buNone/>
            </a:pPr>
            <a:r>
              <a:rPr lang="en-US" sz="950" dirty="0">
                <a:solidFill>
                  <a:srgbClr val="525252"/>
                </a:solidFill>
                <a:latin typeface="Calibri" pitchFamily="34" charset="0"/>
                <a:ea typeface="Calibri" pitchFamily="34" charset="-122"/>
                <a:cs typeface="Calibri" pitchFamily="34" charset="-120"/>
              </a:rPr>
              <a:t>Send the finished report as an attachment or link to a distribution list.</a:t>
            </a:r>
            <a:endParaRPr lang="en-US" sz="950" dirty="0"/>
          </a:p>
        </p:txBody>
      </p:sp>
      <p:sp>
        <p:nvSpPr>
          <p:cNvPr id="24" name="Shape 19"/>
          <p:cNvSpPr/>
          <p:nvPr/>
        </p:nvSpPr>
        <p:spPr>
          <a:xfrm>
            <a:off x="8897112" y="2743200"/>
            <a:ext cx="219456" cy="0"/>
          </a:xfrm>
          <a:prstGeom prst="line">
            <a:avLst/>
          </a:prstGeom>
          <a:noFill/>
          <a:ln w="25400">
            <a:solidFill>
              <a:srgbClr val="0F62FE"/>
            </a:solidFill>
            <a:prstDash val="solid"/>
            <a:tailEnd type="triangle"/>
          </a:ln>
        </p:spPr>
      </p:sp>
      <p:sp>
        <p:nvSpPr>
          <p:cNvPr id="25" name="Shape 20"/>
          <p:cNvSpPr/>
          <p:nvPr/>
        </p:nvSpPr>
        <p:spPr>
          <a:xfrm>
            <a:off x="9134856" y="1691640"/>
            <a:ext cx="2606040" cy="2103120"/>
          </a:xfrm>
          <a:prstGeom prst="roundRect">
            <a:avLst>
              <a:gd name="adj" fmla="val 3478"/>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6" name="Shape 21"/>
          <p:cNvSpPr/>
          <p:nvPr/>
        </p:nvSpPr>
        <p:spPr>
          <a:xfrm>
            <a:off x="10072116" y="1920240"/>
            <a:ext cx="731520" cy="731520"/>
          </a:xfrm>
          <a:prstGeom prst="ellipse">
            <a:avLst/>
          </a:prstGeom>
          <a:solidFill>
            <a:srgbClr val="0F62FE"/>
          </a:solidFill>
          <a:ln/>
        </p:spPr>
      </p:sp>
      <p:pic>
        <p:nvPicPr>
          <p:cNvPr id="27" name="Image 3" descr="/home/claude/icons/repeat_FFFFFF.png">    </p:cNvPr>
          <p:cNvPicPr>
            <a:picLocks noChangeAspect="1"/>
          </p:cNvPicPr>
          <p:nvPr/>
        </p:nvPicPr>
        <p:blipFill>
          <a:blip r:embed="rId4"/>
          <a:stretch>
            <a:fillRect/>
          </a:stretch>
        </p:blipFill>
        <p:spPr>
          <a:xfrm>
            <a:off x="10262311" y="2110435"/>
            <a:ext cx="351130" cy="351130"/>
          </a:xfrm>
          <a:prstGeom prst="rect">
            <a:avLst/>
          </a:prstGeom>
        </p:spPr>
      </p:pic>
      <p:sp>
        <p:nvSpPr>
          <p:cNvPr id="28" name="Text 22"/>
          <p:cNvSpPr/>
          <p:nvPr/>
        </p:nvSpPr>
        <p:spPr>
          <a:xfrm>
            <a:off x="9272016" y="2788920"/>
            <a:ext cx="2331720" cy="457200"/>
          </a:xfrm>
          <a:prstGeom prst="rect">
            <a:avLst/>
          </a:prstGeom>
          <a:noFill/>
          <a:ln/>
        </p:spPr>
        <p:txBody>
          <a:bodyPr wrap="square" rtlCol="0" anchor="ctr"/>
          <a:lstStyle/>
          <a:p>
            <a:pPr algn="ctr" indent="0" marL="0">
              <a:buNone/>
            </a:pPr>
            <a:r>
              <a:rPr lang="en-US" sz="1200" b="1" dirty="0">
                <a:solidFill>
                  <a:srgbClr val="161616"/>
                </a:solidFill>
                <a:latin typeface="Calibri" pitchFamily="34" charset="0"/>
                <a:ea typeface="Calibri" pitchFamily="34" charset="-122"/>
                <a:cs typeface="Calibri" pitchFamily="34" charset="-120"/>
              </a:rPr>
              <a:t>Burst Reports</a:t>
            </a:r>
            <a:endParaRPr lang="en-US" sz="1200" dirty="0"/>
          </a:p>
        </p:txBody>
      </p:sp>
      <p:sp>
        <p:nvSpPr>
          <p:cNvPr id="29" name="Text 23"/>
          <p:cNvSpPr/>
          <p:nvPr/>
        </p:nvSpPr>
        <p:spPr>
          <a:xfrm>
            <a:off x="9299448" y="3227832"/>
            <a:ext cx="2276856" cy="548640"/>
          </a:xfrm>
          <a:prstGeom prst="rect">
            <a:avLst/>
          </a:prstGeom>
          <a:noFill/>
          <a:ln/>
        </p:spPr>
        <p:txBody>
          <a:bodyPr wrap="square" rtlCol="0" anchor="t"/>
          <a:lstStyle/>
          <a:p>
            <a:pPr algn="ctr" indent="0" marL="0">
              <a:buNone/>
            </a:pPr>
            <a:r>
              <a:rPr lang="en-US" sz="950" dirty="0">
                <a:solidFill>
                  <a:srgbClr val="525252"/>
                </a:solidFill>
                <a:latin typeface="Calibri" pitchFamily="34" charset="0"/>
                <a:ea typeface="Calibri" pitchFamily="34" charset="-122"/>
                <a:cs typeface="Calibri" pitchFamily="34" charset="-120"/>
              </a:rPr>
              <a:t>Split one run into personalized copies — e.g. one PDF per regional manager.</a:t>
            </a:r>
            <a:endParaRPr lang="en-US" sz="950" dirty="0"/>
          </a:p>
        </p:txBody>
      </p:sp>
      <p:sp>
        <p:nvSpPr>
          <p:cNvPr id="30" name="Shape 24"/>
          <p:cNvSpPr/>
          <p:nvPr/>
        </p:nvSpPr>
        <p:spPr>
          <a:xfrm>
            <a:off x="548640" y="4114800"/>
            <a:ext cx="5349240" cy="2148840"/>
          </a:xfrm>
          <a:prstGeom prst="roundRect">
            <a:avLst>
              <a:gd name="adj" fmla="val 3404"/>
            </a:avLst>
          </a:prstGeom>
          <a:solidFill>
            <a:srgbClr val="F4F4F4"/>
          </a:solidFill>
          <a:ln w="9525">
            <a:solidFill>
              <a:srgbClr val="E0E0E0"/>
            </a:solidFill>
            <a:prstDash val="solid"/>
          </a:ln>
        </p:spPr>
      </p:sp>
      <p:sp>
        <p:nvSpPr>
          <p:cNvPr id="31" name="Text 25"/>
          <p:cNvSpPr/>
          <p:nvPr/>
        </p:nvSpPr>
        <p:spPr>
          <a:xfrm>
            <a:off x="777240" y="4251960"/>
            <a:ext cx="4572000" cy="27432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Report History</a:t>
            </a:r>
            <a:endParaRPr lang="en-US" sz="1300" dirty="0"/>
          </a:p>
        </p:txBody>
      </p:sp>
      <p:sp>
        <p:nvSpPr>
          <p:cNvPr id="32" name="Text 26"/>
          <p:cNvSpPr/>
          <p:nvPr/>
        </p:nvSpPr>
        <p:spPr>
          <a:xfrm>
            <a:off x="777240" y="4572000"/>
            <a:ext cx="4937760" cy="1645920"/>
          </a:xfrm>
          <a:prstGeom prst="rect">
            <a:avLst/>
          </a:prstGeom>
          <a:noFill/>
          <a:ln/>
        </p:spPr>
        <p:txBody>
          <a:bodyPr wrap="square" rtlCol="0" anchor="t"/>
          <a:lstStyle/>
          <a:p>
            <a:pPr marL="228600" indent="-228600">
              <a:spcAft>
                <a:spcPts val="800"/>
              </a:spcAft>
              <a:buSzPct val="100000"/>
              <a:buChar char="●"/>
            </a:pPr>
            <a:r>
              <a:rPr lang="en-US" sz="1150" dirty="0">
                <a:solidFill>
                  <a:srgbClr val="161616"/>
                </a:solidFill>
                <a:latin typeface="Calibri" pitchFamily="34" charset="0"/>
                <a:ea typeface="Calibri" pitchFamily="34" charset="-122"/>
                <a:cs typeface="Calibri" pitchFamily="34" charset="-120"/>
              </a:rPr>
              <a:t>Every scheduled or manual run is logged with timestamp and status</a:t>
            </a:r>
            <a:endParaRPr lang="en-US" sz="1150" dirty="0"/>
          </a:p>
          <a:p>
            <a:pPr marL="228600" indent="-228600">
              <a:spcAft>
                <a:spcPts val="800"/>
              </a:spcAft>
              <a:buSzPct val="100000"/>
              <a:buChar char="●"/>
            </a:pPr>
            <a:r>
              <a:rPr lang="en-US" sz="1150" dirty="0">
                <a:solidFill>
                  <a:srgbClr val="161616"/>
                </a:solidFill>
                <a:latin typeface="Calibri" pitchFamily="34" charset="0"/>
                <a:ea typeface="Calibri" pitchFamily="34" charset="-122"/>
                <a:cs typeface="Calibri" pitchFamily="34" charset="-120"/>
              </a:rPr>
              <a:t>Administrators can view success/failure and re-run if needed</a:t>
            </a:r>
            <a:endParaRPr lang="en-US" sz="1150" dirty="0"/>
          </a:p>
          <a:p>
            <a:pPr marL="228600" indent="-228600">
              <a:spcAft>
                <a:spcPts val="800"/>
              </a:spcAft>
              <a:buSzPct val="100000"/>
              <a:buChar char="●"/>
            </a:pPr>
            <a:r>
              <a:rPr lang="en-US" sz="1150" dirty="0">
                <a:solidFill>
                  <a:srgbClr val="161616"/>
                </a:solidFill>
                <a:latin typeface="Calibri" pitchFamily="34" charset="0"/>
                <a:ea typeface="Calibri" pitchFamily="34" charset="-122"/>
                <a:cs typeface="Calibri" pitchFamily="34" charset="-120"/>
              </a:rPr>
              <a:t>Useful for auditing and troubleshooting missed deliveries</a:t>
            </a:r>
            <a:endParaRPr lang="en-US" sz="1150" dirty="0"/>
          </a:p>
        </p:txBody>
      </p:sp>
      <p:sp>
        <p:nvSpPr>
          <p:cNvPr id="33" name="Shape 27"/>
          <p:cNvSpPr/>
          <p:nvPr/>
        </p:nvSpPr>
        <p:spPr>
          <a:xfrm>
            <a:off x="6126480" y="4114800"/>
            <a:ext cx="5349240" cy="2148840"/>
          </a:xfrm>
          <a:prstGeom prst="roundRect">
            <a:avLst>
              <a:gd name="adj" fmla="val 3404"/>
            </a:avLst>
          </a:prstGeom>
          <a:solidFill>
            <a:srgbClr val="CFF6F1"/>
          </a:solidFill>
          <a:ln w="9525">
            <a:solidFill>
              <a:srgbClr val="E0E0E0"/>
            </a:solidFill>
            <a:prstDash val="solid"/>
          </a:ln>
        </p:spPr>
      </p:sp>
      <p:sp>
        <p:nvSpPr>
          <p:cNvPr id="34" name="Text 28"/>
          <p:cNvSpPr/>
          <p:nvPr/>
        </p:nvSpPr>
        <p:spPr>
          <a:xfrm>
            <a:off x="6355080" y="4251960"/>
            <a:ext cx="4572000" cy="274320"/>
          </a:xfrm>
          <a:prstGeom prst="rect">
            <a:avLst/>
          </a:prstGeom>
          <a:noFill/>
          <a:ln/>
        </p:spPr>
        <p:txBody>
          <a:bodyPr wrap="square" rtlCol="0" anchor="ctr"/>
          <a:lstStyle/>
          <a:p>
            <a:pPr indent="0" marL="0">
              <a:buNone/>
            </a:pPr>
            <a:r>
              <a:rPr lang="en-US" sz="1300" b="1" dirty="0">
                <a:solidFill>
                  <a:srgbClr val="007D79"/>
                </a:solidFill>
                <a:latin typeface="Calibri" pitchFamily="34" charset="0"/>
                <a:ea typeface="Calibri" pitchFamily="34" charset="-122"/>
                <a:cs typeface="Calibri" pitchFamily="34" charset="-120"/>
              </a:rPr>
              <a:t>Real-World Example</a:t>
            </a:r>
            <a:endParaRPr lang="en-US" sz="1300" dirty="0"/>
          </a:p>
        </p:txBody>
      </p:sp>
      <p:sp>
        <p:nvSpPr>
          <p:cNvPr id="35" name="Text 29"/>
          <p:cNvSpPr/>
          <p:nvPr/>
        </p:nvSpPr>
        <p:spPr>
          <a:xfrm>
            <a:off x="6355080" y="4572000"/>
            <a:ext cx="4937760" cy="1554480"/>
          </a:xfrm>
          <a:prstGeom prst="rect">
            <a:avLst/>
          </a:prstGeom>
          <a:noFill/>
          <a:ln/>
        </p:spPr>
        <p:txBody>
          <a:bodyPr wrap="square" rtlCol="0" anchor="t"/>
          <a:lstStyle/>
          <a:p>
            <a:pPr indent="0" marL="0">
              <a:buNone/>
            </a:pPr>
            <a:r>
              <a:rPr lang="en-US" sz="1150" dirty="0">
                <a:solidFill>
                  <a:srgbClr val="161616"/>
                </a:solidFill>
                <a:latin typeface="Calibri" pitchFamily="34" charset="0"/>
                <a:ea typeface="Calibri" pitchFamily="34" charset="-122"/>
                <a:cs typeface="Calibri" pitchFamily="34" charset="-120"/>
              </a:rPr>
              <a:t>A finance team schedules a month-end close report to run at 6 AM on the 1st of every month, then bursts it so each regional controller automatically receives only their own region's PDF by email.</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200" b="1" spc="100" kern="0" dirty="0">
                <a:solidFill>
                  <a:srgbClr val="0F62FE"/>
                </a:solidFill>
                <a:latin typeface="Calibri" pitchFamily="34" charset="0"/>
                <a:ea typeface="Calibri" pitchFamily="34" charset="-122"/>
                <a:cs typeface="Calibri" pitchFamily="34" charset="-120"/>
              </a:rPr>
              <a:t>GOVERNANCE &amp; CONTROL</a:t>
            </a:r>
            <a:endParaRPr lang="en-US" sz="1200" dirty="0"/>
          </a:p>
        </p:txBody>
      </p:sp>
      <p:sp>
        <p:nvSpPr>
          <p:cNvPr id="3" name="Text 1"/>
          <p:cNvSpPr/>
          <p:nvPr/>
        </p:nvSpPr>
        <p:spPr>
          <a:xfrm>
            <a:off x="548640" y="566928"/>
            <a:ext cx="10789920" cy="685800"/>
          </a:xfrm>
          <a:prstGeom prst="rect">
            <a:avLst/>
          </a:prstGeom>
          <a:noFill/>
          <a:ln/>
        </p:spPr>
        <p:txBody>
          <a:bodyPr wrap="square" rtlCol="0" anchor="ctr"/>
          <a:lstStyle/>
          <a:p>
            <a:pPr indent="0" marL="0">
              <a:buNone/>
            </a:pPr>
            <a:r>
              <a:rPr lang="en-US" sz="3000" b="1" dirty="0">
                <a:solidFill>
                  <a:srgbClr val="161616"/>
                </a:solidFill>
                <a:latin typeface="Cambria" pitchFamily="34" charset="0"/>
                <a:ea typeface="Cambria" pitchFamily="34" charset="-122"/>
                <a:cs typeface="Cambria" pitchFamily="34" charset="-120"/>
              </a:rPr>
              <a:t>Security and Administration</a:t>
            </a:r>
            <a:endParaRPr lang="en-US" sz="3000" dirty="0"/>
          </a:p>
        </p:txBody>
      </p:sp>
      <p:sp>
        <p:nvSpPr>
          <p:cNvPr id="4" name="Shape 2"/>
          <p:cNvSpPr/>
          <p:nvPr/>
        </p:nvSpPr>
        <p:spPr>
          <a:xfrm>
            <a:off x="548640" y="1298448"/>
            <a:ext cx="11064240" cy="18288"/>
          </a:xfrm>
          <a:prstGeom prst="rect">
            <a:avLst/>
          </a:prstGeom>
          <a:solidFill>
            <a:srgbClr val="E0E0E0"/>
          </a:solidFill>
          <a:ln/>
        </p:spPr>
      </p:sp>
      <p:sp>
        <p:nvSpPr>
          <p:cNvPr id="5" name="Text 3"/>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525252"/>
                </a:solidFill>
                <a:latin typeface="Calibri" pitchFamily="34" charset="0"/>
                <a:ea typeface="Calibri" pitchFamily="34" charset="-122"/>
                <a:cs typeface="Calibri" pitchFamily="34" charset="-120"/>
              </a:rPr>
              <a:t>IBM Cognos Analytics Overview  |  Knowledge Transfer</a:t>
            </a:r>
            <a:endParaRPr lang="en-US" sz="900" dirty="0"/>
          </a:p>
        </p:txBody>
      </p:sp>
      <p:sp>
        <p:nvSpPr>
          <p:cNvPr id="6" name="Text 4"/>
          <p:cNvSpPr/>
          <p:nvPr/>
        </p:nvSpPr>
        <p:spPr>
          <a:xfrm>
            <a:off x="11365992" y="6510528"/>
            <a:ext cx="457200" cy="274320"/>
          </a:xfrm>
          <a:prstGeom prst="rect">
            <a:avLst/>
          </a:prstGeom>
          <a:noFill/>
          <a:ln/>
        </p:spPr>
        <p:txBody>
          <a:bodyPr wrap="square" rtlCol="0" anchor="ctr"/>
          <a:lstStyle/>
          <a:p>
            <a:pPr algn="r" indent="0" marL="0">
              <a:buNone/>
            </a:pPr>
            <a:r>
              <a:rPr lang="en-US" sz="900" dirty="0">
                <a:solidFill>
                  <a:srgbClr val="525252"/>
                </a:solidFill>
                <a:latin typeface="Calibri" pitchFamily="34" charset="0"/>
                <a:ea typeface="Calibri" pitchFamily="34" charset="-122"/>
                <a:cs typeface="Calibri" pitchFamily="34" charset="-120"/>
              </a:rPr>
              <a:t>15</a:t>
            </a:r>
            <a:endParaRPr lang="en-US" sz="900" dirty="0"/>
          </a:p>
        </p:txBody>
      </p:sp>
      <p:sp>
        <p:nvSpPr>
          <p:cNvPr id="7" name="Shape 5"/>
          <p:cNvSpPr/>
          <p:nvPr/>
        </p:nvSpPr>
        <p:spPr>
          <a:xfrm>
            <a:off x="548640" y="1508760"/>
            <a:ext cx="5486400" cy="960120"/>
          </a:xfrm>
          <a:prstGeom prst="roundRect">
            <a:avLst>
              <a:gd name="adj" fmla="val 7619"/>
            </a:avLst>
          </a:prstGeom>
          <a:solidFill>
            <a:srgbClr val="D0E2FF"/>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731520" y="1719072"/>
            <a:ext cx="548640" cy="548640"/>
          </a:xfrm>
          <a:prstGeom prst="ellipse">
            <a:avLst/>
          </a:prstGeom>
          <a:solidFill>
            <a:srgbClr val="0F62FE"/>
          </a:solidFill>
          <a:ln/>
        </p:spPr>
      </p:sp>
      <p:pic>
        <p:nvPicPr>
          <p:cNvPr id="9" name="Image 0" descr="/home/claude/icons/key_FFFFFF.png">    </p:cNvPr>
          <p:cNvPicPr>
            <a:picLocks noChangeAspect="1"/>
          </p:cNvPicPr>
          <p:nvPr/>
        </p:nvPicPr>
        <p:blipFill>
          <a:blip r:embed="rId1"/>
          <a:stretch>
            <a:fillRect/>
          </a:stretch>
        </p:blipFill>
        <p:spPr>
          <a:xfrm>
            <a:off x="874166" y="1861718"/>
            <a:ext cx="263347" cy="263347"/>
          </a:xfrm>
          <a:prstGeom prst="rect">
            <a:avLst/>
          </a:prstGeom>
        </p:spPr>
      </p:pic>
      <p:sp>
        <p:nvSpPr>
          <p:cNvPr id="10" name="Text 7"/>
          <p:cNvSpPr/>
          <p:nvPr/>
        </p:nvSpPr>
        <p:spPr>
          <a:xfrm>
            <a:off x="1463040" y="1618488"/>
            <a:ext cx="4389120" cy="36576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Authentication</a:t>
            </a:r>
            <a:endParaRPr lang="en-US" sz="1300" dirty="0"/>
          </a:p>
        </p:txBody>
      </p:sp>
      <p:sp>
        <p:nvSpPr>
          <p:cNvPr id="11" name="Text 8"/>
          <p:cNvSpPr/>
          <p:nvPr/>
        </p:nvSpPr>
        <p:spPr>
          <a:xfrm>
            <a:off x="1463040" y="1965960"/>
            <a:ext cx="4389120" cy="457200"/>
          </a:xfrm>
          <a:prstGeom prst="rect">
            <a:avLst/>
          </a:prstGeom>
          <a:noFill/>
          <a:ln/>
        </p:spPr>
        <p:txBody>
          <a:bodyPr wrap="square" rtlCol="0" anchor="ctr"/>
          <a:lstStyle/>
          <a:p>
            <a:pPr indent="0" marL="0">
              <a:buNone/>
            </a:pPr>
            <a:r>
              <a:rPr lang="en-US" sz="1000" dirty="0">
                <a:solidFill>
                  <a:srgbClr val="525252"/>
                </a:solidFill>
                <a:latin typeface="Calibri" pitchFamily="34" charset="0"/>
                <a:ea typeface="Calibri" pitchFamily="34" charset="-122"/>
                <a:cs typeface="Calibri" pitchFamily="34" charset="-120"/>
              </a:rPr>
              <a:t>Verifies who you are (login via LDAP/AD/SSO)</a:t>
            </a:r>
            <a:endParaRPr lang="en-US" sz="1000" dirty="0"/>
          </a:p>
        </p:txBody>
      </p:sp>
      <p:sp>
        <p:nvSpPr>
          <p:cNvPr id="12" name="Shape 9"/>
          <p:cNvSpPr/>
          <p:nvPr/>
        </p:nvSpPr>
        <p:spPr>
          <a:xfrm>
            <a:off x="1005840" y="2468880"/>
            <a:ext cx="0" cy="91440"/>
          </a:xfrm>
          <a:prstGeom prst="line">
            <a:avLst/>
          </a:prstGeom>
          <a:noFill/>
          <a:ln w="19050">
            <a:solidFill>
              <a:srgbClr val="0F62FE"/>
            </a:solidFill>
            <a:prstDash val="solid"/>
            <a:tailEnd type="triangle"/>
          </a:ln>
        </p:spPr>
      </p:sp>
      <p:sp>
        <p:nvSpPr>
          <p:cNvPr id="13" name="Shape 10"/>
          <p:cNvSpPr/>
          <p:nvPr/>
        </p:nvSpPr>
        <p:spPr>
          <a:xfrm>
            <a:off x="548640" y="2578608"/>
            <a:ext cx="5486400" cy="960120"/>
          </a:xfrm>
          <a:prstGeom prst="roundRect">
            <a:avLst>
              <a:gd name="adj" fmla="val 7619"/>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4" name="Shape 11"/>
          <p:cNvSpPr/>
          <p:nvPr/>
        </p:nvSpPr>
        <p:spPr>
          <a:xfrm>
            <a:off x="731520" y="2788920"/>
            <a:ext cx="548640" cy="548640"/>
          </a:xfrm>
          <a:prstGeom prst="ellipse">
            <a:avLst/>
          </a:prstGeom>
          <a:solidFill>
            <a:srgbClr val="0F62FE"/>
          </a:solidFill>
          <a:ln/>
        </p:spPr>
      </p:sp>
      <p:pic>
        <p:nvPicPr>
          <p:cNvPr id="15" name="Image 1" descr="/home/claude/icons/lock_FFFFFF.png">    </p:cNvPr>
          <p:cNvPicPr>
            <a:picLocks noChangeAspect="1"/>
          </p:cNvPicPr>
          <p:nvPr/>
        </p:nvPicPr>
        <p:blipFill>
          <a:blip r:embed="rId2"/>
          <a:stretch>
            <a:fillRect/>
          </a:stretch>
        </p:blipFill>
        <p:spPr>
          <a:xfrm>
            <a:off x="874166" y="2931566"/>
            <a:ext cx="263347" cy="263347"/>
          </a:xfrm>
          <a:prstGeom prst="rect">
            <a:avLst/>
          </a:prstGeom>
        </p:spPr>
      </p:pic>
      <p:sp>
        <p:nvSpPr>
          <p:cNvPr id="16" name="Text 12"/>
          <p:cNvSpPr/>
          <p:nvPr/>
        </p:nvSpPr>
        <p:spPr>
          <a:xfrm>
            <a:off x="1463040" y="2688336"/>
            <a:ext cx="4389120" cy="36576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Authorization</a:t>
            </a:r>
            <a:endParaRPr lang="en-US" sz="1300" dirty="0"/>
          </a:p>
        </p:txBody>
      </p:sp>
      <p:sp>
        <p:nvSpPr>
          <p:cNvPr id="17" name="Text 13"/>
          <p:cNvSpPr/>
          <p:nvPr/>
        </p:nvSpPr>
        <p:spPr>
          <a:xfrm>
            <a:off x="1463040" y="3035808"/>
            <a:ext cx="4389120" cy="457200"/>
          </a:xfrm>
          <a:prstGeom prst="rect">
            <a:avLst/>
          </a:prstGeom>
          <a:noFill/>
          <a:ln/>
        </p:spPr>
        <p:txBody>
          <a:bodyPr wrap="square" rtlCol="0" anchor="ctr"/>
          <a:lstStyle/>
          <a:p>
            <a:pPr indent="0" marL="0">
              <a:buNone/>
            </a:pPr>
            <a:r>
              <a:rPr lang="en-US" sz="1000" dirty="0">
                <a:solidFill>
                  <a:srgbClr val="525252"/>
                </a:solidFill>
                <a:latin typeface="Calibri" pitchFamily="34" charset="0"/>
                <a:ea typeface="Calibri" pitchFamily="34" charset="-122"/>
                <a:cs typeface="Calibri" pitchFamily="34" charset="-120"/>
              </a:rPr>
              <a:t>Determines what an authenticated user can access</a:t>
            </a:r>
            <a:endParaRPr lang="en-US" sz="1000" dirty="0"/>
          </a:p>
        </p:txBody>
      </p:sp>
      <p:sp>
        <p:nvSpPr>
          <p:cNvPr id="18" name="Shape 14"/>
          <p:cNvSpPr/>
          <p:nvPr/>
        </p:nvSpPr>
        <p:spPr>
          <a:xfrm>
            <a:off x="1005840" y="3538728"/>
            <a:ext cx="0" cy="91440"/>
          </a:xfrm>
          <a:prstGeom prst="line">
            <a:avLst/>
          </a:prstGeom>
          <a:noFill/>
          <a:ln w="19050">
            <a:solidFill>
              <a:srgbClr val="0F62FE"/>
            </a:solidFill>
            <a:prstDash val="solid"/>
            <a:tailEnd type="triangle"/>
          </a:ln>
        </p:spPr>
      </p:sp>
      <p:sp>
        <p:nvSpPr>
          <p:cNvPr id="19" name="Shape 15"/>
          <p:cNvSpPr/>
          <p:nvPr/>
        </p:nvSpPr>
        <p:spPr>
          <a:xfrm>
            <a:off x="548640" y="3648456"/>
            <a:ext cx="5486400" cy="960120"/>
          </a:xfrm>
          <a:prstGeom prst="roundRect">
            <a:avLst>
              <a:gd name="adj" fmla="val 7619"/>
            </a:avLst>
          </a:prstGeom>
          <a:solidFill>
            <a:srgbClr val="D0E2FF"/>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0" name="Shape 16"/>
          <p:cNvSpPr/>
          <p:nvPr/>
        </p:nvSpPr>
        <p:spPr>
          <a:xfrm>
            <a:off x="731520" y="3858768"/>
            <a:ext cx="548640" cy="548640"/>
          </a:xfrm>
          <a:prstGeom prst="ellipse">
            <a:avLst/>
          </a:prstGeom>
          <a:solidFill>
            <a:srgbClr val="0F62FE"/>
          </a:solidFill>
          <a:ln/>
        </p:spPr>
      </p:sp>
      <p:pic>
        <p:nvPicPr>
          <p:cNvPr id="21" name="Image 2" descr="/home/claude/icons/group_FFFFFF.png">    </p:cNvPr>
          <p:cNvPicPr>
            <a:picLocks noChangeAspect="1"/>
          </p:cNvPicPr>
          <p:nvPr/>
        </p:nvPicPr>
        <p:blipFill>
          <a:blip r:embed="rId3"/>
          <a:stretch>
            <a:fillRect/>
          </a:stretch>
        </p:blipFill>
        <p:spPr>
          <a:xfrm>
            <a:off x="874166" y="4001414"/>
            <a:ext cx="263347" cy="263347"/>
          </a:xfrm>
          <a:prstGeom prst="rect">
            <a:avLst/>
          </a:prstGeom>
        </p:spPr>
      </p:pic>
      <p:sp>
        <p:nvSpPr>
          <p:cNvPr id="22" name="Text 17"/>
          <p:cNvSpPr/>
          <p:nvPr/>
        </p:nvSpPr>
        <p:spPr>
          <a:xfrm>
            <a:off x="1463040" y="3758184"/>
            <a:ext cx="4389120" cy="36576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Roles &amp; Groups</a:t>
            </a:r>
            <a:endParaRPr lang="en-US" sz="1300" dirty="0"/>
          </a:p>
        </p:txBody>
      </p:sp>
      <p:sp>
        <p:nvSpPr>
          <p:cNvPr id="23" name="Text 18"/>
          <p:cNvSpPr/>
          <p:nvPr/>
        </p:nvSpPr>
        <p:spPr>
          <a:xfrm>
            <a:off x="1463040" y="4105656"/>
            <a:ext cx="4389120" cy="457200"/>
          </a:xfrm>
          <a:prstGeom prst="rect">
            <a:avLst/>
          </a:prstGeom>
          <a:noFill/>
          <a:ln/>
        </p:spPr>
        <p:txBody>
          <a:bodyPr wrap="square" rtlCol="0" anchor="ctr"/>
          <a:lstStyle/>
          <a:p>
            <a:pPr indent="0" marL="0">
              <a:buNone/>
            </a:pPr>
            <a:r>
              <a:rPr lang="en-US" sz="1000" dirty="0">
                <a:solidFill>
                  <a:srgbClr val="525252"/>
                </a:solidFill>
                <a:latin typeface="Calibri" pitchFamily="34" charset="0"/>
                <a:ea typeface="Calibri" pitchFamily="34" charset="-122"/>
                <a:cs typeface="Calibri" pitchFamily="34" charset="-120"/>
              </a:rPr>
              <a:t>Bundle users so permissions can be assigned in bulk</a:t>
            </a:r>
            <a:endParaRPr lang="en-US" sz="1000" dirty="0"/>
          </a:p>
        </p:txBody>
      </p:sp>
      <p:sp>
        <p:nvSpPr>
          <p:cNvPr id="24" name="Shape 19"/>
          <p:cNvSpPr/>
          <p:nvPr/>
        </p:nvSpPr>
        <p:spPr>
          <a:xfrm>
            <a:off x="1005840" y="4608576"/>
            <a:ext cx="0" cy="91440"/>
          </a:xfrm>
          <a:prstGeom prst="line">
            <a:avLst/>
          </a:prstGeom>
          <a:noFill/>
          <a:ln w="19050">
            <a:solidFill>
              <a:srgbClr val="0F62FE"/>
            </a:solidFill>
            <a:prstDash val="solid"/>
            <a:tailEnd type="triangle"/>
          </a:ln>
        </p:spPr>
      </p:sp>
      <p:sp>
        <p:nvSpPr>
          <p:cNvPr id="25" name="Shape 20"/>
          <p:cNvSpPr/>
          <p:nvPr/>
        </p:nvSpPr>
        <p:spPr>
          <a:xfrm>
            <a:off x="548640" y="4718304"/>
            <a:ext cx="5486400" cy="960120"/>
          </a:xfrm>
          <a:prstGeom prst="roundRect">
            <a:avLst>
              <a:gd name="adj" fmla="val 7619"/>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6" name="Shape 21"/>
          <p:cNvSpPr/>
          <p:nvPr/>
        </p:nvSpPr>
        <p:spPr>
          <a:xfrm>
            <a:off x="731520" y="4928616"/>
            <a:ext cx="548640" cy="548640"/>
          </a:xfrm>
          <a:prstGeom prst="ellipse">
            <a:avLst/>
          </a:prstGeom>
          <a:solidFill>
            <a:srgbClr val="0F62FE"/>
          </a:solidFill>
          <a:ln/>
        </p:spPr>
      </p:sp>
      <p:pic>
        <p:nvPicPr>
          <p:cNvPr id="27" name="Image 3" descr="/home/claude/icons/shield_FFFFFF.png">    </p:cNvPr>
          <p:cNvPicPr>
            <a:picLocks noChangeAspect="1"/>
          </p:cNvPicPr>
          <p:nvPr/>
        </p:nvPicPr>
        <p:blipFill>
          <a:blip r:embed="rId4"/>
          <a:stretch>
            <a:fillRect/>
          </a:stretch>
        </p:blipFill>
        <p:spPr>
          <a:xfrm>
            <a:off x="874166" y="5071262"/>
            <a:ext cx="263347" cy="263347"/>
          </a:xfrm>
          <a:prstGeom prst="rect">
            <a:avLst/>
          </a:prstGeom>
        </p:spPr>
      </p:pic>
      <p:sp>
        <p:nvSpPr>
          <p:cNvPr id="28" name="Text 22"/>
          <p:cNvSpPr/>
          <p:nvPr/>
        </p:nvSpPr>
        <p:spPr>
          <a:xfrm>
            <a:off x="1463040" y="4828032"/>
            <a:ext cx="4389120" cy="36576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Permissions</a:t>
            </a:r>
            <a:endParaRPr lang="en-US" sz="1300" dirty="0"/>
          </a:p>
        </p:txBody>
      </p:sp>
      <p:sp>
        <p:nvSpPr>
          <p:cNvPr id="29" name="Text 23"/>
          <p:cNvSpPr/>
          <p:nvPr/>
        </p:nvSpPr>
        <p:spPr>
          <a:xfrm>
            <a:off x="1463040" y="5175504"/>
            <a:ext cx="4389120" cy="457200"/>
          </a:xfrm>
          <a:prstGeom prst="rect">
            <a:avLst/>
          </a:prstGeom>
          <a:noFill/>
          <a:ln/>
        </p:spPr>
        <p:txBody>
          <a:bodyPr wrap="square" rtlCol="0" anchor="ctr"/>
          <a:lstStyle/>
          <a:p>
            <a:pPr indent="0" marL="0">
              <a:buNone/>
            </a:pPr>
            <a:r>
              <a:rPr lang="en-US" sz="1000" dirty="0">
                <a:solidFill>
                  <a:srgbClr val="525252"/>
                </a:solidFill>
                <a:latin typeface="Calibri" pitchFamily="34" charset="0"/>
                <a:ea typeface="Calibri" pitchFamily="34" charset="-122"/>
                <a:cs typeface="Calibri" pitchFamily="34" charset="-120"/>
              </a:rPr>
              <a:t>Read / Write / Execute / Traverse rights on objects</a:t>
            </a:r>
            <a:endParaRPr lang="en-US" sz="1000" dirty="0"/>
          </a:p>
        </p:txBody>
      </p:sp>
      <p:sp>
        <p:nvSpPr>
          <p:cNvPr id="30" name="Shape 24"/>
          <p:cNvSpPr/>
          <p:nvPr/>
        </p:nvSpPr>
        <p:spPr>
          <a:xfrm>
            <a:off x="6400800" y="1508760"/>
            <a:ext cx="5212080" cy="1417320"/>
          </a:xfrm>
          <a:prstGeom prst="roundRect">
            <a:avLst>
              <a:gd name="adj" fmla="val 516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31" name="Shape 25"/>
          <p:cNvSpPr/>
          <p:nvPr/>
        </p:nvSpPr>
        <p:spPr>
          <a:xfrm>
            <a:off x="6629400" y="1764792"/>
            <a:ext cx="594360" cy="594360"/>
          </a:xfrm>
          <a:prstGeom prst="ellipse">
            <a:avLst/>
          </a:prstGeom>
          <a:solidFill>
            <a:srgbClr val="007D79"/>
          </a:solidFill>
          <a:ln/>
        </p:spPr>
      </p:sp>
      <p:pic>
        <p:nvPicPr>
          <p:cNvPr id="32" name="Image 4" descr="/home/claude/icons/folder_FFFFFF.png">    </p:cNvPr>
          <p:cNvPicPr>
            <a:picLocks noChangeAspect="1"/>
          </p:cNvPicPr>
          <p:nvPr/>
        </p:nvPicPr>
        <p:blipFill>
          <a:blip r:embed="rId5"/>
          <a:stretch>
            <a:fillRect/>
          </a:stretch>
        </p:blipFill>
        <p:spPr>
          <a:xfrm>
            <a:off x="6783934" y="1919326"/>
            <a:ext cx="285293" cy="285293"/>
          </a:xfrm>
          <a:prstGeom prst="rect">
            <a:avLst/>
          </a:prstGeom>
        </p:spPr>
      </p:pic>
      <p:sp>
        <p:nvSpPr>
          <p:cNvPr id="33" name="Text 26"/>
          <p:cNvSpPr/>
          <p:nvPr/>
        </p:nvSpPr>
        <p:spPr>
          <a:xfrm>
            <a:off x="7406640" y="1691640"/>
            <a:ext cx="4023360" cy="36576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Folder Security</a:t>
            </a:r>
            <a:endParaRPr lang="en-US" sz="1300" dirty="0"/>
          </a:p>
        </p:txBody>
      </p:sp>
      <p:sp>
        <p:nvSpPr>
          <p:cNvPr id="34" name="Text 27"/>
          <p:cNvSpPr/>
          <p:nvPr/>
        </p:nvSpPr>
        <p:spPr>
          <a:xfrm>
            <a:off x="7406640" y="2075688"/>
            <a:ext cx="4023360" cy="777240"/>
          </a:xfrm>
          <a:prstGeom prst="rect">
            <a:avLst/>
          </a:prstGeom>
          <a:noFill/>
          <a:ln/>
        </p:spPr>
        <p:txBody>
          <a:bodyPr wrap="square" rtlCol="0" anchor="t"/>
          <a:lstStyle/>
          <a:p>
            <a:pPr indent="0" marL="0">
              <a:buNone/>
            </a:pPr>
            <a:r>
              <a:rPr lang="en-US" sz="1050" dirty="0">
                <a:solidFill>
                  <a:srgbClr val="525252"/>
                </a:solidFill>
                <a:latin typeface="Calibri" pitchFamily="34" charset="0"/>
                <a:ea typeface="Calibri" pitchFamily="34" charset="-122"/>
                <a:cs typeface="Calibri" pitchFamily="34" charset="-120"/>
              </a:rPr>
              <a:t>Control access at the folder/report level, inherited or overridden.</a:t>
            </a:r>
            <a:endParaRPr lang="en-US" sz="1050" dirty="0"/>
          </a:p>
        </p:txBody>
      </p:sp>
      <p:sp>
        <p:nvSpPr>
          <p:cNvPr id="35" name="Shape 28"/>
          <p:cNvSpPr/>
          <p:nvPr/>
        </p:nvSpPr>
        <p:spPr>
          <a:xfrm>
            <a:off x="6400800" y="3108960"/>
            <a:ext cx="5212080" cy="1417320"/>
          </a:xfrm>
          <a:prstGeom prst="roundRect">
            <a:avLst>
              <a:gd name="adj" fmla="val 516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36" name="Shape 29"/>
          <p:cNvSpPr/>
          <p:nvPr/>
        </p:nvSpPr>
        <p:spPr>
          <a:xfrm>
            <a:off x="6629400" y="3364992"/>
            <a:ext cx="594360" cy="594360"/>
          </a:xfrm>
          <a:prstGeom prst="ellipse">
            <a:avLst/>
          </a:prstGeom>
          <a:solidFill>
            <a:srgbClr val="007D79"/>
          </a:solidFill>
          <a:ln/>
        </p:spPr>
      </p:sp>
      <p:pic>
        <p:nvPicPr>
          <p:cNvPr id="37" name="Image 5" descr="/home/claude/icons/table_FFFFFF.png">    </p:cNvPr>
          <p:cNvPicPr>
            <a:picLocks noChangeAspect="1"/>
          </p:cNvPicPr>
          <p:nvPr/>
        </p:nvPicPr>
        <p:blipFill>
          <a:blip r:embed="rId6"/>
          <a:stretch>
            <a:fillRect/>
          </a:stretch>
        </p:blipFill>
        <p:spPr>
          <a:xfrm>
            <a:off x="6783934" y="3519526"/>
            <a:ext cx="285293" cy="285293"/>
          </a:xfrm>
          <a:prstGeom prst="rect">
            <a:avLst/>
          </a:prstGeom>
        </p:spPr>
      </p:pic>
      <p:sp>
        <p:nvSpPr>
          <p:cNvPr id="38" name="Text 30"/>
          <p:cNvSpPr/>
          <p:nvPr/>
        </p:nvSpPr>
        <p:spPr>
          <a:xfrm>
            <a:off x="7406640" y="3291840"/>
            <a:ext cx="4023360" cy="36576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Row-Level Security</a:t>
            </a:r>
            <a:endParaRPr lang="en-US" sz="1300" dirty="0"/>
          </a:p>
        </p:txBody>
      </p:sp>
      <p:sp>
        <p:nvSpPr>
          <p:cNvPr id="39" name="Text 31"/>
          <p:cNvSpPr/>
          <p:nvPr/>
        </p:nvSpPr>
        <p:spPr>
          <a:xfrm>
            <a:off x="7406640" y="3675888"/>
            <a:ext cx="4023360" cy="777240"/>
          </a:xfrm>
          <a:prstGeom prst="rect">
            <a:avLst/>
          </a:prstGeom>
          <a:noFill/>
          <a:ln/>
        </p:spPr>
        <p:txBody>
          <a:bodyPr wrap="square" rtlCol="0" anchor="t"/>
          <a:lstStyle/>
          <a:p>
            <a:pPr indent="0" marL="0">
              <a:buNone/>
            </a:pPr>
            <a:r>
              <a:rPr lang="en-US" sz="1050" dirty="0">
                <a:solidFill>
                  <a:srgbClr val="525252"/>
                </a:solidFill>
                <a:latin typeface="Calibri" pitchFamily="34" charset="0"/>
                <a:ea typeface="Calibri" pitchFamily="34" charset="-122"/>
                <a:cs typeface="Calibri" pitchFamily="34" charset="-120"/>
              </a:rPr>
              <a:t>Filter which rows a user sees based on their identity — e.g. a manager sees only their region.</a:t>
            </a:r>
            <a:endParaRPr lang="en-US" sz="1050" dirty="0"/>
          </a:p>
        </p:txBody>
      </p:sp>
      <p:sp>
        <p:nvSpPr>
          <p:cNvPr id="40" name="Shape 32"/>
          <p:cNvSpPr/>
          <p:nvPr/>
        </p:nvSpPr>
        <p:spPr>
          <a:xfrm>
            <a:off x="6400800" y="4709160"/>
            <a:ext cx="5212080" cy="1417320"/>
          </a:xfrm>
          <a:prstGeom prst="roundRect">
            <a:avLst>
              <a:gd name="adj" fmla="val 516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41" name="Shape 33"/>
          <p:cNvSpPr/>
          <p:nvPr/>
        </p:nvSpPr>
        <p:spPr>
          <a:xfrm>
            <a:off x="6629400" y="4965192"/>
            <a:ext cx="594360" cy="594360"/>
          </a:xfrm>
          <a:prstGeom prst="ellipse">
            <a:avLst/>
          </a:prstGeom>
          <a:solidFill>
            <a:srgbClr val="007D79"/>
          </a:solidFill>
          <a:ln/>
        </p:spPr>
      </p:sp>
      <p:pic>
        <p:nvPicPr>
          <p:cNvPr id="42" name="Image 6" descr="/home/claude/icons/eye_FFFFFF.png">    </p:cNvPr>
          <p:cNvPicPr>
            <a:picLocks noChangeAspect="1"/>
          </p:cNvPicPr>
          <p:nvPr/>
        </p:nvPicPr>
        <p:blipFill>
          <a:blip r:embed="rId7"/>
          <a:stretch>
            <a:fillRect/>
          </a:stretch>
        </p:blipFill>
        <p:spPr>
          <a:xfrm>
            <a:off x="6783934" y="5119726"/>
            <a:ext cx="285293" cy="285293"/>
          </a:xfrm>
          <a:prstGeom prst="rect">
            <a:avLst/>
          </a:prstGeom>
        </p:spPr>
      </p:pic>
      <p:sp>
        <p:nvSpPr>
          <p:cNvPr id="43" name="Text 34"/>
          <p:cNvSpPr/>
          <p:nvPr/>
        </p:nvSpPr>
        <p:spPr>
          <a:xfrm>
            <a:off x="7406640" y="4892040"/>
            <a:ext cx="4023360" cy="36576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Audit Logging</a:t>
            </a:r>
            <a:endParaRPr lang="en-US" sz="1300" dirty="0"/>
          </a:p>
        </p:txBody>
      </p:sp>
      <p:sp>
        <p:nvSpPr>
          <p:cNvPr id="44" name="Text 35"/>
          <p:cNvSpPr/>
          <p:nvPr/>
        </p:nvSpPr>
        <p:spPr>
          <a:xfrm>
            <a:off x="7406640" y="5276088"/>
            <a:ext cx="4023360" cy="777240"/>
          </a:xfrm>
          <a:prstGeom prst="rect">
            <a:avLst/>
          </a:prstGeom>
          <a:noFill/>
          <a:ln/>
        </p:spPr>
        <p:txBody>
          <a:bodyPr wrap="square" rtlCol="0" anchor="t"/>
          <a:lstStyle/>
          <a:p>
            <a:pPr indent="0" marL="0">
              <a:buNone/>
            </a:pPr>
            <a:r>
              <a:rPr lang="en-US" sz="1050" dirty="0">
                <a:solidFill>
                  <a:srgbClr val="525252"/>
                </a:solidFill>
                <a:latin typeface="Calibri" pitchFamily="34" charset="0"/>
                <a:ea typeface="Calibri" pitchFamily="34" charset="-122"/>
                <a:cs typeface="Calibri" pitchFamily="34" charset="-120"/>
              </a:rPr>
              <a:t>Tracks logins, report runs, and admin changes for compliance.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200" b="1" spc="100" kern="0" dirty="0">
                <a:solidFill>
                  <a:srgbClr val="0F62FE"/>
                </a:solidFill>
                <a:latin typeface="Calibri" pitchFamily="34" charset="0"/>
                <a:ea typeface="Calibri" pitchFamily="34" charset="-122"/>
                <a:cs typeface="Calibri" pitchFamily="34" charset="-120"/>
              </a:rPr>
              <a:t>BEST PRACTICES</a:t>
            </a:r>
            <a:endParaRPr lang="en-US" sz="1200" dirty="0"/>
          </a:p>
        </p:txBody>
      </p:sp>
      <p:sp>
        <p:nvSpPr>
          <p:cNvPr id="3" name="Text 1"/>
          <p:cNvSpPr/>
          <p:nvPr/>
        </p:nvSpPr>
        <p:spPr>
          <a:xfrm>
            <a:off x="548640" y="566928"/>
            <a:ext cx="10789920" cy="685800"/>
          </a:xfrm>
          <a:prstGeom prst="rect">
            <a:avLst/>
          </a:prstGeom>
          <a:noFill/>
          <a:ln/>
        </p:spPr>
        <p:txBody>
          <a:bodyPr wrap="square" rtlCol="0" anchor="ctr"/>
          <a:lstStyle/>
          <a:p>
            <a:pPr indent="0" marL="0">
              <a:buNone/>
            </a:pPr>
            <a:r>
              <a:rPr lang="en-US" sz="3000" b="1" dirty="0">
                <a:solidFill>
                  <a:srgbClr val="161616"/>
                </a:solidFill>
                <a:latin typeface="Cambria" pitchFamily="34" charset="0"/>
                <a:ea typeface="Cambria" pitchFamily="34" charset="-122"/>
                <a:cs typeface="Cambria" pitchFamily="34" charset="-120"/>
              </a:rPr>
              <a:t>Performance Optimization</a:t>
            </a:r>
            <a:endParaRPr lang="en-US" sz="3000" dirty="0"/>
          </a:p>
        </p:txBody>
      </p:sp>
      <p:sp>
        <p:nvSpPr>
          <p:cNvPr id="4" name="Shape 2"/>
          <p:cNvSpPr/>
          <p:nvPr/>
        </p:nvSpPr>
        <p:spPr>
          <a:xfrm>
            <a:off x="548640" y="1298448"/>
            <a:ext cx="11064240" cy="18288"/>
          </a:xfrm>
          <a:prstGeom prst="rect">
            <a:avLst/>
          </a:prstGeom>
          <a:solidFill>
            <a:srgbClr val="E0E0E0"/>
          </a:solidFill>
          <a:ln/>
        </p:spPr>
      </p:sp>
      <p:sp>
        <p:nvSpPr>
          <p:cNvPr id="5" name="Text 3"/>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525252"/>
                </a:solidFill>
                <a:latin typeface="Calibri" pitchFamily="34" charset="0"/>
                <a:ea typeface="Calibri" pitchFamily="34" charset="-122"/>
                <a:cs typeface="Calibri" pitchFamily="34" charset="-120"/>
              </a:rPr>
              <a:t>IBM Cognos Analytics Overview  |  Knowledge Transfer</a:t>
            </a:r>
            <a:endParaRPr lang="en-US" sz="900" dirty="0"/>
          </a:p>
        </p:txBody>
      </p:sp>
      <p:sp>
        <p:nvSpPr>
          <p:cNvPr id="6" name="Text 4"/>
          <p:cNvSpPr/>
          <p:nvPr/>
        </p:nvSpPr>
        <p:spPr>
          <a:xfrm>
            <a:off x="11365992" y="6510528"/>
            <a:ext cx="457200" cy="274320"/>
          </a:xfrm>
          <a:prstGeom prst="rect">
            <a:avLst/>
          </a:prstGeom>
          <a:noFill/>
          <a:ln/>
        </p:spPr>
        <p:txBody>
          <a:bodyPr wrap="square" rtlCol="0" anchor="ctr"/>
          <a:lstStyle/>
          <a:p>
            <a:pPr algn="r" indent="0" marL="0">
              <a:buNone/>
            </a:pPr>
            <a:r>
              <a:rPr lang="en-US" sz="900" dirty="0">
                <a:solidFill>
                  <a:srgbClr val="525252"/>
                </a:solidFill>
                <a:latin typeface="Calibri" pitchFamily="34" charset="0"/>
                <a:ea typeface="Calibri" pitchFamily="34" charset="-122"/>
                <a:cs typeface="Calibri" pitchFamily="34" charset="-120"/>
              </a:rPr>
              <a:t>16</a:t>
            </a:r>
            <a:endParaRPr lang="en-US" sz="900" dirty="0"/>
          </a:p>
        </p:txBody>
      </p:sp>
      <p:sp>
        <p:nvSpPr>
          <p:cNvPr id="7" name="Shape 5"/>
          <p:cNvSpPr/>
          <p:nvPr/>
        </p:nvSpPr>
        <p:spPr>
          <a:xfrm>
            <a:off x="548640" y="1508760"/>
            <a:ext cx="3566160" cy="1965960"/>
          </a:xfrm>
          <a:prstGeom prst="roundRect">
            <a:avLst>
              <a:gd name="adj" fmla="val 372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731520" y="1691640"/>
            <a:ext cx="548640" cy="548640"/>
          </a:xfrm>
          <a:prstGeom prst="ellipse">
            <a:avLst/>
          </a:prstGeom>
          <a:solidFill>
            <a:srgbClr val="0F62FE"/>
          </a:solidFill>
          <a:ln/>
        </p:spPr>
      </p:sp>
      <p:pic>
        <p:nvPicPr>
          <p:cNvPr id="9" name="Image 0" descr="/home/claude/icons/chartline_FFFFFF.png">    </p:cNvPr>
          <p:cNvPicPr>
            <a:picLocks noChangeAspect="1"/>
          </p:cNvPicPr>
          <p:nvPr/>
        </p:nvPicPr>
        <p:blipFill>
          <a:blip r:embed="rId1"/>
          <a:stretch>
            <a:fillRect/>
          </a:stretch>
        </p:blipFill>
        <p:spPr>
          <a:xfrm>
            <a:off x="874166" y="1834286"/>
            <a:ext cx="263347" cy="263347"/>
          </a:xfrm>
          <a:prstGeom prst="rect">
            <a:avLst/>
          </a:prstGeom>
        </p:spPr>
      </p:pic>
      <p:sp>
        <p:nvSpPr>
          <p:cNvPr id="10" name="Text 7"/>
          <p:cNvSpPr/>
          <p:nvPr/>
        </p:nvSpPr>
        <p:spPr>
          <a:xfrm>
            <a:off x="1417320" y="1709928"/>
            <a:ext cx="2560320" cy="502920"/>
          </a:xfrm>
          <a:prstGeom prst="rect">
            <a:avLst/>
          </a:prstGeom>
          <a:noFill/>
          <a:ln/>
        </p:spPr>
        <p:txBody>
          <a:bodyPr wrap="square" rtlCol="0" anchor="ctr"/>
          <a:lstStyle/>
          <a:p>
            <a:pPr indent="0" marL="0">
              <a:buNone/>
            </a:pPr>
            <a:r>
              <a:rPr lang="en-US" sz="1250" b="1" dirty="0">
                <a:solidFill>
                  <a:srgbClr val="161616"/>
                </a:solidFill>
                <a:latin typeface="Calibri" pitchFamily="34" charset="0"/>
                <a:ea typeface="Calibri" pitchFamily="34" charset="-122"/>
                <a:cs typeface="Calibri" pitchFamily="34" charset="-120"/>
              </a:rPr>
              <a:t>Query Optimization</a:t>
            </a:r>
            <a:endParaRPr lang="en-US" sz="1250" dirty="0"/>
          </a:p>
        </p:txBody>
      </p:sp>
      <p:sp>
        <p:nvSpPr>
          <p:cNvPr id="11" name="Text 8"/>
          <p:cNvSpPr/>
          <p:nvPr/>
        </p:nvSpPr>
        <p:spPr>
          <a:xfrm>
            <a:off x="731520" y="2377440"/>
            <a:ext cx="3200400" cy="1005840"/>
          </a:xfrm>
          <a:prstGeom prst="rect">
            <a:avLst/>
          </a:prstGeom>
          <a:noFill/>
          <a:ln/>
        </p:spPr>
        <p:txBody>
          <a:bodyPr wrap="square" rtlCol="0" anchor="t"/>
          <a:lstStyle/>
          <a:p>
            <a:pPr indent="0" marL="0">
              <a:buNone/>
            </a:pPr>
            <a:r>
              <a:rPr lang="en-US" sz="1000" dirty="0">
                <a:solidFill>
                  <a:srgbClr val="525252"/>
                </a:solidFill>
                <a:latin typeface="Calibri" pitchFamily="34" charset="0"/>
                <a:ea typeface="Calibri" pitchFamily="34" charset="-122"/>
                <a:cs typeface="Calibri" pitchFamily="34" charset="-120"/>
              </a:rPr>
              <a:t>Pull only the columns and rows you need; avoid "select all" style queries.</a:t>
            </a:r>
            <a:endParaRPr lang="en-US" sz="1000" dirty="0"/>
          </a:p>
        </p:txBody>
      </p:sp>
      <p:sp>
        <p:nvSpPr>
          <p:cNvPr id="12" name="Shape 9"/>
          <p:cNvSpPr/>
          <p:nvPr/>
        </p:nvSpPr>
        <p:spPr>
          <a:xfrm>
            <a:off x="4297680" y="1508760"/>
            <a:ext cx="3566160" cy="1965960"/>
          </a:xfrm>
          <a:prstGeom prst="roundRect">
            <a:avLst>
              <a:gd name="adj" fmla="val 372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4480560" y="1691640"/>
            <a:ext cx="548640" cy="548640"/>
          </a:xfrm>
          <a:prstGeom prst="ellipse">
            <a:avLst/>
          </a:prstGeom>
          <a:solidFill>
            <a:srgbClr val="0F62FE"/>
          </a:solidFill>
          <a:ln/>
        </p:spPr>
      </p:sp>
      <p:pic>
        <p:nvPicPr>
          <p:cNvPr id="14" name="Image 1" descr="/home/claude/icons/comment_FFFFFF.png">    </p:cNvPr>
          <p:cNvPicPr>
            <a:picLocks noChangeAspect="1"/>
          </p:cNvPicPr>
          <p:nvPr/>
        </p:nvPicPr>
        <p:blipFill>
          <a:blip r:embed="rId2"/>
          <a:stretch>
            <a:fillRect/>
          </a:stretch>
        </p:blipFill>
        <p:spPr>
          <a:xfrm>
            <a:off x="4623206" y="1834286"/>
            <a:ext cx="263347" cy="263347"/>
          </a:xfrm>
          <a:prstGeom prst="rect">
            <a:avLst/>
          </a:prstGeom>
        </p:spPr>
      </p:pic>
      <p:sp>
        <p:nvSpPr>
          <p:cNvPr id="15" name="Text 11"/>
          <p:cNvSpPr/>
          <p:nvPr/>
        </p:nvSpPr>
        <p:spPr>
          <a:xfrm>
            <a:off x="5166360" y="1709928"/>
            <a:ext cx="2560320" cy="502920"/>
          </a:xfrm>
          <a:prstGeom prst="rect">
            <a:avLst/>
          </a:prstGeom>
          <a:noFill/>
          <a:ln/>
        </p:spPr>
        <p:txBody>
          <a:bodyPr wrap="square" rtlCol="0" anchor="ctr"/>
          <a:lstStyle/>
          <a:p>
            <a:pPr indent="0" marL="0">
              <a:buNone/>
            </a:pPr>
            <a:r>
              <a:rPr lang="en-US" sz="1250" b="1" dirty="0">
                <a:solidFill>
                  <a:srgbClr val="161616"/>
                </a:solidFill>
                <a:latin typeface="Calibri" pitchFamily="34" charset="0"/>
                <a:ea typeface="Calibri" pitchFamily="34" charset="-122"/>
                <a:cs typeface="Calibri" pitchFamily="34" charset="-120"/>
              </a:rPr>
              <a:t>Prompt Usage</a:t>
            </a:r>
            <a:endParaRPr lang="en-US" sz="1250" dirty="0"/>
          </a:p>
        </p:txBody>
      </p:sp>
      <p:sp>
        <p:nvSpPr>
          <p:cNvPr id="16" name="Text 12"/>
          <p:cNvSpPr/>
          <p:nvPr/>
        </p:nvSpPr>
        <p:spPr>
          <a:xfrm>
            <a:off x="4480560" y="2377440"/>
            <a:ext cx="3200400" cy="1005840"/>
          </a:xfrm>
          <a:prstGeom prst="rect">
            <a:avLst/>
          </a:prstGeom>
          <a:noFill/>
          <a:ln/>
        </p:spPr>
        <p:txBody>
          <a:bodyPr wrap="square" rtlCol="0" anchor="t"/>
          <a:lstStyle/>
          <a:p>
            <a:pPr indent="0" marL="0">
              <a:buNone/>
            </a:pPr>
            <a:r>
              <a:rPr lang="en-US" sz="1000" dirty="0">
                <a:solidFill>
                  <a:srgbClr val="525252"/>
                </a:solidFill>
                <a:latin typeface="Calibri" pitchFamily="34" charset="0"/>
                <a:ea typeface="Calibri" pitchFamily="34" charset="-122"/>
                <a:cs typeface="Calibri" pitchFamily="34" charset="-120"/>
              </a:rPr>
              <a:t>Use prompts to filter data early, reducing what the server must process.</a:t>
            </a:r>
            <a:endParaRPr lang="en-US" sz="1000" dirty="0"/>
          </a:p>
        </p:txBody>
      </p:sp>
      <p:sp>
        <p:nvSpPr>
          <p:cNvPr id="17" name="Shape 13"/>
          <p:cNvSpPr/>
          <p:nvPr/>
        </p:nvSpPr>
        <p:spPr>
          <a:xfrm>
            <a:off x="8046720" y="1508760"/>
            <a:ext cx="3566160" cy="1965960"/>
          </a:xfrm>
          <a:prstGeom prst="roundRect">
            <a:avLst>
              <a:gd name="adj" fmla="val 372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8" name="Shape 14"/>
          <p:cNvSpPr/>
          <p:nvPr/>
        </p:nvSpPr>
        <p:spPr>
          <a:xfrm>
            <a:off x="8229600" y="1691640"/>
            <a:ext cx="548640" cy="548640"/>
          </a:xfrm>
          <a:prstGeom prst="ellipse">
            <a:avLst/>
          </a:prstGeom>
          <a:solidFill>
            <a:srgbClr val="0F62FE"/>
          </a:solidFill>
          <a:ln/>
        </p:spPr>
      </p:sp>
      <p:pic>
        <p:nvPicPr>
          <p:cNvPr id="19" name="Image 2" descr="/home/claude/icons/database_FFFFFF.png">    </p:cNvPr>
          <p:cNvPicPr>
            <a:picLocks noChangeAspect="1"/>
          </p:cNvPicPr>
          <p:nvPr/>
        </p:nvPicPr>
        <p:blipFill>
          <a:blip r:embed="rId3"/>
          <a:stretch>
            <a:fillRect/>
          </a:stretch>
        </p:blipFill>
        <p:spPr>
          <a:xfrm>
            <a:off x="8372246" y="1834286"/>
            <a:ext cx="263347" cy="263347"/>
          </a:xfrm>
          <a:prstGeom prst="rect">
            <a:avLst/>
          </a:prstGeom>
        </p:spPr>
      </p:pic>
      <p:sp>
        <p:nvSpPr>
          <p:cNvPr id="20" name="Text 15"/>
          <p:cNvSpPr/>
          <p:nvPr/>
        </p:nvSpPr>
        <p:spPr>
          <a:xfrm>
            <a:off x="8915400" y="1709928"/>
            <a:ext cx="2560320" cy="502920"/>
          </a:xfrm>
          <a:prstGeom prst="rect">
            <a:avLst/>
          </a:prstGeom>
          <a:noFill/>
          <a:ln/>
        </p:spPr>
        <p:txBody>
          <a:bodyPr wrap="square" rtlCol="0" anchor="ctr"/>
          <a:lstStyle/>
          <a:p>
            <a:pPr indent="0" marL="0">
              <a:buNone/>
            </a:pPr>
            <a:r>
              <a:rPr lang="en-US" sz="1250" b="1" dirty="0">
                <a:solidFill>
                  <a:srgbClr val="161616"/>
                </a:solidFill>
                <a:latin typeface="Calibri" pitchFamily="34" charset="0"/>
                <a:ea typeface="Calibri" pitchFamily="34" charset="-122"/>
                <a:cs typeface="Calibri" pitchFamily="34" charset="-120"/>
              </a:rPr>
              <a:t>Indexing</a:t>
            </a:r>
            <a:endParaRPr lang="en-US" sz="1250" dirty="0"/>
          </a:p>
        </p:txBody>
      </p:sp>
      <p:sp>
        <p:nvSpPr>
          <p:cNvPr id="21" name="Text 16"/>
          <p:cNvSpPr/>
          <p:nvPr/>
        </p:nvSpPr>
        <p:spPr>
          <a:xfrm>
            <a:off x="8229600" y="2377440"/>
            <a:ext cx="3200400" cy="1005840"/>
          </a:xfrm>
          <a:prstGeom prst="rect">
            <a:avLst/>
          </a:prstGeom>
          <a:noFill/>
          <a:ln/>
        </p:spPr>
        <p:txBody>
          <a:bodyPr wrap="square" rtlCol="0" anchor="t"/>
          <a:lstStyle/>
          <a:p>
            <a:pPr indent="0" marL="0">
              <a:buNone/>
            </a:pPr>
            <a:r>
              <a:rPr lang="en-US" sz="1000" dirty="0">
                <a:solidFill>
                  <a:srgbClr val="525252"/>
                </a:solidFill>
                <a:latin typeface="Calibri" pitchFamily="34" charset="0"/>
                <a:ea typeface="Calibri" pitchFamily="34" charset="-122"/>
                <a:cs typeface="Calibri" pitchFamily="34" charset="-120"/>
              </a:rPr>
              <a:t>Well-indexed source tables speed up filtering, sorting, and joins.</a:t>
            </a:r>
            <a:endParaRPr lang="en-US" sz="1000" dirty="0"/>
          </a:p>
        </p:txBody>
      </p:sp>
      <p:sp>
        <p:nvSpPr>
          <p:cNvPr id="22" name="Shape 17"/>
          <p:cNvSpPr/>
          <p:nvPr/>
        </p:nvSpPr>
        <p:spPr>
          <a:xfrm>
            <a:off x="548640" y="3657600"/>
            <a:ext cx="3566160" cy="1965960"/>
          </a:xfrm>
          <a:prstGeom prst="roundRect">
            <a:avLst>
              <a:gd name="adj" fmla="val 372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731520" y="3840480"/>
            <a:ext cx="548640" cy="548640"/>
          </a:xfrm>
          <a:prstGeom prst="ellipse">
            <a:avLst/>
          </a:prstGeom>
          <a:solidFill>
            <a:srgbClr val="0F62FE"/>
          </a:solidFill>
          <a:ln/>
        </p:spPr>
      </p:sp>
      <p:pic>
        <p:nvPicPr>
          <p:cNvPr id="24" name="Image 3" descr="/home/claude/icons/clock_FFFFFF.png">    </p:cNvPr>
          <p:cNvPicPr>
            <a:picLocks noChangeAspect="1"/>
          </p:cNvPicPr>
          <p:nvPr/>
        </p:nvPicPr>
        <p:blipFill>
          <a:blip r:embed="rId4"/>
          <a:stretch>
            <a:fillRect/>
          </a:stretch>
        </p:blipFill>
        <p:spPr>
          <a:xfrm>
            <a:off x="874166" y="3983126"/>
            <a:ext cx="263347" cy="263347"/>
          </a:xfrm>
          <a:prstGeom prst="rect">
            <a:avLst/>
          </a:prstGeom>
        </p:spPr>
      </p:pic>
      <p:sp>
        <p:nvSpPr>
          <p:cNvPr id="25" name="Text 19"/>
          <p:cNvSpPr/>
          <p:nvPr/>
        </p:nvSpPr>
        <p:spPr>
          <a:xfrm>
            <a:off x="1417320" y="3858768"/>
            <a:ext cx="2560320" cy="502920"/>
          </a:xfrm>
          <a:prstGeom prst="rect">
            <a:avLst/>
          </a:prstGeom>
          <a:noFill/>
          <a:ln/>
        </p:spPr>
        <p:txBody>
          <a:bodyPr wrap="square" rtlCol="0" anchor="ctr"/>
          <a:lstStyle/>
          <a:p>
            <a:pPr indent="0" marL="0">
              <a:buNone/>
            </a:pPr>
            <a:r>
              <a:rPr lang="en-US" sz="1250" b="1" dirty="0">
                <a:solidFill>
                  <a:srgbClr val="161616"/>
                </a:solidFill>
                <a:latin typeface="Calibri" pitchFamily="34" charset="0"/>
                <a:ea typeface="Calibri" pitchFamily="34" charset="-122"/>
                <a:cs typeface="Calibri" pitchFamily="34" charset="-120"/>
              </a:rPr>
              <a:t>Caching</a:t>
            </a:r>
            <a:endParaRPr lang="en-US" sz="1250" dirty="0"/>
          </a:p>
        </p:txBody>
      </p:sp>
      <p:sp>
        <p:nvSpPr>
          <p:cNvPr id="26" name="Text 20"/>
          <p:cNvSpPr/>
          <p:nvPr/>
        </p:nvSpPr>
        <p:spPr>
          <a:xfrm>
            <a:off x="731520" y="4526280"/>
            <a:ext cx="3200400" cy="1005840"/>
          </a:xfrm>
          <a:prstGeom prst="rect">
            <a:avLst/>
          </a:prstGeom>
          <a:noFill/>
          <a:ln/>
        </p:spPr>
        <p:txBody>
          <a:bodyPr wrap="square" rtlCol="0" anchor="t"/>
          <a:lstStyle/>
          <a:p>
            <a:pPr indent="0" marL="0">
              <a:buNone/>
            </a:pPr>
            <a:r>
              <a:rPr lang="en-US" sz="1000" dirty="0">
                <a:solidFill>
                  <a:srgbClr val="525252"/>
                </a:solidFill>
                <a:latin typeface="Calibri" pitchFamily="34" charset="0"/>
                <a:ea typeface="Calibri" pitchFamily="34" charset="-122"/>
                <a:cs typeface="Calibri" pitchFamily="34" charset="-120"/>
              </a:rPr>
              <a:t>Reuse recently run report results instead of re-querying the database.</a:t>
            </a:r>
            <a:endParaRPr lang="en-US" sz="1000" dirty="0"/>
          </a:p>
        </p:txBody>
      </p:sp>
      <p:sp>
        <p:nvSpPr>
          <p:cNvPr id="27" name="Shape 21"/>
          <p:cNvSpPr/>
          <p:nvPr/>
        </p:nvSpPr>
        <p:spPr>
          <a:xfrm>
            <a:off x="4297680" y="3657600"/>
            <a:ext cx="3566160" cy="1965960"/>
          </a:xfrm>
          <a:prstGeom prst="roundRect">
            <a:avLst>
              <a:gd name="adj" fmla="val 372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8" name="Shape 22"/>
          <p:cNvSpPr/>
          <p:nvPr/>
        </p:nvSpPr>
        <p:spPr>
          <a:xfrm>
            <a:off x="4480560" y="3840480"/>
            <a:ext cx="548640" cy="548640"/>
          </a:xfrm>
          <a:prstGeom prst="ellipse">
            <a:avLst/>
          </a:prstGeom>
          <a:solidFill>
            <a:srgbClr val="0F62FE"/>
          </a:solidFill>
          <a:ln/>
        </p:spPr>
      </p:sp>
      <p:pic>
        <p:nvPicPr>
          <p:cNvPr id="29" name="Image 4" descr="/home/claude/icons/table_FFFFFF.png">    </p:cNvPr>
          <p:cNvPicPr>
            <a:picLocks noChangeAspect="1"/>
          </p:cNvPicPr>
          <p:nvPr/>
        </p:nvPicPr>
        <p:blipFill>
          <a:blip r:embed="rId5"/>
          <a:stretch>
            <a:fillRect/>
          </a:stretch>
        </p:blipFill>
        <p:spPr>
          <a:xfrm>
            <a:off x="4623206" y="3983126"/>
            <a:ext cx="263347" cy="263347"/>
          </a:xfrm>
          <a:prstGeom prst="rect">
            <a:avLst/>
          </a:prstGeom>
        </p:spPr>
      </p:pic>
      <p:sp>
        <p:nvSpPr>
          <p:cNvPr id="30" name="Text 23"/>
          <p:cNvSpPr/>
          <p:nvPr/>
        </p:nvSpPr>
        <p:spPr>
          <a:xfrm>
            <a:off x="5166360" y="3858768"/>
            <a:ext cx="2560320" cy="502920"/>
          </a:xfrm>
          <a:prstGeom prst="rect">
            <a:avLst/>
          </a:prstGeom>
          <a:noFill/>
          <a:ln/>
        </p:spPr>
        <p:txBody>
          <a:bodyPr wrap="square" rtlCol="0" anchor="ctr"/>
          <a:lstStyle/>
          <a:p>
            <a:pPr indent="0" marL="0">
              <a:buNone/>
            </a:pPr>
            <a:r>
              <a:rPr lang="en-US" sz="1250" b="1" dirty="0">
                <a:solidFill>
                  <a:srgbClr val="161616"/>
                </a:solidFill>
                <a:latin typeface="Calibri" pitchFamily="34" charset="0"/>
                <a:ea typeface="Calibri" pitchFamily="34" charset="-122"/>
                <a:cs typeface="Calibri" pitchFamily="34" charset="-120"/>
              </a:rPr>
              <a:t>Pagination</a:t>
            </a:r>
            <a:endParaRPr lang="en-US" sz="1250" dirty="0"/>
          </a:p>
        </p:txBody>
      </p:sp>
      <p:sp>
        <p:nvSpPr>
          <p:cNvPr id="31" name="Text 24"/>
          <p:cNvSpPr/>
          <p:nvPr/>
        </p:nvSpPr>
        <p:spPr>
          <a:xfrm>
            <a:off x="4480560" y="4526280"/>
            <a:ext cx="3200400" cy="1005840"/>
          </a:xfrm>
          <a:prstGeom prst="rect">
            <a:avLst/>
          </a:prstGeom>
          <a:noFill/>
          <a:ln/>
        </p:spPr>
        <p:txBody>
          <a:bodyPr wrap="square" rtlCol="0" anchor="t"/>
          <a:lstStyle/>
          <a:p>
            <a:pPr indent="0" marL="0">
              <a:buNone/>
            </a:pPr>
            <a:r>
              <a:rPr lang="en-US" sz="1000" dirty="0">
                <a:solidFill>
                  <a:srgbClr val="525252"/>
                </a:solidFill>
                <a:latin typeface="Calibri" pitchFamily="34" charset="0"/>
                <a:ea typeface="Calibri" pitchFamily="34" charset="-122"/>
                <a:cs typeface="Calibri" pitchFamily="34" charset="-120"/>
              </a:rPr>
              <a:t>Load large lists in pages instead of rendering thousands of rows at once.</a:t>
            </a:r>
            <a:endParaRPr lang="en-US" sz="1000" dirty="0"/>
          </a:p>
        </p:txBody>
      </p:sp>
      <p:sp>
        <p:nvSpPr>
          <p:cNvPr id="32" name="Shape 25"/>
          <p:cNvSpPr/>
          <p:nvPr/>
        </p:nvSpPr>
        <p:spPr>
          <a:xfrm>
            <a:off x="8046720" y="3657600"/>
            <a:ext cx="3566160" cy="1965960"/>
          </a:xfrm>
          <a:prstGeom prst="roundRect">
            <a:avLst>
              <a:gd name="adj" fmla="val 372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33" name="Shape 26"/>
          <p:cNvSpPr/>
          <p:nvPr/>
        </p:nvSpPr>
        <p:spPr>
          <a:xfrm>
            <a:off x="8229600" y="3840480"/>
            <a:ext cx="548640" cy="548640"/>
          </a:xfrm>
          <a:prstGeom prst="ellipse">
            <a:avLst/>
          </a:prstGeom>
          <a:solidFill>
            <a:srgbClr val="0F62FE"/>
          </a:solidFill>
          <a:ln/>
        </p:spPr>
      </p:sp>
      <p:pic>
        <p:nvPicPr>
          <p:cNvPr id="34" name="Image 5" descr="/home/claude/icons/link_FFFFFF.png">    </p:cNvPr>
          <p:cNvPicPr>
            <a:picLocks noChangeAspect="1"/>
          </p:cNvPicPr>
          <p:nvPr/>
        </p:nvPicPr>
        <p:blipFill>
          <a:blip r:embed="rId6"/>
          <a:stretch>
            <a:fillRect/>
          </a:stretch>
        </p:blipFill>
        <p:spPr>
          <a:xfrm>
            <a:off x="8372246" y="3983126"/>
            <a:ext cx="263347" cy="263347"/>
          </a:xfrm>
          <a:prstGeom prst="rect">
            <a:avLst/>
          </a:prstGeom>
        </p:spPr>
      </p:pic>
      <p:sp>
        <p:nvSpPr>
          <p:cNvPr id="35" name="Text 27"/>
          <p:cNvSpPr/>
          <p:nvPr/>
        </p:nvSpPr>
        <p:spPr>
          <a:xfrm>
            <a:off x="8915400" y="3858768"/>
            <a:ext cx="2560320" cy="502920"/>
          </a:xfrm>
          <a:prstGeom prst="rect">
            <a:avLst/>
          </a:prstGeom>
          <a:noFill/>
          <a:ln/>
        </p:spPr>
        <p:txBody>
          <a:bodyPr wrap="square" rtlCol="0" anchor="ctr"/>
          <a:lstStyle/>
          <a:p>
            <a:pPr indent="0" marL="0">
              <a:buNone/>
            </a:pPr>
            <a:r>
              <a:rPr lang="en-US" sz="1250" b="1" dirty="0">
                <a:solidFill>
                  <a:srgbClr val="161616"/>
                </a:solidFill>
                <a:latin typeface="Calibri" pitchFamily="34" charset="0"/>
                <a:ea typeface="Calibri" pitchFamily="34" charset="-122"/>
                <a:cs typeface="Calibri" pitchFamily="34" charset="-120"/>
              </a:rPr>
              <a:t>Avoid Unnecessary Joins</a:t>
            </a:r>
            <a:endParaRPr lang="en-US" sz="1250" dirty="0"/>
          </a:p>
        </p:txBody>
      </p:sp>
      <p:sp>
        <p:nvSpPr>
          <p:cNvPr id="36" name="Text 28"/>
          <p:cNvSpPr/>
          <p:nvPr/>
        </p:nvSpPr>
        <p:spPr>
          <a:xfrm>
            <a:off x="8229600" y="4526280"/>
            <a:ext cx="3200400" cy="1005840"/>
          </a:xfrm>
          <a:prstGeom prst="rect">
            <a:avLst/>
          </a:prstGeom>
          <a:noFill/>
          <a:ln/>
        </p:spPr>
        <p:txBody>
          <a:bodyPr wrap="square" rtlCol="0" anchor="t"/>
          <a:lstStyle/>
          <a:p>
            <a:pPr indent="0" marL="0">
              <a:buNone/>
            </a:pPr>
            <a:r>
              <a:rPr lang="en-US" sz="1000" dirty="0">
                <a:solidFill>
                  <a:srgbClr val="525252"/>
                </a:solidFill>
                <a:latin typeface="Calibri" pitchFamily="34" charset="0"/>
                <a:ea typeface="Calibri" pitchFamily="34" charset="-122"/>
                <a:cs typeface="Calibri" pitchFamily="34" charset="-120"/>
              </a:rPr>
              <a:t>Every extra join adds processing time — join only what the report needs.</a:t>
            </a:r>
            <a:endParaRPr lang="en-US" sz="1000" dirty="0"/>
          </a:p>
        </p:txBody>
      </p:sp>
      <p:sp>
        <p:nvSpPr>
          <p:cNvPr id="37" name="Shape 29"/>
          <p:cNvSpPr/>
          <p:nvPr/>
        </p:nvSpPr>
        <p:spPr>
          <a:xfrm>
            <a:off x="548640" y="5669280"/>
            <a:ext cx="11064240" cy="822960"/>
          </a:xfrm>
          <a:prstGeom prst="roundRect">
            <a:avLst>
              <a:gd name="adj" fmla="val 8889"/>
            </a:avLst>
          </a:prstGeom>
          <a:solidFill>
            <a:srgbClr val="001141"/>
          </a:solidFill>
          <a:ln w="9525">
            <a:solidFill>
              <a:srgbClr val="E0E0E0"/>
            </a:solidFill>
            <a:prstDash val="solid"/>
          </a:ln>
        </p:spPr>
      </p:sp>
      <p:pic>
        <p:nvPicPr>
          <p:cNvPr id="38" name="Image 6" descr="/home/claude/icons/wrench_FFFFFF.png">    </p:cNvPr>
          <p:cNvPicPr>
            <a:picLocks noChangeAspect="1"/>
          </p:cNvPicPr>
          <p:nvPr/>
        </p:nvPicPr>
        <p:blipFill>
          <a:blip r:embed="rId7"/>
          <a:stretch>
            <a:fillRect/>
          </a:stretch>
        </p:blipFill>
        <p:spPr>
          <a:xfrm>
            <a:off x="777240" y="5852160"/>
            <a:ext cx="457200" cy="457200"/>
          </a:xfrm>
          <a:prstGeom prst="rect">
            <a:avLst/>
          </a:prstGeom>
        </p:spPr>
      </p:pic>
      <p:sp>
        <p:nvSpPr>
          <p:cNvPr id="39" name="Text 30"/>
          <p:cNvSpPr/>
          <p:nvPr/>
        </p:nvSpPr>
        <p:spPr>
          <a:xfrm>
            <a:off x="1371600" y="5742432"/>
            <a:ext cx="10058400" cy="548640"/>
          </a:xfrm>
          <a:prstGeom prst="rect">
            <a:avLst/>
          </a:prstGeom>
          <a:noFill/>
          <a:ln/>
        </p:spPr>
        <p:txBody>
          <a:bodyPr wrap="square"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Troubleshooting tip: if a report runs slowly, check the query plan first, then prompts/filters, then caching — before assuming it's a server capacity issue.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200" b="1" spc="100" kern="0" dirty="0">
                <a:solidFill>
                  <a:srgbClr val="0F62FE"/>
                </a:solidFill>
                <a:latin typeface="Calibri" pitchFamily="34" charset="0"/>
                <a:ea typeface="Calibri" pitchFamily="34" charset="-122"/>
                <a:cs typeface="Calibri" pitchFamily="34" charset="-120"/>
              </a:rPr>
              <a:t>CONNECTING TO YOUR DATA</a:t>
            </a:r>
            <a:endParaRPr lang="en-US" sz="1200" dirty="0"/>
          </a:p>
        </p:txBody>
      </p:sp>
      <p:sp>
        <p:nvSpPr>
          <p:cNvPr id="3" name="Text 1"/>
          <p:cNvSpPr/>
          <p:nvPr/>
        </p:nvSpPr>
        <p:spPr>
          <a:xfrm>
            <a:off x="548640" y="566928"/>
            <a:ext cx="10789920" cy="685800"/>
          </a:xfrm>
          <a:prstGeom prst="rect">
            <a:avLst/>
          </a:prstGeom>
          <a:noFill/>
          <a:ln/>
        </p:spPr>
        <p:txBody>
          <a:bodyPr wrap="square" rtlCol="0" anchor="ctr"/>
          <a:lstStyle/>
          <a:p>
            <a:pPr indent="0" marL="0">
              <a:buNone/>
            </a:pPr>
            <a:r>
              <a:rPr lang="en-US" sz="3000" b="1" dirty="0">
                <a:solidFill>
                  <a:srgbClr val="161616"/>
                </a:solidFill>
                <a:latin typeface="Cambria" pitchFamily="34" charset="0"/>
                <a:ea typeface="Cambria" pitchFamily="34" charset="-122"/>
                <a:cs typeface="Cambria" pitchFamily="34" charset="-120"/>
              </a:rPr>
              <a:t>Integration Capabilities</a:t>
            </a:r>
            <a:endParaRPr lang="en-US" sz="3000" dirty="0"/>
          </a:p>
        </p:txBody>
      </p:sp>
      <p:sp>
        <p:nvSpPr>
          <p:cNvPr id="4" name="Shape 2"/>
          <p:cNvSpPr/>
          <p:nvPr/>
        </p:nvSpPr>
        <p:spPr>
          <a:xfrm>
            <a:off x="548640" y="1298448"/>
            <a:ext cx="11064240" cy="18288"/>
          </a:xfrm>
          <a:prstGeom prst="rect">
            <a:avLst/>
          </a:prstGeom>
          <a:solidFill>
            <a:srgbClr val="E0E0E0"/>
          </a:solidFill>
          <a:ln/>
        </p:spPr>
      </p:sp>
      <p:sp>
        <p:nvSpPr>
          <p:cNvPr id="5" name="Text 3"/>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525252"/>
                </a:solidFill>
                <a:latin typeface="Calibri" pitchFamily="34" charset="0"/>
                <a:ea typeface="Calibri" pitchFamily="34" charset="-122"/>
                <a:cs typeface="Calibri" pitchFamily="34" charset="-120"/>
              </a:rPr>
              <a:t>IBM Cognos Analytics Overview  |  Knowledge Transfer</a:t>
            </a:r>
            <a:endParaRPr lang="en-US" sz="900" dirty="0"/>
          </a:p>
        </p:txBody>
      </p:sp>
      <p:sp>
        <p:nvSpPr>
          <p:cNvPr id="6" name="Text 4"/>
          <p:cNvSpPr/>
          <p:nvPr/>
        </p:nvSpPr>
        <p:spPr>
          <a:xfrm>
            <a:off x="11365992" y="6510528"/>
            <a:ext cx="457200" cy="274320"/>
          </a:xfrm>
          <a:prstGeom prst="rect">
            <a:avLst/>
          </a:prstGeom>
          <a:noFill/>
          <a:ln/>
        </p:spPr>
        <p:txBody>
          <a:bodyPr wrap="square" rtlCol="0" anchor="ctr"/>
          <a:lstStyle/>
          <a:p>
            <a:pPr algn="r" indent="0" marL="0">
              <a:buNone/>
            </a:pPr>
            <a:r>
              <a:rPr lang="en-US" sz="900" dirty="0">
                <a:solidFill>
                  <a:srgbClr val="525252"/>
                </a:solidFill>
                <a:latin typeface="Calibri" pitchFamily="34" charset="0"/>
                <a:ea typeface="Calibri" pitchFamily="34" charset="-122"/>
                <a:cs typeface="Calibri" pitchFamily="34" charset="-120"/>
              </a:rPr>
              <a:t>17</a:t>
            </a:r>
            <a:endParaRPr lang="en-US" sz="900" dirty="0"/>
          </a:p>
        </p:txBody>
      </p:sp>
      <p:sp>
        <p:nvSpPr>
          <p:cNvPr id="7" name="Shape 5"/>
          <p:cNvSpPr/>
          <p:nvPr/>
        </p:nvSpPr>
        <p:spPr>
          <a:xfrm>
            <a:off x="3017520" y="2743200"/>
            <a:ext cx="1828800" cy="1828800"/>
          </a:xfrm>
          <a:prstGeom prst="ellipse">
            <a:avLst/>
          </a:prstGeom>
          <a:solidFill>
            <a:srgbClr val="001141"/>
          </a:solidFill>
          <a:ln/>
        </p:spPr>
      </p:sp>
      <p:pic>
        <p:nvPicPr>
          <p:cNvPr id="8" name="Image 0" descr="/home/claude/icons/sitemap_FFFFFF.png">    </p:cNvPr>
          <p:cNvPicPr>
            <a:picLocks noChangeAspect="1"/>
          </p:cNvPicPr>
          <p:nvPr/>
        </p:nvPicPr>
        <p:blipFill>
          <a:blip r:embed="rId1"/>
          <a:stretch>
            <a:fillRect/>
          </a:stretch>
        </p:blipFill>
        <p:spPr>
          <a:xfrm>
            <a:off x="3566160" y="3154680"/>
            <a:ext cx="731520" cy="731520"/>
          </a:xfrm>
          <a:prstGeom prst="rect">
            <a:avLst/>
          </a:prstGeom>
        </p:spPr>
      </p:pic>
      <p:sp>
        <p:nvSpPr>
          <p:cNvPr id="9" name="Text 6"/>
          <p:cNvSpPr/>
          <p:nvPr/>
        </p:nvSpPr>
        <p:spPr>
          <a:xfrm>
            <a:off x="3017520" y="3931920"/>
            <a:ext cx="18288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Cognos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Analytics</a:t>
            </a:r>
            <a:endParaRPr lang="en-US" sz="1100" dirty="0"/>
          </a:p>
        </p:txBody>
      </p:sp>
      <p:sp>
        <p:nvSpPr>
          <p:cNvPr id="10" name="Shape 7"/>
          <p:cNvSpPr/>
          <p:nvPr/>
        </p:nvSpPr>
        <p:spPr>
          <a:xfrm>
            <a:off x="3931920" y="3657600"/>
            <a:ext cx="0" cy="-2253996"/>
          </a:xfrm>
          <a:prstGeom prst="line">
            <a:avLst/>
          </a:prstGeom>
          <a:noFill/>
          <a:ln w="15875">
            <a:solidFill>
              <a:srgbClr val="E0E0E0"/>
            </a:solidFill>
            <a:prstDash val="solid"/>
          </a:ln>
        </p:spPr>
      </p:sp>
      <p:sp>
        <p:nvSpPr>
          <p:cNvPr id="11" name="Shape 8"/>
          <p:cNvSpPr/>
          <p:nvPr/>
        </p:nvSpPr>
        <p:spPr>
          <a:xfrm>
            <a:off x="3931920" y="3657600"/>
            <a:ext cx="1875077" cy="-1593816"/>
          </a:xfrm>
          <a:prstGeom prst="line">
            <a:avLst/>
          </a:prstGeom>
          <a:noFill/>
          <a:ln w="15875">
            <a:solidFill>
              <a:srgbClr val="E0E0E0"/>
            </a:solidFill>
            <a:prstDash val="solid"/>
          </a:ln>
        </p:spPr>
      </p:sp>
      <p:sp>
        <p:nvSpPr>
          <p:cNvPr id="12" name="Shape 9"/>
          <p:cNvSpPr/>
          <p:nvPr/>
        </p:nvSpPr>
        <p:spPr>
          <a:xfrm>
            <a:off x="3931920" y="3657600"/>
            <a:ext cx="2651760" cy="0"/>
          </a:xfrm>
          <a:prstGeom prst="line">
            <a:avLst/>
          </a:prstGeom>
          <a:noFill/>
          <a:ln w="15875">
            <a:solidFill>
              <a:srgbClr val="E0E0E0"/>
            </a:solidFill>
            <a:prstDash val="solid"/>
          </a:ln>
        </p:spPr>
      </p:sp>
      <p:sp>
        <p:nvSpPr>
          <p:cNvPr id="13" name="Shape 10"/>
          <p:cNvSpPr/>
          <p:nvPr/>
        </p:nvSpPr>
        <p:spPr>
          <a:xfrm>
            <a:off x="3931920" y="3657600"/>
            <a:ext cx="1875077" cy="1593816"/>
          </a:xfrm>
          <a:prstGeom prst="line">
            <a:avLst/>
          </a:prstGeom>
          <a:noFill/>
          <a:ln w="15875">
            <a:solidFill>
              <a:srgbClr val="E0E0E0"/>
            </a:solidFill>
            <a:prstDash val="solid"/>
          </a:ln>
        </p:spPr>
      </p:sp>
      <p:sp>
        <p:nvSpPr>
          <p:cNvPr id="14" name="Shape 11"/>
          <p:cNvSpPr/>
          <p:nvPr/>
        </p:nvSpPr>
        <p:spPr>
          <a:xfrm>
            <a:off x="3931920" y="3657600"/>
            <a:ext cx="0" cy="2253996"/>
          </a:xfrm>
          <a:prstGeom prst="line">
            <a:avLst/>
          </a:prstGeom>
          <a:noFill/>
          <a:ln w="15875">
            <a:solidFill>
              <a:srgbClr val="E0E0E0"/>
            </a:solidFill>
            <a:prstDash val="solid"/>
          </a:ln>
        </p:spPr>
      </p:sp>
      <p:sp>
        <p:nvSpPr>
          <p:cNvPr id="15" name="Shape 12"/>
          <p:cNvSpPr/>
          <p:nvPr/>
        </p:nvSpPr>
        <p:spPr>
          <a:xfrm>
            <a:off x="3931920" y="3657600"/>
            <a:ext cx="-1875077" cy="1593816"/>
          </a:xfrm>
          <a:prstGeom prst="line">
            <a:avLst/>
          </a:prstGeom>
          <a:noFill/>
          <a:ln w="15875">
            <a:solidFill>
              <a:srgbClr val="E0E0E0"/>
            </a:solidFill>
            <a:prstDash val="solid"/>
          </a:ln>
        </p:spPr>
      </p:sp>
      <p:sp>
        <p:nvSpPr>
          <p:cNvPr id="16" name="Shape 13"/>
          <p:cNvSpPr/>
          <p:nvPr/>
        </p:nvSpPr>
        <p:spPr>
          <a:xfrm>
            <a:off x="3931920" y="3657600"/>
            <a:ext cx="-2651760" cy="0"/>
          </a:xfrm>
          <a:prstGeom prst="line">
            <a:avLst/>
          </a:prstGeom>
          <a:noFill/>
          <a:ln w="15875">
            <a:solidFill>
              <a:srgbClr val="E0E0E0"/>
            </a:solidFill>
            <a:prstDash val="solid"/>
          </a:ln>
        </p:spPr>
      </p:sp>
      <p:sp>
        <p:nvSpPr>
          <p:cNvPr id="17" name="Shape 14"/>
          <p:cNvSpPr/>
          <p:nvPr/>
        </p:nvSpPr>
        <p:spPr>
          <a:xfrm>
            <a:off x="3931920" y="3657600"/>
            <a:ext cx="-1875077" cy="-1593816"/>
          </a:xfrm>
          <a:prstGeom prst="line">
            <a:avLst/>
          </a:prstGeom>
          <a:noFill/>
          <a:ln w="15875">
            <a:solidFill>
              <a:srgbClr val="E0E0E0"/>
            </a:solidFill>
            <a:prstDash val="solid"/>
          </a:ln>
        </p:spPr>
      </p:sp>
      <p:sp>
        <p:nvSpPr>
          <p:cNvPr id="18" name="Shape 15"/>
          <p:cNvSpPr/>
          <p:nvPr/>
        </p:nvSpPr>
        <p:spPr>
          <a:xfrm>
            <a:off x="3543300" y="1014984"/>
            <a:ext cx="777240" cy="777240"/>
          </a:xfrm>
          <a:prstGeom prst="ellipse">
            <a:avLst/>
          </a:prstGeom>
          <a:solidFill>
            <a:srgbClr val="0F62FE"/>
          </a:solidFill>
          <a:ln/>
        </p:spPr>
      </p:sp>
      <p:pic>
        <p:nvPicPr>
          <p:cNvPr id="19" name="Image 1" descr="/home/claude/icons/database_FFFFFF.png">    </p:cNvPr>
          <p:cNvPicPr>
            <a:picLocks noChangeAspect="1"/>
          </p:cNvPicPr>
          <p:nvPr/>
        </p:nvPicPr>
        <p:blipFill>
          <a:blip r:embed="rId2"/>
          <a:stretch>
            <a:fillRect/>
          </a:stretch>
        </p:blipFill>
        <p:spPr>
          <a:xfrm>
            <a:off x="3745382" y="1217066"/>
            <a:ext cx="373075" cy="373075"/>
          </a:xfrm>
          <a:prstGeom prst="rect">
            <a:avLst/>
          </a:prstGeom>
        </p:spPr>
      </p:pic>
      <p:sp>
        <p:nvSpPr>
          <p:cNvPr id="20" name="Text 16"/>
          <p:cNvSpPr/>
          <p:nvPr/>
        </p:nvSpPr>
        <p:spPr>
          <a:xfrm>
            <a:off x="3291840" y="1819656"/>
            <a:ext cx="1280160" cy="274320"/>
          </a:xfrm>
          <a:prstGeom prst="rect">
            <a:avLst/>
          </a:prstGeom>
          <a:noFill/>
          <a:ln/>
        </p:spPr>
        <p:txBody>
          <a:bodyPr wrap="square" rtlCol="0" anchor="ctr"/>
          <a:lstStyle/>
          <a:p>
            <a:pPr algn="ctr" indent="0" marL="0">
              <a:buNone/>
            </a:pPr>
            <a:r>
              <a:rPr lang="en-US" sz="950" b="1" dirty="0">
                <a:solidFill>
                  <a:srgbClr val="393939"/>
                </a:solidFill>
                <a:latin typeface="Calibri" pitchFamily="34" charset="0"/>
                <a:ea typeface="Calibri" pitchFamily="34" charset="-122"/>
                <a:cs typeface="Calibri" pitchFamily="34" charset="-120"/>
              </a:rPr>
              <a:t>Oracle</a:t>
            </a:r>
            <a:endParaRPr lang="en-US" sz="950" dirty="0"/>
          </a:p>
        </p:txBody>
      </p:sp>
      <p:sp>
        <p:nvSpPr>
          <p:cNvPr id="21" name="Shape 17"/>
          <p:cNvSpPr/>
          <p:nvPr/>
        </p:nvSpPr>
        <p:spPr>
          <a:xfrm>
            <a:off x="5418377" y="1675164"/>
            <a:ext cx="777240" cy="777240"/>
          </a:xfrm>
          <a:prstGeom prst="ellipse">
            <a:avLst/>
          </a:prstGeom>
          <a:solidFill>
            <a:srgbClr val="0F62FE"/>
          </a:solidFill>
          <a:ln/>
        </p:spPr>
      </p:sp>
      <p:pic>
        <p:nvPicPr>
          <p:cNvPr id="22" name="Image 2" descr="/home/claude/icons/database_FFFFFF.png">    </p:cNvPr>
          <p:cNvPicPr>
            <a:picLocks noChangeAspect="1"/>
          </p:cNvPicPr>
          <p:nvPr/>
        </p:nvPicPr>
        <p:blipFill>
          <a:blip r:embed="rId3"/>
          <a:stretch>
            <a:fillRect/>
          </a:stretch>
        </p:blipFill>
        <p:spPr>
          <a:xfrm>
            <a:off x="5620460" y="1877247"/>
            <a:ext cx="373075" cy="373075"/>
          </a:xfrm>
          <a:prstGeom prst="rect">
            <a:avLst/>
          </a:prstGeom>
        </p:spPr>
      </p:pic>
      <p:sp>
        <p:nvSpPr>
          <p:cNvPr id="23" name="Text 18"/>
          <p:cNvSpPr/>
          <p:nvPr/>
        </p:nvSpPr>
        <p:spPr>
          <a:xfrm>
            <a:off x="5166917" y="2479836"/>
            <a:ext cx="1280160" cy="274320"/>
          </a:xfrm>
          <a:prstGeom prst="rect">
            <a:avLst/>
          </a:prstGeom>
          <a:noFill/>
          <a:ln/>
        </p:spPr>
        <p:txBody>
          <a:bodyPr wrap="square" rtlCol="0" anchor="ctr"/>
          <a:lstStyle/>
          <a:p>
            <a:pPr algn="ctr" indent="0" marL="0">
              <a:buNone/>
            </a:pPr>
            <a:r>
              <a:rPr lang="en-US" sz="950" b="1" dirty="0">
                <a:solidFill>
                  <a:srgbClr val="393939"/>
                </a:solidFill>
                <a:latin typeface="Calibri" pitchFamily="34" charset="0"/>
                <a:ea typeface="Calibri" pitchFamily="34" charset="-122"/>
                <a:cs typeface="Calibri" pitchFamily="34" charset="-120"/>
              </a:rPr>
              <a:t>SQL Server</a:t>
            </a:r>
            <a:endParaRPr lang="en-US" sz="950" dirty="0"/>
          </a:p>
        </p:txBody>
      </p:sp>
      <p:sp>
        <p:nvSpPr>
          <p:cNvPr id="24" name="Shape 19"/>
          <p:cNvSpPr/>
          <p:nvPr/>
        </p:nvSpPr>
        <p:spPr>
          <a:xfrm>
            <a:off x="6195060" y="3268980"/>
            <a:ext cx="777240" cy="777240"/>
          </a:xfrm>
          <a:prstGeom prst="ellipse">
            <a:avLst/>
          </a:prstGeom>
          <a:solidFill>
            <a:srgbClr val="0F62FE"/>
          </a:solidFill>
          <a:ln/>
        </p:spPr>
      </p:sp>
      <p:pic>
        <p:nvPicPr>
          <p:cNvPr id="25" name="Image 3" descr="/home/claude/icons/database_FFFFFF.png">    </p:cNvPr>
          <p:cNvPicPr>
            <a:picLocks noChangeAspect="1"/>
          </p:cNvPicPr>
          <p:nvPr/>
        </p:nvPicPr>
        <p:blipFill>
          <a:blip r:embed="rId4"/>
          <a:stretch>
            <a:fillRect/>
          </a:stretch>
        </p:blipFill>
        <p:spPr>
          <a:xfrm>
            <a:off x="6397142" y="3471062"/>
            <a:ext cx="373075" cy="373075"/>
          </a:xfrm>
          <a:prstGeom prst="rect">
            <a:avLst/>
          </a:prstGeom>
        </p:spPr>
      </p:pic>
      <p:sp>
        <p:nvSpPr>
          <p:cNvPr id="26" name="Text 20"/>
          <p:cNvSpPr/>
          <p:nvPr/>
        </p:nvSpPr>
        <p:spPr>
          <a:xfrm>
            <a:off x="5943600" y="4073652"/>
            <a:ext cx="1280160" cy="274320"/>
          </a:xfrm>
          <a:prstGeom prst="rect">
            <a:avLst/>
          </a:prstGeom>
          <a:noFill/>
          <a:ln/>
        </p:spPr>
        <p:txBody>
          <a:bodyPr wrap="square" rtlCol="0" anchor="ctr"/>
          <a:lstStyle/>
          <a:p>
            <a:pPr algn="ctr" indent="0" marL="0">
              <a:buNone/>
            </a:pPr>
            <a:r>
              <a:rPr lang="en-US" sz="950" b="1" dirty="0">
                <a:solidFill>
                  <a:srgbClr val="393939"/>
                </a:solidFill>
                <a:latin typeface="Calibri" pitchFamily="34" charset="0"/>
                <a:ea typeface="Calibri" pitchFamily="34" charset="-122"/>
                <a:cs typeface="Calibri" pitchFamily="34" charset="-120"/>
              </a:rPr>
              <a:t>DB2</a:t>
            </a:r>
            <a:endParaRPr lang="en-US" sz="950" dirty="0"/>
          </a:p>
        </p:txBody>
      </p:sp>
      <p:sp>
        <p:nvSpPr>
          <p:cNvPr id="27" name="Shape 21"/>
          <p:cNvSpPr/>
          <p:nvPr/>
        </p:nvSpPr>
        <p:spPr>
          <a:xfrm>
            <a:off x="5418377" y="4862796"/>
            <a:ext cx="777240" cy="777240"/>
          </a:xfrm>
          <a:prstGeom prst="ellipse">
            <a:avLst/>
          </a:prstGeom>
          <a:solidFill>
            <a:srgbClr val="0F62FE"/>
          </a:solidFill>
          <a:ln/>
        </p:spPr>
      </p:sp>
      <p:pic>
        <p:nvPicPr>
          <p:cNvPr id="28" name="Image 4" descr="/home/claude/icons/sitemap_FFFFFF.png">    </p:cNvPr>
          <p:cNvPicPr>
            <a:picLocks noChangeAspect="1"/>
          </p:cNvPicPr>
          <p:nvPr/>
        </p:nvPicPr>
        <p:blipFill>
          <a:blip r:embed="rId5"/>
          <a:stretch>
            <a:fillRect/>
          </a:stretch>
        </p:blipFill>
        <p:spPr>
          <a:xfrm>
            <a:off x="5620460" y="5064878"/>
            <a:ext cx="373075" cy="373075"/>
          </a:xfrm>
          <a:prstGeom prst="rect">
            <a:avLst/>
          </a:prstGeom>
        </p:spPr>
      </p:pic>
      <p:sp>
        <p:nvSpPr>
          <p:cNvPr id="29" name="Text 22"/>
          <p:cNvSpPr/>
          <p:nvPr/>
        </p:nvSpPr>
        <p:spPr>
          <a:xfrm>
            <a:off x="5166917" y="5667468"/>
            <a:ext cx="1280160" cy="274320"/>
          </a:xfrm>
          <a:prstGeom prst="rect">
            <a:avLst/>
          </a:prstGeom>
          <a:noFill/>
          <a:ln/>
        </p:spPr>
        <p:txBody>
          <a:bodyPr wrap="square" rtlCol="0" anchor="ctr"/>
          <a:lstStyle/>
          <a:p>
            <a:pPr algn="ctr" indent="0" marL="0">
              <a:buNone/>
            </a:pPr>
            <a:r>
              <a:rPr lang="en-US" sz="950" b="1" dirty="0">
                <a:solidFill>
                  <a:srgbClr val="393939"/>
                </a:solidFill>
                <a:latin typeface="Calibri" pitchFamily="34" charset="0"/>
                <a:ea typeface="Calibri" pitchFamily="34" charset="-122"/>
                <a:cs typeface="Calibri" pitchFamily="34" charset="-120"/>
              </a:rPr>
              <a:t>SAP</a:t>
            </a:r>
            <a:endParaRPr lang="en-US" sz="950" dirty="0"/>
          </a:p>
        </p:txBody>
      </p:sp>
      <p:sp>
        <p:nvSpPr>
          <p:cNvPr id="30" name="Shape 23"/>
          <p:cNvSpPr/>
          <p:nvPr/>
        </p:nvSpPr>
        <p:spPr>
          <a:xfrm>
            <a:off x="3543300" y="5522976"/>
            <a:ext cx="777240" cy="777240"/>
          </a:xfrm>
          <a:prstGeom prst="ellipse">
            <a:avLst/>
          </a:prstGeom>
          <a:solidFill>
            <a:srgbClr val="0F62FE"/>
          </a:solidFill>
          <a:ln/>
        </p:spPr>
      </p:sp>
      <p:pic>
        <p:nvPicPr>
          <p:cNvPr id="31" name="Image 5" descr="/home/claude/icons/cloud_FFFFFF.png">    </p:cNvPr>
          <p:cNvPicPr>
            <a:picLocks noChangeAspect="1"/>
          </p:cNvPicPr>
          <p:nvPr/>
        </p:nvPicPr>
        <p:blipFill>
          <a:blip r:embed="rId6"/>
          <a:stretch>
            <a:fillRect/>
          </a:stretch>
        </p:blipFill>
        <p:spPr>
          <a:xfrm>
            <a:off x="3745382" y="5725058"/>
            <a:ext cx="373075" cy="373075"/>
          </a:xfrm>
          <a:prstGeom prst="rect">
            <a:avLst/>
          </a:prstGeom>
        </p:spPr>
      </p:pic>
      <p:sp>
        <p:nvSpPr>
          <p:cNvPr id="32" name="Text 24"/>
          <p:cNvSpPr/>
          <p:nvPr/>
        </p:nvSpPr>
        <p:spPr>
          <a:xfrm>
            <a:off x="3291840" y="6327648"/>
            <a:ext cx="1280160" cy="274320"/>
          </a:xfrm>
          <a:prstGeom prst="rect">
            <a:avLst/>
          </a:prstGeom>
          <a:noFill/>
          <a:ln/>
        </p:spPr>
        <p:txBody>
          <a:bodyPr wrap="square" rtlCol="0" anchor="ctr"/>
          <a:lstStyle/>
          <a:p>
            <a:pPr algn="ctr" indent="0" marL="0">
              <a:buNone/>
            </a:pPr>
            <a:r>
              <a:rPr lang="en-US" sz="950" b="1" dirty="0">
                <a:solidFill>
                  <a:srgbClr val="393939"/>
                </a:solidFill>
                <a:latin typeface="Calibri" pitchFamily="34" charset="0"/>
                <a:ea typeface="Calibri" pitchFamily="34" charset="-122"/>
                <a:cs typeface="Calibri" pitchFamily="34" charset="-120"/>
              </a:rPr>
              <a:t>Salesforce</a:t>
            </a:r>
            <a:endParaRPr lang="en-US" sz="950" dirty="0"/>
          </a:p>
        </p:txBody>
      </p:sp>
      <p:sp>
        <p:nvSpPr>
          <p:cNvPr id="33" name="Shape 25"/>
          <p:cNvSpPr/>
          <p:nvPr/>
        </p:nvSpPr>
        <p:spPr>
          <a:xfrm>
            <a:off x="1668223" y="4862796"/>
            <a:ext cx="777240" cy="777240"/>
          </a:xfrm>
          <a:prstGeom prst="ellipse">
            <a:avLst/>
          </a:prstGeom>
          <a:solidFill>
            <a:srgbClr val="0F62FE"/>
          </a:solidFill>
          <a:ln/>
        </p:spPr>
      </p:sp>
      <p:pic>
        <p:nvPicPr>
          <p:cNvPr id="34" name="Image 6" descr="/home/claude/icons/fileexcel_FFFFFF.png">    </p:cNvPr>
          <p:cNvPicPr>
            <a:picLocks noChangeAspect="1"/>
          </p:cNvPicPr>
          <p:nvPr/>
        </p:nvPicPr>
        <p:blipFill>
          <a:blip r:embed="rId7"/>
          <a:stretch>
            <a:fillRect/>
          </a:stretch>
        </p:blipFill>
        <p:spPr>
          <a:xfrm>
            <a:off x="1870305" y="5064878"/>
            <a:ext cx="373075" cy="373075"/>
          </a:xfrm>
          <a:prstGeom prst="rect">
            <a:avLst/>
          </a:prstGeom>
        </p:spPr>
      </p:pic>
      <p:sp>
        <p:nvSpPr>
          <p:cNvPr id="35" name="Text 26"/>
          <p:cNvSpPr/>
          <p:nvPr/>
        </p:nvSpPr>
        <p:spPr>
          <a:xfrm>
            <a:off x="1416763" y="5667468"/>
            <a:ext cx="1280160" cy="274320"/>
          </a:xfrm>
          <a:prstGeom prst="rect">
            <a:avLst/>
          </a:prstGeom>
          <a:noFill/>
          <a:ln/>
        </p:spPr>
        <p:txBody>
          <a:bodyPr wrap="square" rtlCol="0" anchor="ctr"/>
          <a:lstStyle/>
          <a:p>
            <a:pPr algn="ctr" indent="0" marL="0">
              <a:buNone/>
            </a:pPr>
            <a:r>
              <a:rPr lang="en-US" sz="950" b="1" dirty="0">
                <a:solidFill>
                  <a:srgbClr val="393939"/>
                </a:solidFill>
                <a:latin typeface="Calibri" pitchFamily="34" charset="0"/>
                <a:ea typeface="Calibri" pitchFamily="34" charset="-122"/>
                <a:cs typeface="Calibri" pitchFamily="34" charset="-120"/>
              </a:rPr>
              <a:t>Excel</a:t>
            </a:r>
            <a:endParaRPr lang="en-US" sz="950" dirty="0"/>
          </a:p>
        </p:txBody>
      </p:sp>
      <p:sp>
        <p:nvSpPr>
          <p:cNvPr id="36" name="Shape 27"/>
          <p:cNvSpPr/>
          <p:nvPr/>
        </p:nvSpPr>
        <p:spPr>
          <a:xfrm>
            <a:off x="891540" y="3268980"/>
            <a:ext cx="777240" cy="777240"/>
          </a:xfrm>
          <a:prstGeom prst="ellipse">
            <a:avLst/>
          </a:prstGeom>
          <a:solidFill>
            <a:srgbClr val="0F62FE"/>
          </a:solidFill>
          <a:ln/>
        </p:spPr>
      </p:sp>
      <p:pic>
        <p:nvPicPr>
          <p:cNvPr id="37" name="Image 7" descr="/home/claude/icons/filecsv_FFFFFF.png">    </p:cNvPr>
          <p:cNvPicPr>
            <a:picLocks noChangeAspect="1"/>
          </p:cNvPicPr>
          <p:nvPr/>
        </p:nvPicPr>
        <p:blipFill>
          <a:blip r:embed="rId8"/>
          <a:stretch>
            <a:fillRect/>
          </a:stretch>
        </p:blipFill>
        <p:spPr>
          <a:xfrm>
            <a:off x="1093622" y="3471062"/>
            <a:ext cx="373075" cy="373075"/>
          </a:xfrm>
          <a:prstGeom prst="rect">
            <a:avLst/>
          </a:prstGeom>
        </p:spPr>
      </p:pic>
      <p:sp>
        <p:nvSpPr>
          <p:cNvPr id="38" name="Text 28"/>
          <p:cNvSpPr/>
          <p:nvPr/>
        </p:nvSpPr>
        <p:spPr>
          <a:xfrm>
            <a:off x="640080" y="4073652"/>
            <a:ext cx="1280160" cy="274320"/>
          </a:xfrm>
          <a:prstGeom prst="rect">
            <a:avLst/>
          </a:prstGeom>
          <a:noFill/>
          <a:ln/>
        </p:spPr>
        <p:txBody>
          <a:bodyPr wrap="square" rtlCol="0" anchor="ctr"/>
          <a:lstStyle/>
          <a:p>
            <a:pPr algn="ctr" indent="0" marL="0">
              <a:buNone/>
            </a:pPr>
            <a:r>
              <a:rPr lang="en-US" sz="950" b="1" dirty="0">
                <a:solidFill>
                  <a:srgbClr val="393939"/>
                </a:solidFill>
                <a:latin typeface="Calibri" pitchFamily="34" charset="0"/>
                <a:ea typeface="Calibri" pitchFamily="34" charset="-122"/>
                <a:cs typeface="Calibri" pitchFamily="34" charset="-120"/>
              </a:rPr>
              <a:t>CSV</a:t>
            </a:r>
            <a:endParaRPr lang="en-US" sz="950" dirty="0"/>
          </a:p>
        </p:txBody>
      </p:sp>
      <p:sp>
        <p:nvSpPr>
          <p:cNvPr id="39" name="Shape 29"/>
          <p:cNvSpPr/>
          <p:nvPr/>
        </p:nvSpPr>
        <p:spPr>
          <a:xfrm>
            <a:off x="1668223" y="1675164"/>
            <a:ext cx="777240" cy="777240"/>
          </a:xfrm>
          <a:prstGeom prst="ellipse">
            <a:avLst/>
          </a:prstGeom>
          <a:solidFill>
            <a:srgbClr val="0F62FE"/>
          </a:solidFill>
          <a:ln/>
        </p:spPr>
      </p:sp>
      <p:pic>
        <p:nvPicPr>
          <p:cNvPr id="40" name="Image 8" descr="/home/claude/icons/cloudup_FFFFFF.png">    </p:cNvPr>
          <p:cNvPicPr>
            <a:picLocks noChangeAspect="1"/>
          </p:cNvPicPr>
          <p:nvPr/>
        </p:nvPicPr>
        <p:blipFill>
          <a:blip r:embed="rId9"/>
          <a:stretch>
            <a:fillRect/>
          </a:stretch>
        </p:blipFill>
        <p:spPr>
          <a:xfrm>
            <a:off x="1870305" y="1877247"/>
            <a:ext cx="373075" cy="373075"/>
          </a:xfrm>
          <a:prstGeom prst="rect">
            <a:avLst/>
          </a:prstGeom>
        </p:spPr>
      </p:pic>
      <p:sp>
        <p:nvSpPr>
          <p:cNvPr id="41" name="Text 30"/>
          <p:cNvSpPr/>
          <p:nvPr/>
        </p:nvSpPr>
        <p:spPr>
          <a:xfrm>
            <a:off x="1416763" y="2479836"/>
            <a:ext cx="1280160" cy="274320"/>
          </a:xfrm>
          <a:prstGeom prst="rect">
            <a:avLst/>
          </a:prstGeom>
          <a:noFill/>
          <a:ln/>
        </p:spPr>
        <p:txBody>
          <a:bodyPr wrap="square" rtlCol="0" anchor="ctr"/>
          <a:lstStyle/>
          <a:p>
            <a:pPr algn="ctr" indent="0" marL="0">
              <a:buNone/>
            </a:pPr>
            <a:r>
              <a:rPr lang="en-US" sz="950" b="1" dirty="0">
                <a:solidFill>
                  <a:srgbClr val="393939"/>
                </a:solidFill>
                <a:latin typeface="Calibri" pitchFamily="34" charset="0"/>
                <a:ea typeface="Calibri" pitchFamily="34" charset="-122"/>
                <a:cs typeface="Calibri" pitchFamily="34" charset="-120"/>
              </a:rPr>
              <a:t>Cloud Sources</a:t>
            </a:r>
            <a:endParaRPr lang="en-US" sz="950" dirty="0"/>
          </a:p>
        </p:txBody>
      </p:sp>
      <p:sp>
        <p:nvSpPr>
          <p:cNvPr id="42" name="Shape 31"/>
          <p:cNvSpPr/>
          <p:nvPr/>
        </p:nvSpPr>
        <p:spPr>
          <a:xfrm>
            <a:off x="7772400" y="1508760"/>
            <a:ext cx="3840480" cy="2103120"/>
          </a:xfrm>
          <a:prstGeom prst="roundRect">
            <a:avLst>
              <a:gd name="adj" fmla="val 3478"/>
            </a:avLst>
          </a:prstGeom>
          <a:solidFill>
            <a:srgbClr val="D0E2FF"/>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43" name="Shape 32"/>
          <p:cNvSpPr/>
          <p:nvPr/>
        </p:nvSpPr>
        <p:spPr>
          <a:xfrm>
            <a:off x="8001000" y="1737360"/>
            <a:ext cx="640080" cy="640080"/>
          </a:xfrm>
          <a:prstGeom prst="ellipse">
            <a:avLst/>
          </a:prstGeom>
          <a:solidFill>
            <a:srgbClr val="0F62FE"/>
          </a:solidFill>
          <a:ln/>
        </p:spPr>
      </p:sp>
      <p:pic>
        <p:nvPicPr>
          <p:cNvPr id="44" name="Image 9" descr="/home/claude/icons/api_FFFFFF.png">    </p:cNvPr>
          <p:cNvPicPr>
            <a:picLocks noChangeAspect="1"/>
          </p:cNvPicPr>
          <p:nvPr/>
        </p:nvPicPr>
        <p:blipFill>
          <a:blip r:embed="rId10"/>
          <a:stretch>
            <a:fillRect/>
          </a:stretch>
        </p:blipFill>
        <p:spPr>
          <a:xfrm>
            <a:off x="8167421" y="1903781"/>
            <a:ext cx="307238" cy="307238"/>
          </a:xfrm>
          <a:prstGeom prst="rect">
            <a:avLst/>
          </a:prstGeom>
        </p:spPr>
      </p:pic>
      <p:sp>
        <p:nvSpPr>
          <p:cNvPr id="45" name="Text 33"/>
          <p:cNvSpPr/>
          <p:nvPr/>
        </p:nvSpPr>
        <p:spPr>
          <a:xfrm>
            <a:off x="8778240" y="1783080"/>
            <a:ext cx="2743200" cy="320040"/>
          </a:xfrm>
          <a:prstGeom prst="rect">
            <a:avLst/>
          </a:prstGeom>
          <a:noFill/>
          <a:ln/>
        </p:spPr>
        <p:txBody>
          <a:bodyPr wrap="square" rtlCol="0" anchor="ctr"/>
          <a:lstStyle/>
          <a:p>
            <a:pPr indent="0" marL="0">
              <a:buNone/>
            </a:pPr>
            <a:r>
              <a:rPr lang="en-US" sz="1300" b="1" dirty="0">
                <a:solidFill>
                  <a:srgbClr val="0043CE"/>
                </a:solidFill>
                <a:latin typeface="Calibri" pitchFamily="34" charset="0"/>
                <a:ea typeface="Calibri" pitchFamily="34" charset="-122"/>
                <a:cs typeface="Calibri" pitchFamily="34" charset="-120"/>
              </a:rPr>
              <a:t>REST APIs</a:t>
            </a:r>
            <a:endParaRPr lang="en-US" sz="1300" dirty="0"/>
          </a:p>
        </p:txBody>
      </p:sp>
      <p:sp>
        <p:nvSpPr>
          <p:cNvPr id="46" name="Text 34"/>
          <p:cNvSpPr/>
          <p:nvPr/>
        </p:nvSpPr>
        <p:spPr>
          <a:xfrm>
            <a:off x="8001000" y="2331720"/>
            <a:ext cx="3383280" cy="1188720"/>
          </a:xfrm>
          <a:prstGeom prst="rect">
            <a:avLst/>
          </a:prstGeom>
          <a:noFill/>
          <a:ln/>
        </p:spPr>
        <p:txBody>
          <a:bodyPr wrap="square" rtlCol="0" anchor="t"/>
          <a:lstStyle/>
          <a:p>
            <a:pPr indent="0" marL="0">
              <a:buNone/>
            </a:pPr>
            <a:r>
              <a:rPr lang="en-US" sz="1050" dirty="0">
                <a:solidFill>
                  <a:srgbClr val="161616"/>
                </a:solidFill>
                <a:latin typeface="Calibri" pitchFamily="34" charset="0"/>
                <a:ea typeface="Calibri" pitchFamily="34" charset="-122"/>
                <a:cs typeface="Calibri" pitchFamily="34" charset="-120"/>
              </a:rPr>
              <a:t>Cognos exposes REST APIs so custom applications can embed reports, automate admin tasks, or pull data programmatically.</a:t>
            </a:r>
            <a:endParaRPr lang="en-US" sz="1050" dirty="0"/>
          </a:p>
        </p:txBody>
      </p:sp>
      <p:sp>
        <p:nvSpPr>
          <p:cNvPr id="47" name="Shape 35"/>
          <p:cNvSpPr/>
          <p:nvPr/>
        </p:nvSpPr>
        <p:spPr>
          <a:xfrm>
            <a:off x="7772400" y="3794760"/>
            <a:ext cx="3840480" cy="2194560"/>
          </a:xfrm>
          <a:prstGeom prst="roundRect">
            <a:avLst>
              <a:gd name="adj" fmla="val 3333"/>
            </a:avLst>
          </a:prstGeom>
          <a:solidFill>
            <a:srgbClr val="F4F4F4"/>
          </a:solidFill>
          <a:ln w="9525">
            <a:solidFill>
              <a:srgbClr val="E0E0E0"/>
            </a:solidFill>
            <a:prstDash val="solid"/>
          </a:ln>
        </p:spPr>
      </p:sp>
      <p:sp>
        <p:nvSpPr>
          <p:cNvPr id="48" name="Text 36"/>
          <p:cNvSpPr/>
          <p:nvPr/>
        </p:nvSpPr>
        <p:spPr>
          <a:xfrm>
            <a:off x="8001000" y="3931920"/>
            <a:ext cx="3383280" cy="274320"/>
          </a:xfrm>
          <a:prstGeom prst="rect">
            <a:avLst/>
          </a:prstGeom>
          <a:noFill/>
          <a:ln/>
        </p:spPr>
        <p:txBody>
          <a:bodyPr wrap="square" rtlCol="0" anchor="ctr"/>
          <a:lstStyle/>
          <a:p>
            <a:pPr indent="0" marL="0">
              <a:buNone/>
            </a:pPr>
            <a:r>
              <a:rPr lang="en-US" sz="1250" b="1" dirty="0">
                <a:solidFill>
                  <a:srgbClr val="161616"/>
                </a:solidFill>
                <a:latin typeface="Calibri" pitchFamily="34" charset="0"/>
                <a:ea typeface="Calibri" pitchFamily="34" charset="-122"/>
                <a:cs typeface="Calibri" pitchFamily="34" charset="-120"/>
              </a:rPr>
              <a:t>Why It Matters</a:t>
            </a:r>
            <a:endParaRPr lang="en-US" sz="1250" dirty="0"/>
          </a:p>
        </p:txBody>
      </p:sp>
      <p:sp>
        <p:nvSpPr>
          <p:cNvPr id="49" name="Text 37"/>
          <p:cNvSpPr/>
          <p:nvPr/>
        </p:nvSpPr>
        <p:spPr>
          <a:xfrm>
            <a:off x="8001000" y="4251960"/>
            <a:ext cx="3566160" cy="1645920"/>
          </a:xfrm>
          <a:prstGeom prst="rect">
            <a:avLst/>
          </a:prstGeom>
          <a:noFill/>
          <a:ln/>
        </p:spPr>
        <p:txBody>
          <a:bodyPr wrap="square" rtlCol="0" anchor="t"/>
          <a:lstStyle/>
          <a:p>
            <a:pPr marL="228600" indent="-228600">
              <a:spcAft>
                <a:spcPts val="800"/>
              </a:spcAft>
              <a:buSzPct val="100000"/>
              <a:buChar char="●"/>
            </a:pPr>
            <a:r>
              <a:rPr lang="en-US" sz="1050" dirty="0">
                <a:solidFill>
                  <a:srgbClr val="161616"/>
                </a:solidFill>
                <a:latin typeface="Calibri" pitchFamily="34" charset="0"/>
                <a:ea typeface="Calibri" pitchFamily="34" charset="-122"/>
                <a:cs typeface="Calibri" pitchFamily="34" charset="-120"/>
              </a:rPr>
              <a:t>One platform reports across many source systems</a:t>
            </a:r>
            <a:endParaRPr lang="en-US" sz="1050" dirty="0"/>
          </a:p>
          <a:p>
            <a:pPr marL="228600" indent="-228600">
              <a:spcAft>
                <a:spcPts val="800"/>
              </a:spcAft>
              <a:buSzPct val="100000"/>
              <a:buChar char="●"/>
            </a:pPr>
            <a:r>
              <a:rPr lang="en-US" sz="1050" dirty="0">
                <a:solidFill>
                  <a:srgbClr val="161616"/>
                </a:solidFill>
                <a:latin typeface="Calibri" pitchFamily="34" charset="0"/>
                <a:ea typeface="Calibri" pitchFamily="34" charset="-122"/>
                <a:cs typeface="Calibri" pitchFamily="34" charset="-120"/>
              </a:rPr>
              <a:t>No need to move all data into a single warehouse first</a:t>
            </a:r>
            <a:endParaRPr lang="en-US" sz="1050" dirty="0"/>
          </a:p>
          <a:p>
            <a:pPr marL="228600" indent="-228600">
              <a:spcAft>
                <a:spcPts val="800"/>
              </a:spcAft>
              <a:buSzPct val="100000"/>
              <a:buChar char="●"/>
            </a:pPr>
            <a:r>
              <a:rPr lang="en-US" sz="1050" dirty="0">
                <a:solidFill>
                  <a:srgbClr val="161616"/>
                </a:solidFill>
                <a:latin typeface="Calibri" pitchFamily="34" charset="0"/>
                <a:ea typeface="Calibri" pitchFamily="34" charset="-122"/>
                <a:cs typeface="Calibri" pitchFamily="34" charset="-120"/>
              </a:rPr>
              <a:t>Business users blend cloud + on-prem + file data easily</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200" b="1" spc="100" kern="0" dirty="0">
                <a:solidFill>
                  <a:srgbClr val="0F62FE"/>
                </a:solidFill>
                <a:latin typeface="Calibri" pitchFamily="34" charset="0"/>
                <a:ea typeface="Calibri" pitchFamily="34" charset="-122"/>
                <a:cs typeface="Calibri" pitchFamily="34" charset="-120"/>
              </a:rPr>
              <a:t>COGNOS ACROSS INDUSTRIES</a:t>
            </a:r>
            <a:endParaRPr lang="en-US" sz="1200" dirty="0"/>
          </a:p>
        </p:txBody>
      </p:sp>
      <p:sp>
        <p:nvSpPr>
          <p:cNvPr id="3" name="Text 1"/>
          <p:cNvSpPr/>
          <p:nvPr/>
        </p:nvSpPr>
        <p:spPr>
          <a:xfrm>
            <a:off x="548640" y="566928"/>
            <a:ext cx="10789920" cy="685800"/>
          </a:xfrm>
          <a:prstGeom prst="rect">
            <a:avLst/>
          </a:prstGeom>
          <a:noFill/>
          <a:ln/>
        </p:spPr>
        <p:txBody>
          <a:bodyPr wrap="square" rtlCol="0" anchor="ctr"/>
          <a:lstStyle/>
          <a:p>
            <a:pPr indent="0" marL="0">
              <a:buNone/>
            </a:pPr>
            <a:r>
              <a:rPr lang="en-US" sz="3000" b="1" dirty="0">
                <a:solidFill>
                  <a:srgbClr val="161616"/>
                </a:solidFill>
                <a:latin typeface="Cambria" pitchFamily="34" charset="0"/>
                <a:ea typeface="Cambria" pitchFamily="34" charset="-122"/>
                <a:cs typeface="Cambria" pitchFamily="34" charset="-120"/>
              </a:rPr>
              <a:t>Real-World Use Cases</a:t>
            </a:r>
            <a:endParaRPr lang="en-US" sz="3000" dirty="0"/>
          </a:p>
        </p:txBody>
      </p:sp>
      <p:sp>
        <p:nvSpPr>
          <p:cNvPr id="4" name="Shape 2"/>
          <p:cNvSpPr/>
          <p:nvPr/>
        </p:nvSpPr>
        <p:spPr>
          <a:xfrm>
            <a:off x="548640" y="1298448"/>
            <a:ext cx="11064240" cy="18288"/>
          </a:xfrm>
          <a:prstGeom prst="rect">
            <a:avLst/>
          </a:prstGeom>
          <a:solidFill>
            <a:srgbClr val="E0E0E0"/>
          </a:solidFill>
          <a:ln/>
        </p:spPr>
      </p:sp>
      <p:sp>
        <p:nvSpPr>
          <p:cNvPr id="5" name="Text 3"/>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525252"/>
                </a:solidFill>
                <a:latin typeface="Calibri" pitchFamily="34" charset="0"/>
                <a:ea typeface="Calibri" pitchFamily="34" charset="-122"/>
                <a:cs typeface="Calibri" pitchFamily="34" charset="-120"/>
              </a:rPr>
              <a:t>IBM Cognos Analytics Overview  |  Knowledge Transfer</a:t>
            </a:r>
            <a:endParaRPr lang="en-US" sz="900" dirty="0"/>
          </a:p>
        </p:txBody>
      </p:sp>
      <p:sp>
        <p:nvSpPr>
          <p:cNvPr id="6" name="Text 4"/>
          <p:cNvSpPr/>
          <p:nvPr/>
        </p:nvSpPr>
        <p:spPr>
          <a:xfrm>
            <a:off x="11365992" y="6510528"/>
            <a:ext cx="457200" cy="274320"/>
          </a:xfrm>
          <a:prstGeom prst="rect">
            <a:avLst/>
          </a:prstGeom>
          <a:noFill/>
          <a:ln/>
        </p:spPr>
        <p:txBody>
          <a:bodyPr wrap="square" rtlCol="0" anchor="ctr"/>
          <a:lstStyle/>
          <a:p>
            <a:pPr algn="r" indent="0" marL="0">
              <a:buNone/>
            </a:pPr>
            <a:r>
              <a:rPr lang="en-US" sz="900" dirty="0">
                <a:solidFill>
                  <a:srgbClr val="525252"/>
                </a:solidFill>
                <a:latin typeface="Calibri" pitchFamily="34" charset="0"/>
                <a:ea typeface="Calibri" pitchFamily="34" charset="-122"/>
                <a:cs typeface="Calibri" pitchFamily="34" charset="-120"/>
              </a:rPr>
              <a:t>18</a:t>
            </a:r>
            <a:endParaRPr lang="en-US" sz="900" dirty="0"/>
          </a:p>
        </p:txBody>
      </p:sp>
      <p:sp>
        <p:nvSpPr>
          <p:cNvPr id="7" name="Shape 5"/>
          <p:cNvSpPr/>
          <p:nvPr/>
        </p:nvSpPr>
        <p:spPr>
          <a:xfrm>
            <a:off x="548640" y="1508760"/>
            <a:ext cx="3566160" cy="1965960"/>
          </a:xfrm>
          <a:prstGeom prst="roundRect">
            <a:avLst>
              <a:gd name="adj" fmla="val 372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731520" y="1709928"/>
            <a:ext cx="566928" cy="566928"/>
          </a:xfrm>
          <a:prstGeom prst="ellipse">
            <a:avLst/>
          </a:prstGeom>
          <a:solidFill>
            <a:srgbClr val="0F62FE"/>
          </a:solidFill>
          <a:ln/>
        </p:spPr>
      </p:sp>
      <p:pic>
        <p:nvPicPr>
          <p:cNvPr id="9" name="Image 0" descr="/home/claude/icons/bank_FFFFFF.png">    </p:cNvPr>
          <p:cNvPicPr>
            <a:picLocks noChangeAspect="1"/>
          </p:cNvPicPr>
          <p:nvPr/>
        </p:nvPicPr>
        <p:blipFill>
          <a:blip r:embed="rId1"/>
          <a:stretch>
            <a:fillRect/>
          </a:stretch>
        </p:blipFill>
        <p:spPr>
          <a:xfrm>
            <a:off x="878921" y="1857329"/>
            <a:ext cx="272125" cy="272125"/>
          </a:xfrm>
          <a:prstGeom prst="rect">
            <a:avLst/>
          </a:prstGeom>
        </p:spPr>
      </p:pic>
      <p:sp>
        <p:nvSpPr>
          <p:cNvPr id="10" name="Text 7"/>
          <p:cNvSpPr/>
          <p:nvPr/>
        </p:nvSpPr>
        <p:spPr>
          <a:xfrm>
            <a:off x="1444752" y="1737360"/>
            <a:ext cx="2514600" cy="45720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Banking</a:t>
            </a:r>
            <a:endParaRPr lang="en-US" sz="1300" dirty="0"/>
          </a:p>
        </p:txBody>
      </p:sp>
      <p:sp>
        <p:nvSpPr>
          <p:cNvPr id="11" name="Text 8"/>
          <p:cNvSpPr/>
          <p:nvPr/>
        </p:nvSpPr>
        <p:spPr>
          <a:xfrm>
            <a:off x="731520" y="2423160"/>
            <a:ext cx="3200400" cy="960120"/>
          </a:xfrm>
          <a:prstGeom prst="rect">
            <a:avLst/>
          </a:prstGeom>
          <a:noFill/>
          <a:ln/>
        </p:spPr>
        <p:txBody>
          <a:bodyPr wrap="square" rtlCol="0" anchor="t"/>
          <a:lstStyle/>
          <a:p>
            <a:pPr indent="0" marL="0">
              <a:buNone/>
            </a:pPr>
            <a:r>
              <a:rPr lang="en-US" sz="1000" dirty="0">
                <a:solidFill>
                  <a:srgbClr val="525252"/>
                </a:solidFill>
                <a:latin typeface="Calibri" pitchFamily="34" charset="0"/>
                <a:ea typeface="Calibri" pitchFamily="34" charset="-122"/>
                <a:cs typeface="Calibri" pitchFamily="34" charset="-120"/>
              </a:rPr>
              <a:t>Loan portfolio risk reports, branch performance dashboards, regulatory disclosures.</a:t>
            </a:r>
            <a:endParaRPr lang="en-US" sz="1000" dirty="0"/>
          </a:p>
        </p:txBody>
      </p:sp>
      <p:sp>
        <p:nvSpPr>
          <p:cNvPr id="12" name="Shape 9"/>
          <p:cNvSpPr/>
          <p:nvPr/>
        </p:nvSpPr>
        <p:spPr>
          <a:xfrm>
            <a:off x="4297680" y="1508760"/>
            <a:ext cx="3566160" cy="1965960"/>
          </a:xfrm>
          <a:prstGeom prst="roundRect">
            <a:avLst>
              <a:gd name="adj" fmla="val 372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4480560" y="1709928"/>
            <a:ext cx="566928" cy="566928"/>
          </a:xfrm>
          <a:prstGeom prst="ellipse">
            <a:avLst/>
          </a:prstGeom>
          <a:solidFill>
            <a:srgbClr val="0F62FE"/>
          </a:solidFill>
          <a:ln/>
        </p:spPr>
      </p:sp>
      <p:pic>
        <p:nvPicPr>
          <p:cNvPr id="14" name="Image 1" descr="/home/claude/icons/shield_FFFFFF.png">    </p:cNvPr>
          <p:cNvPicPr>
            <a:picLocks noChangeAspect="1"/>
          </p:cNvPicPr>
          <p:nvPr/>
        </p:nvPicPr>
        <p:blipFill>
          <a:blip r:embed="rId2"/>
          <a:stretch>
            <a:fillRect/>
          </a:stretch>
        </p:blipFill>
        <p:spPr>
          <a:xfrm>
            <a:off x="4627961" y="1857329"/>
            <a:ext cx="272125" cy="272125"/>
          </a:xfrm>
          <a:prstGeom prst="rect">
            <a:avLst/>
          </a:prstGeom>
        </p:spPr>
      </p:pic>
      <p:sp>
        <p:nvSpPr>
          <p:cNvPr id="15" name="Text 11"/>
          <p:cNvSpPr/>
          <p:nvPr/>
        </p:nvSpPr>
        <p:spPr>
          <a:xfrm>
            <a:off x="5193792" y="1737360"/>
            <a:ext cx="2514600" cy="45720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Insurance</a:t>
            </a:r>
            <a:endParaRPr lang="en-US" sz="1300" dirty="0"/>
          </a:p>
        </p:txBody>
      </p:sp>
      <p:sp>
        <p:nvSpPr>
          <p:cNvPr id="16" name="Text 12"/>
          <p:cNvSpPr/>
          <p:nvPr/>
        </p:nvSpPr>
        <p:spPr>
          <a:xfrm>
            <a:off x="4480560" y="2423160"/>
            <a:ext cx="3200400" cy="960120"/>
          </a:xfrm>
          <a:prstGeom prst="rect">
            <a:avLst/>
          </a:prstGeom>
          <a:noFill/>
          <a:ln/>
        </p:spPr>
        <p:txBody>
          <a:bodyPr wrap="square" rtlCol="0" anchor="t"/>
          <a:lstStyle/>
          <a:p>
            <a:pPr indent="0" marL="0">
              <a:buNone/>
            </a:pPr>
            <a:r>
              <a:rPr lang="en-US" sz="1000" dirty="0">
                <a:solidFill>
                  <a:srgbClr val="525252"/>
                </a:solidFill>
                <a:latin typeface="Calibri" pitchFamily="34" charset="0"/>
                <a:ea typeface="Calibri" pitchFamily="34" charset="-122"/>
                <a:cs typeface="Calibri" pitchFamily="34" charset="-120"/>
              </a:rPr>
              <a:t>Claims trend analysis, underwriting profitability, fraud detection dashboards.</a:t>
            </a:r>
            <a:endParaRPr lang="en-US" sz="1000" dirty="0"/>
          </a:p>
        </p:txBody>
      </p:sp>
      <p:sp>
        <p:nvSpPr>
          <p:cNvPr id="17" name="Shape 13"/>
          <p:cNvSpPr/>
          <p:nvPr/>
        </p:nvSpPr>
        <p:spPr>
          <a:xfrm>
            <a:off x="8046720" y="1508760"/>
            <a:ext cx="3566160" cy="1965960"/>
          </a:xfrm>
          <a:prstGeom prst="roundRect">
            <a:avLst>
              <a:gd name="adj" fmla="val 372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8" name="Shape 14"/>
          <p:cNvSpPr/>
          <p:nvPr/>
        </p:nvSpPr>
        <p:spPr>
          <a:xfrm>
            <a:off x="8229600" y="1709928"/>
            <a:ext cx="566928" cy="566928"/>
          </a:xfrm>
          <a:prstGeom prst="ellipse">
            <a:avLst/>
          </a:prstGeom>
          <a:solidFill>
            <a:srgbClr val="0F62FE"/>
          </a:solidFill>
          <a:ln/>
        </p:spPr>
      </p:sp>
      <p:pic>
        <p:nvPicPr>
          <p:cNvPr id="19" name="Image 2" descr="/home/claude/icons/cart_FFFFFF.png">    </p:cNvPr>
          <p:cNvPicPr>
            <a:picLocks noChangeAspect="1"/>
          </p:cNvPicPr>
          <p:nvPr/>
        </p:nvPicPr>
        <p:blipFill>
          <a:blip r:embed="rId3"/>
          <a:stretch>
            <a:fillRect/>
          </a:stretch>
        </p:blipFill>
        <p:spPr>
          <a:xfrm>
            <a:off x="8377001" y="1857329"/>
            <a:ext cx="272125" cy="272125"/>
          </a:xfrm>
          <a:prstGeom prst="rect">
            <a:avLst/>
          </a:prstGeom>
        </p:spPr>
      </p:pic>
      <p:sp>
        <p:nvSpPr>
          <p:cNvPr id="20" name="Text 15"/>
          <p:cNvSpPr/>
          <p:nvPr/>
        </p:nvSpPr>
        <p:spPr>
          <a:xfrm>
            <a:off x="8942832" y="1737360"/>
            <a:ext cx="2514600" cy="45720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Retail</a:t>
            </a:r>
            <a:endParaRPr lang="en-US" sz="1300" dirty="0"/>
          </a:p>
        </p:txBody>
      </p:sp>
      <p:sp>
        <p:nvSpPr>
          <p:cNvPr id="21" name="Text 16"/>
          <p:cNvSpPr/>
          <p:nvPr/>
        </p:nvSpPr>
        <p:spPr>
          <a:xfrm>
            <a:off x="8229600" y="2423160"/>
            <a:ext cx="3200400" cy="960120"/>
          </a:xfrm>
          <a:prstGeom prst="rect">
            <a:avLst/>
          </a:prstGeom>
          <a:noFill/>
          <a:ln/>
        </p:spPr>
        <p:txBody>
          <a:bodyPr wrap="square" rtlCol="0" anchor="t"/>
          <a:lstStyle/>
          <a:p>
            <a:pPr indent="0" marL="0">
              <a:buNone/>
            </a:pPr>
            <a:r>
              <a:rPr lang="en-US" sz="1000" dirty="0">
                <a:solidFill>
                  <a:srgbClr val="525252"/>
                </a:solidFill>
                <a:latin typeface="Calibri" pitchFamily="34" charset="0"/>
                <a:ea typeface="Calibri" pitchFamily="34" charset="-122"/>
                <a:cs typeface="Calibri" pitchFamily="34" charset="-120"/>
              </a:rPr>
              <a:t>Sales &amp; inventory dashboards, store performance comparisons, demand forecasts.</a:t>
            </a:r>
            <a:endParaRPr lang="en-US" sz="1000" dirty="0"/>
          </a:p>
        </p:txBody>
      </p:sp>
      <p:sp>
        <p:nvSpPr>
          <p:cNvPr id="22" name="Shape 17"/>
          <p:cNvSpPr/>
          <p:nvPr/>
        </p:nvSpPr>
        <p:spPr>
          <a:xfrm>
            <a:off x="548640" y="3657600"/>
            <a:ext cx="3566160" cy="1965960"/>
          </a:xfrm>
          <a:prstGeom prst="roundRect">
            <a:avLst>
              <a:gd name="adj" fmla="val 372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731520" y="3858768"/>
            <a:ext cx="566928" cy="566928"/>
          </a:xfrm>
          <a:prstGeom prst="ellipse">
            <a:avLst/>
          </a:prstGeom>
          <a:solidFill>
            <a:srgbClr val="0F62FE"/>
          </a:solidFill>
          <a:ln/>
        </p:spPr>
      </p:sp>
      <p:pic>
        <p:nvPicPr>
          <p:cNvPr id="24" name="Image 3" descr="/home/claude/icons/hospital_FFFFFF.png">    </p:cNvPr>
          <p:cNvPicPr>
            <a:picLocks noChangeAspect="1"/>
          </p:cNvPicPr>
          <p:nvPr/>
        </p:nvPicPr>
        <p:blipFill>
          <a:blip r:embed="rId4"/>
          <a:stretch>
            <a:fillRect/>
          </a:stretch>
        </p:blipFill>
        <p:spPr>
          <a:xfrm>
            <a:off x="878921" y="4006169"/>
            <a:ext cx="272125" cy="272125"/>
          </a:xfrm>
          <a:prstGeom prst="rect">
            <a:avLst/>
          </a:prstGeom>
        </p:spPr>
      </p:pic>
      <p:sp>
        <p:nvSpPr>
          <p:cNvPr id="25" name="Text 19"/>
          <p:cNvSpPr/>
          <p:nvPr/>
        </p:nvSpPr>
        <p:spPr>
          <a:xfrm>
            <a:off x="1444752" y="3886200"/>
            <a:ext cx="2514600" cy="45720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Healthcare</a:t>
            </a:r>
            <a:endParaRPr lang="en-US" sz="1300" dirty="0"/>
          </a:p>
        </p:txBody>
      </p:sp>
      <p:sp>
        <p:nvSpPr>
          <p:cNvPr id="26" name="Text 20"/>
          <p:cNvSpPr/>
          <p:nvPr/>
        </p:nvSpPr>
        <p:spPr>
          <a:xfrm>
            <a:off x="731520" y="4572000"/>
            <a:ext cx="3200400" cy="960120"/>
          </a:xfrm>
          <a:prstGeom prst="rect">
            <a:avLst/>
          </a:prstGeom>
          <a:noFill/>
          <a:ln/>
        </p:spPr>
        <p:txBody>
          <a:bodyPr wrap="square" rtlCol="0" anchor="t"/>
          <a:lstStyle/>
          <a:p>
            <a:pPr indent="0" marL="0">
              <a:buNone/>
            </a:pPr>
            <a:r>
              <a:rPr lang="en-US" sz="1000" dirty="0">
                <a:solidFill>
                  <a:srgbClr val="525252"/>
                </a:solidFill>
                <a:latin typeface="Calibri" pitchFamily="34" charset="0"/>
                <a:ea typeface="Calibri" pitchFamily="34" charset="-122"/>
                <a:cs typeface="Calibri" pitchFamily="34" charset="-120"/>
              </a:rPr>
              <a:t>Patient outcome tracking, bed occupancy reports, staffing &amp; compliance dashboards.</a:t>
            </a:r>
            <a:endParaRPr lang="en-US" sz="1000" dirty="0"/>
          </a:p>
        </p:txBody>
      </p:sp>
      <p:sp>
        <p:nvSpPr>
          <p:cNvPr id="27" name="Shape 21"/>
          <p:cNvSpPr/>
          <p:nvPr/>
        </p:nvSpPr>
        <p:spPr>
          <a:xfrm>
            <a:off x="4297680" y="3657600"/>
            <a:ext cx="3566160" cy="1965960"/>
          </a:xfrm>
          <a:prstGeom prst="roundRect">
            <a:avLst>
              <a:gd name="adj" fmla="val 372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28" name="Shape 22"/>
          <p:cNvSpPr/>
          <p:nvPr/>
        </p:nvSpPr>
        <p:spPr>
          <a:xfrm>
            <a:off x="4480560" y="3858768"/>
            <a:ext cx="566928" cy="566928"/>
          </a:xfrm>
          <a:prstGeom prst="ellipse">
            <a:avLst/>
          </a:prstGeom>
          <a:solidFill>
            <a:srgbClr val="0F62FE"/>
          </a:solidFill>
          <a:ln/>
        </p:spPr>
      </p:sp>
      <p:pic>
        <p:nvPicPr>
          <p:cNvPr id="29" name="Image 4" descr="/home/claude/icons/factory_FFFFFF.png">    </p:cNvPr>
          <p:cNvPicPr>
            <a:picLocks noChangeAspect="1"/>
          </p:cNvPicPr>
          <p:nvPr/>
        </p:nvPicPr>
        <p:blipFill>
          <a:blip r:embed="rId5"/>
          <a:stretch>
            <a:fillRect/>
          </a:stretch>
        </p:blipFill>
        <p:spPr>
          <a:xfrm>
            <a:off x="4627961" y="4006169"/>
            <a:ext cx="272125" cy="272125"/>
          </a:xfrm>
          <a:prstGeom prst="rect">
            <a:avLst/>
          </a:prstGeom>
        </p:spPr>
      </p:pic>
      <p:sp>
        <p:nvSpPr>
          <p:cNvPr id="30" name="Text 23"/>
          <p:cNvSpPr/>
          <p:nvPr/>
        </p:nvSpPr>
        <p:spPr>
          <a:xfrm>
            <a:off x="5193792" y="3886200"/>
            <a:ext cx="2514600" cy="45720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Manufacturing</a:t>
            </a:r>
            <a:endParaRPr lang="en-US" sz="1300" dirty="0"/>
          </a:p>
        </p:txBody>
      </p:sp>
      <p:sp>
        <p:nvSpPr>
          <p:cNvPr id="31" name="Text 24"/>
          <p:cNvSpPr/>
          <p:nvPr/>
        </p:nvSpPr>
        <p:spPr>
          <a:xfrm>
            <a:off x="4480560" y="4572000"/>
            <a:ext cx="3200400" cy="960120"/>
          </a:xfrm>
          <a:prstGeom prst="rect">
            <a:avLst/>
          </a:prstGeom>
          <a:noFill/>
          <a:ln/>
        </p:spPr>
        <p:txBody>
          <a:bodyPr wrap="square" rtlCol="0" anchor="t"/>
          <a:lstStyle/>
          <a:p>
            <a:pPr indent="0" marL="0">
              <a:buNone/>
            </a:pPr>
            <a:r>
              <a:rPr lang="en-US" sz="1000" dirty="0">
                <a:solidFill>
                  <a:srgbClr val="525252"/>
                </a:solidFill>
                <a:latin typeface="Calibri" pitchFamily="34" charset="0"/>
                <a:ea typeface="Calibri" pitchFamily="34" charset="-122"/>
                <a:cs typeface="Calibri" pitchFamily="34" charset="-120"/>
              </a:rPr>
              <a:t>Production yield reports, downtime analysis, supply-chain performance dashboards.</a:t>
            </a:r>
            <a:endParaRPr lang="en-US" sz="1000" dirty="0"/>
          </a:p>
        </p:txBody>
      </p:sp>
      <p:sp>
        <p:nvSpPr>
          <p:cNvPr id="32" name="Shape 25"/>
          <p:cNvSpPr/>
          <p:nvPr/>
        </p:nvSpPr>
        <p:spPr>
          <a:xfrm>
            <a:off x="8046720" y="3657600"/>
            <a:ext cx="3566160" cy="1965960"/>
          </a:xfrm>
          <a:prstGeom prst="roundRect">
            <a:avLst>
              <a:gd name="adj" fmla="val 3721"/>
            </a:avLst>
          </a:prstGeom>
          <a:solidFill>
            <a:srgbClr val="F4F4F4"/>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33" name="Shape 26"/>
          <p:cNvSpPr/>
          <p:nvPr/>
        </p:nvSpPr>
        <p:spPr>
          <a:xfrm>
            <a:off x="8229600" y="3858768"/>
            <a:ext cx="566928" cy="566928"/>
          </a:xfrm>
          <a:prstGeom prst="ellipse">
            <a:avLst/>
          </a:prstGeom>
          <a:solidFill>
            <a:srgbClr val="0F62FE"/>
          </a:solidFill>
          <a:ln/>
        </p:spPr>
      </p:sp>
      <p:pic>
        <p:nvPicPr>
          <p:cNvPr id="34" name="Image 5" descr="/home/claude/icons/dollar_FFFFFF.png">    </p:cNvPr>
          <p:cNvPicPr>
            <a:picLocks noChangeAspect="1"/>
          </p:cNvPicPr>
          <p:nvPr/>
        </p:nvPicPr>
        <p:blipFill>
          <a:blip r:embed="rId6"/>
          <a:stretch>
            <a:fillRect/>
          </a:stretch>
        </p:blipFill>
        <p:spPr>
          <a:xfrm>
            <a:off x="8377001" y="4006169"/>
            <a:ext cx="272125" cy="272125"/>
          </a:xfrm>
          <a:prstGeom prst="rect">
            <a:avLst/>
          </a:prstGeom>
        </p:spPr>
      </p:pic>
      <p:sp>
        <p:nvSpPr>
          <p:cNvPr id="35" name="Text 27"/>
          <p:cNvSpPr/>
          <p:nvPr/>
        </p:nvSpPr>
        <p:spPr>
          <a:xfrm>
            <a:off x="8942832" y="3886200"/>
            <a:ext cx="2514600" cy="457200"/>
          </a:xfrm>
          <a:prstGeom prst="rect">
            <a:avLst/>
          </a:prstGeom>
          <a:noFill/>
          <a:ln/>
        </p:spPr>
        <p:txBody>
          <a:bodyPr wrap="square" rtlCol="0" anchor="ctr"/>
          <a:lstStyle/>
          <a:p>
            <a:pPr indent="0" marL="0">
              <a:buNone/>
            </a:pPr>
            <a:r>
              <a:rPr lang="en-US" sz="1300" b="1" dirty="0">
                <a:solidFill>
                  <a:srgbClr val="161616"/>
                </a:solidFill>
                <a:latin typeface="Calibri" pitchFamily="34" charset="0"/>
                <a:ea typeface="Calibri" pitchFamily="34" charset="-122"/>
                <a:cs typeface="Calibri" pitchFamily="34" charset="-120"/>
              </a:rPr>
              <a:t>Finance</a:t>
            </a:r>
            <a:endParaRPr lang="en-US" sz="1300" dirty="0"/>
          </a:p>
        </p:txBody>
      </p:sp>
      <p:sp>
        <p:nvSpPr>
          <p:cNvPr id="36" name="Text 28"/>
          <p:cNvSpPr/>
          <p:nvPr/>
        </p:nvSpPr>
        <p:spPr>
          <a:xfrm>
            <a:off x="8229600" y="4572000"/>
            <a:ext cx="3200400" cy="960120"/>
          </a:xfrm>
          <a:prstGeom prst="rect">
            <a:avLst/>
          </a:prstGeom>
          <a:noFill/>
          <a:ln/>
        </p:spPr>
        <p:txBody>
          <a:bodyPr wrap="square" rtlCol="0" anchor="t"/>
          <a:lstStyle/>
          <a:p>
            <a:pPr indent="0" marL="0">
              <a:buNone/>
            </a:pPr>
            <a:r>
              <a:rPr lang="en-US" sz="1000" dirty="0">
                <a:solidFill>
                  <a:srgbClr val="525252"/>
                </a:solidFill>
                <a:latin typeface="Calibri" pitchFamily="34" charset="0"/>
                <a:ea typeface="Calibri" pitchFamily="34" charset="-122"/>
                <a:cs typeface="Calibri" pitchFamily="34" charset="-120"/>
              </a:rPr>
              <a:t>Budget vs. actuals, month-end close reporting, cash-flow forecasting dashboards.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200" b="1" spc="100" kern="0" dirty="0">
                <a:solidFill>
                  <a:srgbClr val="0F62FE"/>
                </a:solidFill>
                <a:latin typeface="Calibri" pitchFamily="34" charset="0"/>
                <a:ea typeface="Calibri" pitchFamily="34" charset="-122"/>
                <a:cs typeface="Calibri" pitchFamily="34" charset="-120"/>
              </a:rPr>
              <a:t>COGNOS IN CONTEXT</a:t>
            </a:r>
            <a:endParaRPr lang="en-US" sz="1200" dirty="0"/>
          </a:p>
        </p:txBody>
      </p:sp>
      <p:sp>
        <p:nvSpPr>
          <p:cNvPr id="3" name="Text 1"/>
          <p:cNvSpPr/>
          <p:nvPr/>
        </p:nvSpPr>
        <p:spPr>
          <a:xfrm>
            <a:off x="548640" y="566928"/>
            <a:ext cx="10789920" cy="685800"/>
          </a:xfrm>
          <a:prstGeom prst="rect">
            <a:avLst/>
          </a:prstGeom>
          <a:noFill/>
          <a:ln/>
        </p:spPr>
        <p:txBody>
          <a:bodyPr wrap="square" rtlCol="0" anchor="ctr"/>
          <a:lstStyle/>
          <a:p>
            <a:pPr indent="0" marL="0">
              <a:buNone/>
            </a:pPr>
            <a:r>
              <a:rPr lang="en-US" sz="3000" b="1" dirty="0">
                <a:solidFill>
                  <a:srgbClr val="161616"/>
                </a:solidFill>
                <a:latin typeface="Cambria" pitchFamily="34" charset="0"/>
                <a:ea typeface="Cambria" pitchFamily="34" charset="-122"/>
                <a:cs typeface="Cambria" pitchFamily="34" charset="-120"/>
              </a:rPr>
              <a:t>Features, Advantages &amp; Limitations</a:t>
            </a:r>
            <a:endParaRPr lang="en-US" sz="3000" dirty="0"/>
          </a:p>
        </p:txBody>
      </p:sp>
      <p:sp>
        <p:nvSpPr>
          <p:cNvPr id="4" name="Shape 2"/>
          <p:cNvSpPr/>
          <p:nvPr/>
        </p:nvSpPr>
        <p:spPr>
          <a:xfrm>
            <a:off x="548640" y="1298448"/>
            <a:ext cx="11064240" cy="18288"/>
          </a:xfrm>
          <a:prstGeom prst="rect">
            <a:avLst/>
          </a:prstGeom>
          <a:solidFill>
            <a:srgbClr val="E0E0E0"/>
          </a:solidFill>
          <a:ln/>
        </p:spPr>
      </p:sp>
      <p:sp>
        <p:nvSpPr>
          <p:cNvPr id="5" name="Text 3"/>
          <p:cNvSpPr/>
          <p:nvPr/>
        </p:nvSpPr>
        <p:spPr>
          <a:xfrm>
            <a:off x="457200" y="6510528"/>
            <a:ext cx="7315200" cy="274320"/>
          </a:xfrm>
          <a:prstGeom prst="rect">
            <a:avLst/>
          </a:prstGeom>
          <a:noFill/>
          <a:ln/>
        </p:spPr>
        <p:txBody>
          <a:bodyPr wrap="square" rtlCol="0" anchor="ctr"/>
          <a:lstStyle/>
          <a:p>
            <a:pPr algn="l" indent="0" marL="0">
              <a:buNone/>
            </a:pPr>
            <a:r>
              <a:rPr lang="en-US" sz="900" dirty="0">
                <a:solidFill>
                  <a:srgbClr val="525252"/>
                </a:solidFill>
                <a:latin typeface="Calibri" pitchFamily="34" charset="0"/>
                <a:ea typeface="Calibri" pitchFamily="34" charset="-122"/>
                <a:cs typeface="Calibri" pitchFamily="34" charset="-120"/>
              </a:rPr>
              <a:t>IBM Cognos Analytics Overview  |  Knowledge Transfer</a:t>
            </a:r>
            <a:endParaRPr lang="en-US" sz="900" dirty="0"/>
          </a:p>
        </p:txBody>
      </p:sp>
      <p:sp>
        <p:nvSpPr>
          <p:cNvPr id="6" name="Text 4"/>
          <p:cNvSpPr/>
          <p:nvPr/>
        </p:nvSpPr>
        <p:spPr>
          <a:xfrm>
            <a:off x="11365992" y="6510528"/>
            <a:ext cx="457200" cy="274320"/>
          </a:xfrm>
          <a:prstGeom prst="rect">
            <a:avLst/>
          </a:prstGeom>
          <a:noFill/>
          <a:ln/>
        </p:spPr>
        <p:txBody>
          <a:bodyPr wrap="square" rtlCol="0" anchor="ctr"/>
          <a:lstStyle/>
          <a:p>
            <a:pPr algn="r" indent="0" marL="0">
              <a:buNone/>
            </a:pPr>
            <a:r>
              <a:rPr lang="en-US" sz="900" dirty="0">
                <a:solidFill>
                  <a:srgbClr val="525252"/>
                </a:solidFill>
                <a:latin typeface="Calibri" pitchFamily="34" charset="0"/>
                <a:ea typeface="Calibri" pitchFamily="34" charset="-122"/>
                <a:cs typeface="Calibri" pitchFamily="34" charset="-120"/>
              </a:rPr>
              <a:t>19</a:t>
            </a:r>
            <a:endParaRPr lang="en-US" sz="900" dirty="0"/>
          </a:p>
        </p:txBody>
      </p:sp>
      <p:sp>
        <p:nvSpPr>
          <p:cNvPr id="7" name="Shape 5"/>
          <p:cNvSpPr/>
          <p:nvPr/>
        </p:nvSpPr>
        <p:spPr>
          <a:xfrm>
            <a:off x="548640" y="1463040"/>
            <a:ext cx="11548872" cy="457200"/>
          </a:xfrm>
          <a:prstGeom prst="roundRect">
            <a:avLst>
              <a:gd name="adj" fmla="val 16000"/>
            </a:avLst>
          </a:prstGeom>
          <a:solidFill>
            <a:srgbClr val="001141"/>
          </a:solidFill>
          <a:ln w="9525">
            <a:solidFill>
              <a:srgbClr val="E0E0E0"/>
            </a:solidFill>
            <a:prstDash val="solid"/>
          </a:ln>
        </p:spPr>
      </p:sp>
      <p:sp>
        <p:nvSpPr>
          <p:cNvPr id="8" name="Text 6"/>
          <p:cNvSpPr/>
          <p:nvPr/>
        </p:nvSpPr>
        <p:spPr>
          <a:xfrm>
            <a:off x="548640" y="1463040"/>
            <a:ext cx="5029200" cy="457200"/>
          </a:xfrm>
          <a:prstGeom prst="rect">
            <a:avLst/>
          </a:prstGeom>
          <a:noFill/>
          <a:ln/>
        </p:spPr>
        <p:txBody>
          <a:bodyPr wrap="square"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p>
        </p:txBody>
      </p:sp>
      <p:sp>
        <p:nvSpPr>
          <p:cNvPr id="9" name="Text 7"/>
          <p:cNvSpPr/>
          <p:nvPr/>
        </p:nvSpPr>
        <p:spPr>
          <a:xfrm>
            <a:off x="5669280" y="1463040"/>
            <a:ext cx="214884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IBM Cognos</a:t>
            </a:r>
            <a:endParaRPr lang="en-US" sz="1200" dirty="0"/>
          </a:p>
        </p:txBody>
      </p:sp>
      <p:sp>
        <p:nvSpPr>
          <p:cNvPr id="10" name="Text 8"/>
          <p:cNvSpPr/>
          <p:nvPr/>
        </p:nvSpPr>
        <p:spPr>
          <a:xfrm>
            <a:off x="7909560" y="1463040"/>
            <a:ext cx="214884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Power BI</a:t>
            </a:r>
            <a:endParaRPr lang="en-US" sz="1200" dirty="0"/>
          </a:p>
        </p:txBody>
      </p:sp>
      <p:sp>
        <p:nvSpPr>
          <p:cNvPr id="11" name="Text 9"/>
          <p:cNvSpPr/>
          <p:nvPr/>
        </p:nvSpPr>
        <p:spPr>
          <a:xfrm>
            <a:off x="10149840" y="1463040"/>
            <a:ext cx="196596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Tableau</a:t>
            </a:r>
            <a:endParaRPr lang="en-US" sz="1200" dirty="0"/>
          </a:p>
        </p:txBody>
      </p:sp>
      <p:sp>
        <p:nvSpPr>
          <p:cNvPr id="12" name="Shape 10"/>
          <p:cNvSpPr/>
          <p:nvPr/>
        </p:nvSpPr>
        <p:spPr>
          <a:xfrm>
            <a:off x="548640" y="1920240"/>
            <a:ext cx="11548872" cy="393192"/>
          </a:xfrm>
          <a:prstGeom prst="roundRect">
            <a:avLst>
              <a:gd name="adj" fmla="val 18605"/>
            </a:avLst>
          </a:prstGeom>
          <a:solidFill>
            <a:srgbClr val="F4F4F4"/>
          </a:solidFill>
          <a:ln/>
        </p:spPr>
      </p:sp>
      <p:sp>
        <p:nvSpPr>
          <p:cNvPr id="13" name="Text 11"/>
          <p:cNvSpPr/>
          <p:nvPr/>
        </p:nvSpPr>
        <p:spPr>
          <a:xfrm>
            <a:off x="685800" y="1920240"/>
            <a:ext cx="4846320" cy="393192"/>
          </a:xfrm>
          <a:prstGeom prst="rect">
            <a:avLst/>
          </a:prstGeom>
          <a:noFill/>
          <a:ln/>
        </p:spPr>
        <p:txBody>
          <a:bodyPr wrap="square" rtlCol="0" anchor="ctr"/>
          <a:lstStyle/>
          <a:p>
            <a:pPr indent="0" marL="0">
              <a:buNone/>
            </a:pPr>
            <a:r>
              <a:rPr lang="en-US" sz="1050" dirty="0">
                <a:solidFill>
                  <a:srgbClr val="161616"/>
                </a:solidFill>
                <a:latin typeface="Calibri" pitchFamily="34" charset="0"/>
                <a:ea typeface="Calibri" pitchFamily="34" charset="-122"/>
                <a:cs typeface="Calibri" pitchFamily="34" charset="-120"/>
              </a:rPr>
              <a:t>Enterprise Reporting</a:t>
            </a:r>
            <a:endParaRPr lang="en-US" sz="1050" dirty="0"/>
          </a:p>
        </p:txBody>
      </p:sp>
      <p:sp>
        <p:nvSpPr>
          <p:cNvPr id="14" name="Text 12"/>
          <p:cNvSpPr/>
          <p:nvPr/>
        </p:nvSpPr>
        <p:spPr>
          <a:xfrm>
            <a:off x="5669280" y="1920240"/>
            <a:ext cx="214884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Strong</a:t>
            </a:r>
            <a:endParaRPr lang="en-US" sz="1050" dirty="0"/>
          </a:p>
        </p:txBody>
      </p:sp>
      <p:sp>
        <p:nvSpPr>
          <p:cNvPr id="15" name="Text 13"/>
          <p:cNvSpPr/>
          <p:nvPr/>
        </p:nvSpPr>
        <p:spPr>
          <a:xfrm>
            <a:off x="7909560" y="1920240"/>
            <a:ext cx="214884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Moderate</a:t>
            </a:r>
            <a:endParaRPr lang="en-US" sz="1050" dirty="0"/>
          </a:p>
        </p:txBody>
      </p:sp>
      <p:sp>
        <p:nvSpPr>
          <p:cNvPr id="16" name="Text 14"/>
          <p:cNvSpPr/>
          <p:nvPr/>
        </p:nvSpPr>
        <p:spPr>
          <a:xfrm>
            <a:off x="10149840" y="1920240"/>
            <a:ext cx="196596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Moderate</a:t>
            </a:r>
            <a:endParaRPr lang="en-US" sz="1050" dirty="0"/>
          </a:p>
        </p:txBody>
      </p:sp>
      <p:sp>
        <p:nvSpPr>
          <p:cNvPr id="17" name="Shape 15"/>
          <p:cNvSpPr/>
          <p:nvPr/>
        </p:nvSpPr>
        <p:spPr>
          <a:xfrm>
            <a:off x="548640" y="2313432"/>
            <a:ext cx="11548872" cy="393192"/>
          </a:xfrm>
          <a:prstGeom prst="roundRect">
            <a:avLst>
              <a:gd name="adj" fmla="val 18605"/>
            </a:avLst>
          </a:prstGeom>
          <a:solidFill>
            <a:srgbClr val="FFFFFF"/>
          </a:solidFill>
          <a:ln/>
        </p:spPr>
      </p:sp>
      <p:sp>
        <p:nvSpPr>
          <p:cNvPr id="18" name="Text 16"/>
          <p:cNvSpPr/>
          <p:nvPr/>
        </p:nvSpPr>
        <p:spPr>
          <a:xfrm>
            <a:off x="685800" y="2313432"/>
            <a:ext cx="4846320" cy="393192"/>
          </a:xfrm>
          <a:prstGeom prst="rect">
            <a:avLst/>
          </a:prstGeom>
          <a:noFill/>
          <a:ln/>
        </p:spPr>
        <p:txBody>
          <a:bodyPr wrap="square" rtlCol="0" anchor="ctr"/>
          <a:lstStyle/>
          <a:p>
            <a:pPr indent="0" marL="0">
              <a:buNone/>
            </a:pPr>
            <a:r>
              <a:rPr lang="en-US" sz="1050" dirty="0">
                <a:solidFill>
                  <a:srgbClr val="161616"/>
                </a:solidFill>
                <a:latin typeface="Calibri" pitchFamily="34" charset="0"/>
                <a:ea typeface="Calibri" pitchFamily="34" charset="-122"/>
                <a:cs typeface="Calibri" pitchFamily="34" charset="-120"/>
              </a:rPr>
              <a:t>Self-Service Analytics</a:t>
            </a:r>
            <a:endParaRPr lang="en-US" sz="1050" dirty="0"/>
          </a:p>
        </p:txBody>
      </p:sp>
      <p:sp>
        <p:nvSpPr>
          <p:cNvPr id="19" name="Text 17"/>
          <p:cNvSpPr/>
          <p:nvPr/>
        </p:nvSpPr>
        <p:spPr>
          <a:xfrm>
            <a:off x="5669280" y="2313432"/>
            <a:ext cx="214884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Good</a:t>
            </a:r>
            <a:endParaRPr lang="en-US" sz="1050" dirty="0"/>
          </a:p>
        </p:txBody>
      </p:sp>
      <p:sp>
        <p:nvSpPr>
          <p:cNvPr id="20" name="Text 18"/>
          <p:cNvSpPr/>
          <p:nvPr/>
        </p:nvSpPr>
        <p:spPr>
          <a:xfrm>
            <a:off x="7909560" y="2313432"/>
            <a:ext cx="214884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Strong</a:t>
            </a:r>
            <a:endParaRPr lang="en-US" sz="1050" dirty="0"/>
          </a:p>
        </p:txBody>
      </p:sp>
      <p:sp>
        <p:nvSpPr>
          <p:cNvPr id="21" name="Text 19"/>
          <p:cNvSpPr/>
          <p:nvPr/>
        </p:nvSpPr>
        <p:spPr>
          <a:xfrm>
            <a:off x="10149840" y="2313432"/>
            <a:ext cx="196596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Strong</a:t>
            </a:r>
            <a:endParaRPr lang="en-US" sz="1050" dirty="0"/>
          </a:p>
        </p:txBody>
      </p:sp>
      <p:sp>
        <p:nvSpPr>
          <p:cNvPr id="22" name="Shape 20"/>
          <p:cNvSpPr/>
          <p:nvPr/>
        </p:nvSpPr>
        <p:spPr>
          <a:xfrm>
            <a:off x="548640" y="2706624"/>
            <a:ext cx="11548872" cy="393192"/>
          </a:xfrm>
          <a:prstGeom prst="roundRect">
            <a:avLst>
              <a:gd name="adj" fmla="val 18605"/>
            </a:avLst>
          </a:prstGeom>
          <a:solidFill>
            <a:srgbClr val="F4F4F4"/>
          </a:solidFill>
          <a:ln/>
        </p:spPr>
      </p:sp>
      <p:sp>
        <p:nvSpPr>
          <p:cNvPr id="23" name="Text 21"/>
          <p:cNvSpPr/>
          <p:nvPr/>
        </p:nvSpPr>
        <p:spPr>
          <a:xfrm>
            <a:off x="685800" y="2706624"/>
            <a:ext cx="4846320" cy="393192"/>
          </a:xfrm>
          <a:prstGeom prst="rect">
            <a:avLst/>
          </a:prstGeom>
          <a:noFill/>
          <a:ln/>
        </p:spPr>
        <p:txBody>
          <a:bodyPr wrap="square" rtlCol="0" anchor="ctr"/>
          <a:lstStyle/>
          <a:p>
            <a:pPr indent="0" marL="0">
              <a:buNone/>
            </a:pPr>
            <a:r>
              <a:rPr lang="en-US" sz="1050" dirty="0">
                <a:solidFill>
                  <a:srgbClr val="161616"/>
                </a:solidFill>
                <a:latin typeface="Calibri" pitchFamily="34" charset="0"/>
                <a:ea typeface="Calibri" pitchFamily="34" charset="-122"/>
                <a:cs typeface="Calibri" pitchFamily="34" charset="-120"/>
              </a:rPr>
              <a:t>AI Assistant / NLQ</a:t>
            </a:r>
            <a:endParaRPr lang="en-US" sz="1050" dirty="0"/>
          </a:p>
        </p:txBody>
      </p:sp>
      <p:sp>
        <p:nvSpPr>
          <p:cNvPr id="24" name="Text 22"/>
          <p:cNvSpPr/>
          <p:nvPr/>
        </p:nvSpPr>
        <p:spPr>
          <a:xfrm>
            <a:off x="5669280" y="2706624"/>
            <a:ext cx="214884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Good</a:t>
            </a:r>
            <a:endParaRPr lang="en-US" sz="1050" dirty="0"/>
          </a:p>
        </p:txBody>
      </p:sp>
      <p:sp>
        <p:nvSpPr>
          <p:cNvPr id="25" name="Text 23"/>
          <p:cNvSpPr/>
          <p:nvPr/>
        </p:nvSpPr>
        <p:spPr>
          <a:xfrm>
            <a:off x="7909560" y="2706624"/>
            <a:ext cx="214884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Growing</a:t>
            </a:r>
            <a:endParaRPr lang="en-US" sz="1050" dirty="0"/>
          </a:p>
        </p:txBody>
      </p:sp>
      <p:sp>
        <p:nvSpPr>
          <p:cNvPr id="26" name="Text 24"/>
          <p:cNvSpPr/>
          <p:nvPr/>
        </p:nvSpPr>
        <p:spPr>
          <a:xfrm>
            <a:off x="10149840" y="2706624"/>
            <a:ext cx="196596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Growing</a:t>
            </a:r>
            <a:endParaRPr lang="en-US" sz="1050" dirty="0"/>
          </a:p>
        </p:txBody>
      </p:sp>
      <p:sp>
        <p:nvSpPr>
          <p:cNvPr id="27" name="Shape 25"/>
          <p:cNvSpPr/>
          <p:nvPr/>
        </p:nvSpPr>
        <p:spPr>
          <a:xfrm>
            <a:off x="548640" y="3099816"/>
            <a:ext cx="11548872" cy="393192"/>
          </a:xfrm>
          <a:prstGeom prst="roundRect">
            <a:avLst>
              <a:gd name="adj" fmla="val 18605"/>
            </a:avLst>
          </a:prstGeom>
          <a:solidFill>
            <a:srgbClr val="FFFFFF"/>
          </a:solidFill>
          <a:ln/>
        </p:spPr>
      </p:sp>
      <p:sp>
        <p:nvSpPr>
          <p:cNvPr id="28" name="Text 26"/>
          <p:cNvSpPr/>
          <p:nvPr/>
        </p:nvSpPr>
        <p:spPr>
          <a:xfrm>
            <a:off x="685800" y="3099816"/>
            <a:ext cx="4846320" cy="393192"/>
          </a:xfrm>
          <a:prstGeom prst="rect">
            <a:avLst/>
          </a:prstGeom>
          <a:noFill/>
          <a:ln/>
        </p:spPr>
        <p:txBody>
          <a:bodyPr wrap="square" rtlCol="0" anchor="ctr"/>
          <a:lstStyle/>
          <a:p>
            <a:pPr indent="0" marL="0">
              <a:buNone/>
            </a:pPr>
            <a:r>
              <a:rPr lang="en-US" sz="1050" dirty="0">
                <a:solidFill>
                  <a:srgbClr val="161616"/>
                </a:solidFill>
                <a:latin typeface="Calibri" pitchFamily="34" charset="0"/>
                <a:ea typeface="Calibri" pitchFamily="34" charset="-122"/>
                <a:cs typeface="Calibri" pitchFamily="34" charset="-120"/>
              </a:rPr>
              <a:t>Dashboarding</a:t>
            </a:r>
            <a:endParaRPr lang="en-US" sz="1050" dirty="0"/>
          </a:p>
        </p:txBody>
      </p:sp>
      <p:sp>
        <p:nvSpPr>
          <p:cNvPr id="29" name="Text 27"/>
          <p:cNvSpPr/>
          <p:nvPr/>
        </p:nvSpPr>
        <p:spPr>
          <a:xfrm>
            <a:off x="5669280" y="3099816"/>
            <a:ext cx="214884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Good</a:t>
            </a:r>
            <a:endParaRPr lang="en-US" sz="1050" dirty="0"/>
          </a:p>
        </p:txBody>
      </p:sp>
      <p:sp>
        <p:nvSpPr>
          <p:cNvPr id="30" name="Text 28"/>
          <p:cNvSpPr/>
          <p:nvPr/>
        </p:nvSpPr>
        <p:spPr>
          <a:xfrm>
            <a:off x="7909560" y="3099816"/>
            <a:ext cx="214884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Strong</a:t>
            </a:r>
            <a:endParaRPr lang="en-US" sz="1050" dirty="0"/>
          </a:p>
        </p:txBody>
      </p:sp>
      <p:sp>
        <p:nvSpPr>
          <p:cNvPr id="31" name="Text 29"/>
          <p:cNvSpPr/>
          <p:nvPr/>
        </p:nvSpPr>
        <p:spPr>
          <a:xfrm>
            <a:off x="10149840" y="3099816"/>
            <a:ext cx="196596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Strong</a:t>
            </a:r>
            <a:endParaRPr lang="en-US" sz="1050" dirty="0"/>
          </a:p>
        </p:txBody>
      </p:sp>
      <p:sp>
        <p:nvSpPr>
          <p:cNvPr id="32" name="Shape 30"/>
          <p:cNvSpPr/>
          <p:nvPr/>
        </p:nvSpPr>
        <p:spPr>
          <a:xfrm>
            <a:off x="548640" y="3493008"/>
            <a:ext cx="11548872" cy="393192"/>
          </a:xfrm>
          <a:prstGeom prst="roundRect">
            <a:avLst>
              <a:gd name="adj" fmla="val 18605"/>
            </a:avLst>
          </a:prstGeom>
          <a:solidFill>
            <a:srgbClr val="F4F4F4"/>
          </a:solidFill>
          <a:ln/>
        </p:spPr>
      </p:sp>
      <p:sp>
        <p:nvSpPr>
          <p:cNvPr id="33" name="Text 31"/>
          <p:cNvSpPr/>
          <p:nvPr/>
        </p:nvSpPr>
        <p:spPr>
          <a:xfrm>
            <a:off x="685800" y="3493008"/>
            <a:ext cx="4846320" cy="393192"/>
          </a:xfrm>
          <a:prstGeom prst="rect">
            <a:avLst/>
          </a:prstGeom>
          <a:noFill/>
          <a:ln/>
        </p:spPr>
        <p:txBody>
          <a:bodyPr wrap="square" rtlCol="0" anchor="ctr"/>
          <a:lstStyle/>
          <a:p>
            <a:pPr indent="0" marL="0">
              <a:buNone/>
            </a:pPr>
            <a:r>
              <a:rPr lang="en-US" sz="1050" dirty="0">
                <a:solidFill>
                  <a:srgbClr val="161616"/>
                </a:solidFill>
                <a:latin typeface="Calibri" pitchFamily="34" charset="0"/>
                <a:ea typeface="Calibri" pitchFamily="34" charset="-122"/>
                <a:cs typeface="Calibri" pitchFamily="34" charset="-120"/>
              </a:rPr>
              <a:t>Scheduling &amp; Bursting</a:t>
            </a:r>
            <a:endParaRPr lang="en-US" sz="1050" dirty="0"/>
          </a:p>
        </p:txBody>
      </p:sp>
      <p:sp>
        <p:nvSpPr>
          <p:cNvPr id="34" name="Text 32"/>
          <p:cNvSpPr/>
          <p:nvPr/>
        </p:nvSpPr>
        <p:spPr>
          <a:xfrm>
            <a:off x="5669280" y="3493008"/>
            <a:ext cx="214884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Strong</a:t>
            </a:r>
            <a:endParaRPr lang="en-US" sz="1050" dirty="0"/>
          </a:p>
        </p:txBody>
      </p:sp>
      <p:sp>
        <p:nvSpPr>
          <p:cNvPr id="35" name="Text 33"/>
          <p:cNvSpPr/>
          <p:nvPr/>
        </p:nvSpPr>
        <p:spPr>
          <a:xfrm>
            <a:off x="7909560" y="3493008"/>
            <a:ext cx="214884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Limited</a:t>
            </a:r>
            <a:endParaRPr lang="en-US" sz="1050" dirty="0"/>
          </a:p>
        </p:txBody>
      </p:sp>
      <p:sp>
        <p:nvSpPr>
          <p:cNvPr id="36" name="Text 34"/>
          <p:cNvSpPr/>
          <p:nvPr/>
        </p:nvSpPr>
        <p:spPr>
          <a:xfrm>
            <a:off x="10149840" y="3493008"/>
            <a:ext cx="196596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Limited</a:t>
            </a:r>
            <a:endParaRPr lang="en-US" sz="1050" dirty="0"/>
          </a:p>
        </p:txBody>
      </p:sp>
      <p:sp>
        <p:nvSpPr>
          <p:cNvPr id="37" name="Shape 35"/>
          <p:cNvSpPr/>
          <p:nvPr/>
        </p:nvSpPr>
        <p:spPr>
          <a:xfrm>
            <a:off x="548640" y="3886200"/>
            <a:ext cx="11548872" cy="393192"/>
          </a:xfrm>
          <a:prstGeom prst="roundRect">
            <a:avLst>
              <a:gd name="adj" fmla="val 18605"/>
            </a:avLst>
          </a:prstGeom>
          <a:solidFill>
            <a:srgbClr val="FFFFFF"/>
          </a:solidFill>
          <a:ln/>
        </p:spPr>
      </p:sp>
      <p:sp>
        <p:nvSpPr>
          <p:cNvPr id="38" name="Text 36"/>
          <p:cNvSpPr/>
          <p:nvPr/>
        </p:nvSpPr>
        <p:spPr>
          <a:xfrm>
            <a:off x="685800" y="3886200"/>
            <a:ext cx="4846320" cy="393192"/>
          </a:xfrm>
          <a:prstGeom prst="rect">
            <a:avLst/>
          </a:prstGeom>
          <a:noFill/>
          <a:ln/>
        </p:spPr>
        <p:txBody>
          <a:bodyPr wrap="square" rtlCol="0" anchor="ctr"/>
          <a:lstStyle/>
          <a:p>
            <a:pPr indent="0" marL="0">
              <a:buNone/>
            </a:pPr>
            <a:r>
              <a:rPr lang="en-US" sz="1050" dirty="0">
                <a:solidFill>
                  <a:srgbClr val="161616"/>
                </a:solidFill>
                <a:latin typeface="Calibri" pitchFamily="34" charset="0"/>
                <a:ea typeface="Calibri" pitchFamily="34" charset="-122"/>
                <a:cs typeface="Calibri" pitchFamily="34" charset="-120"/>
              </a:rPr>
              <a:t>Security &amp; Governance</a:t>
            </a:r>
            <a:endParaRPr lang="en-US" sz="1050" dirty="0"/>
          </a:p>
        </p:txBody>
      </p:sp>
      <p:sp>
        <p:nvSpPr>
          <p:cNvPr id="39" name="Text 37"/>
          <p:cNvSpPr/>
          <p:nvPr/>
        </p:nvSpPr>
        <p:spPr>
          <a:xfrm>
            <a:off x="5669280" y="3886200"/>
            <a:ext cx="214884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Strong</a:t>
            </a:r>
            <a:endParaRPr lang="en-US" sz="1050" dirty="0"/>
          </a:p>
        </p:txBody>
      </p:sp>
      <p:sp>
        <p:nvSpPr>
          <p:cNvPr id="40" name="Text 38"/>
          <p:cNvSpPr/>
          <p:nvPr/>
        </p:nvSpPr>
        <p:spPr>
          <a:xfrm>
            <a:off x="7909560" y="3886200"/>
            <a:ext cx="214884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Good</a:t>
            </a:r>
            <a:endParaRPr lang="en-US" sz="1050" dirty="0"/>
          </a:p>
        </p:txBody>
      </p:sp>
      <p:sp>
        <p:nvSpPr>
          <p:cNvPr id="41" name="Text 39"/>
          <p:cNvSpPr/>
          <p:nvPr/>
        </p:nvSpPr>
        <p:spPr>
          <a:xfrm>
            <a:off x="10149840" y="3886200"/>
            <a:ext cx="196596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Good</a:t>
            </a:r>
            <a:endParaRPr lang="en-US" sz="1050" dirty="0"/>
          </a:p>
        </p:txBody>
      </p:sp>
      <p:sp>
        <p:nvSpPr>
          <p:cNvPr id="42" name="Shape 40"/>
          <p:cNvSpPr/>
          <p:nvPr/>
        </p:nvSpPr>
        <p:spPr>
          <a:xfrm>
            <a:off x="548640" y="4279392"/>
            <a:ext cx="11548872" cy="393192"/>
          </a:xfrm>
          <a:prstGeom prst="roundRect">
            <a:avLst>
              <a:gd name="adj" fmla="val 18605"/>
            </a:avLst>
          </a:prstGeom>
          <a:solidFill>
            <a:srgbClr val="F4F4F4"/>
          </a:solidFill>
          <a:ln/>
        </p:spPr>
      </p:sp>
      <p:sp>
        <p:nvSpPr>
          <p:cNvPr id="43" name="Text 41"/>
          <p:cNvSpPr/>
          <p:nvPr/>
        </p:nvSpPr>
        <p:spPr>
          <a:xfrm>
            <a:off x="685800" y="4279392"/>
            <a:ext cx="4846320" cy="393192"/>
          </a:xfrm>
          <a:prstGeom prst="rect">
            <a:avLst/>
          </a:prstGeom>
          <a:noFill/>
          <a:ln/>
        </p:spPr>
        <p:txBody>
          <a:bodyPr wrap="square" rtlCol="0" anchor="ctr"/>
          <a:lstStyle/>
          <a:p>
            <a:pPr indent="0" marL="0">
              <a:buNone/>
            </a:pPr>
            <a:r>
              <a:rPr lang="en-US" sz="1050" dirty="0">
                <a:solidFill>
                  <a:srgbClr val="161616"/>
                </a:solidFill>
                <a:latin typeface="Calibri" pitchFamily="34" charset="0"/>
                <a:ea typeface="Calibri" pitchFamily="34" charset="-122"/>
                <a:cs typeface="Calibri" pitchFamily="34" charset="-120"/>
              </a:rPr>
              <a:t>Mobile Support</a:t>
            </a:r>
            <a:endParaRPr lang="en-US" sz="1050" dirty="0"/>
          </a:p>
        </p:txBody>
      </p:sp>
      <p:sp>
        <p:nvSpPr>
          <p:cNvPr id="44" name="Text 42"/>
          <p:cNvSpPr/>
          <p:nvPr/>
        </p:nvSpPr>
        <p:spPr>
          <a:xfrm>
            <a:off x="5669280" y="4279392"/>
            <a:ext cx="214884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Good</a:t>
            </a:r>
            <a:endParaRPr lang="en-US" sz="1050" dirty="0"/>
          </a:p>
        </p:txBody>
      </p:sp>
      <p:sp>
        <p:nvSpPr>
          <p:cNvPr id="45" name="Text 43"/>
          <p:cNvSpPr/>
          <p:nvPr/>
        </p:nvSpPr>
        <p:spPr>
          <a:xfrm>
            <a:off x="7909560" y="4279392"/>
            <a:ext cx="214884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Good</a:t>
            </a:r>
            <a:endParaRPr lang="en-US" sz="1050" dirty="0"/>
          </a:p>
        </p:txBody>
      </p:sp>
      <p:sp>
        <p:nvSpPr>
          <p:cNvPr id="46" name="Text 44"/>
          <p:cNvSpPr/>
          <p:nvPr/>
        </p:nvSpPr>
        <p:spPr>
          <a:xfrm>
            <a:off x="10149840" y="4279392"/>
            <a:ext cx="1965960" cy="393192"/>
          </a:xfrm>
          <a:prstGeom prst="rect">
            <a:avLst/>
          </a:prstGeom>
          <a:noFill/>
          <a:ln/>
        </p:spPr>
        <p:txBody>
          <a:bodyPr wrap="square" rtlCol="0" anchor="ctr"/>
          <a:lstStyle/>
          <a:p>
            <a:pPr algn="ctr" indent="0" marL="0">
              <a:buNone/>
            </a:pPr>
            <a:r>
              <a:rPr lang="en-US" sz="1050" dirty="0">
                <a:solidFill>
                  <a:srgbClr val="393939"/>
                </a:solidFill>
                <a:latin typeface="Calibri" pitchFamily="34" charset="0"/>
                <a:ea typeface="Calibri" pitchFamily="34" charset="-122"/>
                <a:cs typeface="Calibri" pitchFamily="34" charset="-120"/>
              </a:rPr>
              <a:t>Good</a:t>
            </a:r>
            <a:endParaRPr lang="en-US" sz="1050" dirty="0"/>
          </a:p>
        </p:txBody>
      </p:sp>
      <p:sp>
        <p:nvSpPr>
          <p:cNvPr id="47" name="Shape 45"/>
          <p:cNvSpPr/>
          <p:nvPr/>
        </p:nvSpPr>
        <p:spPr>
          <a:xfrm>
            <a:off x="548640" y="4855464"/>
            <a:ext cx="5623560" cy="1371600"/>
          </a:xfrm>
          <a:prstGeom prst="roundRect">
            <a:avLst>
              <a:gd name="adj" fmla="val 5333"/>
            </a:avLst>
          </a:prstGeom>
          <a:solidFill>
            <a:srgbClr val="F4F4F4"/>
          </a:solidFill>
          <a:ln w="9525">
            <a:solidFill>
              <a:srgbClr val="E0E0E0"/>
            </a:solidFill>
            <a:prstDash val="solid"/>
          </a:ln>
        </p:spPr>
      </p:sp>
      <p:sp>
        <p:nvSpPr>
          <p:cNvPr id="48" name="Text 46"/>
          <p:cNvSpPr/>
          <p:nvPr/>
        </p:nvSpPr>
        <p:spPr>
          <a:xfrm>
            <a:off x="777240" y="4965192"/>
            <a:ext cx="5120640" cy="274320"/>
          </a:xfrm>
          <a:prstGeom prst="rect">
            <a:avLst/>
          </a:prstGeom>
          <a:noFill/>
          <a:ln/>
        </p:spPr>
        <p:txBody>
          <a:bodyPr wrap="square" rtlCol="0" anchor="ctr"/>
          <a:lstStyle/>
          <a:p>
            <a:pPr indent="0" marL="0">
              <a:buNone/>
            </a:pPr>
            <a:r>
              <a:rPr lang="en-US" sz="1250" b="1" dirty="0">
                <a:solidFill>
                  <a:srgbClr val="161616"/>
                </a:solidFill>
                <a:latin typeface="Calibri" pitchFamily="34" charset="0"/>
                <a:ea typeface="Calibri" pitchFamily="34" charset="-122"/>
                <a:cs typeface="Calibri" pitchFamily="34" charset="-120"/>
              </a:rPr>
              <a:t>Limitations</a:t>
            </a:r>
            <a:endParaRPr lang="en-US" sz="1250" dirty="0"/>
          </a:p>
        </p:txBody>
      </p:sp>
      <p:sp>
        <p:nvSpPr>
          <p:cNvPr id="49" name="Text 47"/>
          <p:cNvSpPr/>
          <p:nvPr/>
        </p:nvSpPr>
        <p:spPr>
          <a:xfrm>
            <a:off x="777240" y="5266944"/>
            <a:ext cx="5212080" cy="914400"/>
          </a:xfrm>
          <a:prstGeom prst="rect">
            <a:avLst/>
          </a:prstGeom>
          <a:noFill/>
          <a:ln/>
        </p:spPr>
        <p:txBody>
          <a:bodyPr wrap="square" rtlCol="0" anchor="t"/>
          <a:lstStyle/>
          <a:p>
            <a:pPr marL="228600" indent="-228600">
              <a:spcAft>
                <a:spcPts val="500"/>
              </a:spcAft>
              <a:buSzPct val="100000"/>
              <a:buChar char="●"/>
            </a:pPr>
            <a:r>
              <a:rPr lang="en-US" sz="1050" dirty="0">
                <a:solidFill>
                  <a:srgbClr val="161616"/>
                </a:solidFill>
                <a:latin typeface="Calibri" pitchFamily="34" charset="0"/>
                <a:ea typeface="Calibri" pitchFamily="34" charset="-122"/>
                <a:cs typeface="Calibri" pitchFamily="34" charset="-120"/>
              </a:rPr>
              <a:t>Steeper learning curve for full authoring</a:t>
            </a:r>
            <a:endParaRPr lang="en-US" sz="1050" dirty="0"/>
          </a:p>
          <a:p>
            <a:pPr marL="228600" indent="-228600">
              <a:spcAft>
                <a:spcPts val="500"/>
              </a:spcAft>
              <a:buSzPct val="100000"/>
              <a:buChar char="●"/>
            </a:pPr>
            <a:r>
              <a:rPr lang="en-US" sz="1050" dirty="0">
                <a:solidFill>
                  <a:srgbClr val="161616"/>
                </a:solidFill>
                <a:latin typeface="Calibri" pitchFamily="34" charset="0"/>
                <a:ea typeface="Calibri" pitchFamily="34" charset="-122"/>
                <a:cs typeface="Calibri" pitchFamily="34" charset="-120"/>
              </a:rPr>
              <a:t>Heavier setup/administration than cloud-native tools</a:t>
            </a:r>
            <a:endParaRPr lang="en-US" sz="1050" dirty="0"/>
          </a:p>
        </p:txBody>
      </p:sp>
      <p:sp>
        <p:nvSpPr>
          <p:cNvPr id="50" name="Shape 48"/>
          <p:cNvSpPr/>
          <p:nvPr/>
        </p:nvSpPr>
        <p:spPr>
          <a:xfrm>
            <a:off x="6309360" y="4855464"/>
            <a:ext cx="5303520" cy="1371600"/>
          </a:xfrm>
          <a:prstGeom prst="roundRect">
            <a:avLst>
              <a:gd name="adj" fmla="val 5333"/>
            </a:avLst>
          </a:prstGeom>
          <a:solidFill>
            <a:srgbClr val="CFF6F1"/>
          </a:solidFill>
          <a:ln w="9525">
            <a:solidFill>
              <a:srgbClr val="E0E0E0"/>
            </a:solidFill>
            <a:prstDash val="solid"/>
          </a:ln>
        </p:spPr>
      </p:sp>
      <p:sp>
        <p:nvSpPr>
          <p:cNvPr id="51" name="Text 49"/>
          <p:cNvSpPr/>
          <p:nvPr/>
        </p:nvSpPr>
        <p:spPr>
          <a:xfrm>
            <a:off x="6537960" y="4965192"/>
            <a:ext cx="4846320" cy="274320"/>
          </a:xfrm>
          <a:prstGeom prst="rect">
            <a:avLst/>
          </a:prstGeom>
          <a:noFill/>
          <a:ln/>
        </p:spPr>
        <p:txBody>
          <a:bodyPr wrap="square" rtlCol="0" anchor="ctr"/>
          <a:lstStyle/>
          <a:p>
            <a:pPr indent="0" marL="0">
              <a:buNone/>
            </a:pPr>
            <a:r>
              <a:rPr lang="en-US" sz="1200" b="1" dirty="0">
                <a:solidFill>
                  <a:srgbClr val="007D79"/>
                </a:solidFill>
                <a:latin typeface="Calibri" pitchFamily="34" charset="0"/>
                <a:ea typeface="Calibri" pitchFamily="34" charset="-122"/>
                <a:cs typeface="Calibri" pitchFamily="34" charset="-120"/>
              </a:rPr>
              <a:t>When Power BI / Tableau May Fit Better</a:t>
            </a:r>
            <a:endParaRPr lang="en-US" sz="1200" dirty="0"/>
          </a:p>
        </p:txBody>
      </p:sp>
      <p:sp>
        <p:nvSpPr>
          <p:cNvPr id="52" name="Text 50"/>
          <p:cNvSpPr/>
          <p:nvPr/>
        </p:nvSpPr>
        <p:spPr>
          <a:xfrm>
            <a:off x="6537960" y="5266944"/>
            <a:ext cx="4846320" cy="914400"/>
          </a:xfrm>
          <a:prstGeom prst="rect">
            <a:avLst/>
          </a:prstGeom>
          <a:noFill/>
          <a:ln/>
        </p:spPr>
        <p:txBody>
          <a:bodyPr wrap="square" rtlCol="0" anchor="t"/>
          <a:lstStyle/>
          <a:p>
            <a:pPr marL="228600" indent="-228600">
              <a:spcAft>
                <a:spcPts val="500"/>
              </a:spcAft>
              <a:buSzPct val="100000"/>
              <a:buChar char="●"/>
            </a:pPr>
            <a:r>
              <a:rPr lang="en-US" sz="1050" dirty="0">
                <a:solidFill>
                  <a:srgbClr val="161616"/>
                </a:solidFill>
                <a:latin typeface="Calibri" pitchFamily="34" charset="0"/>
                <a:ea typeface="Calibri" pitchFamily="34" charset="-122"/>
                <a:cs typeface="Calibri" pitchFamily="34" charset="-120"/>
              </a:rPr>
              <a:t>Small teams wanting fast, visual-first self-service</a:t>
            </a:r>
            <a:endParaRPr lang="en-US" sz="1050" dirty="0"/>
          </a:p>
          <a:p>
            <a:pPr marL="228600" indent="-228600">
              <a:spcAft>
                <a:spcPts val="500"/>
              </a:spcAft>
              <a:buSzPct val="100000"/>
              <a:buChar char="●"/>
            </a:pPr>
            <a:r>
              <a:rPr lang="en-US" sz="1050" dirty="0">
                <a:solidFill>
                  <a:srgbClr val="161616"/>
                </a:solidFill>
                <a:latin typeface="Calibri" pitchFamily="34" charset="0"/>
                <a:ea typeface="Calibri" pitchFamily="34" charset="-122"/>
                <a:cs typeface="Calibri" pitchFamily="34" charset="-120"/>
              </a:rPr>
              <a:t>Organizations already standardized on those ecosystems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1141"/>
        </a:solidFill>
      </p:bgPr>
    </p:bg>
    <p:spTree>
      <p:nvGrpSpPr>
        <p:cNvPr id="1" name=""/>
        <p:cNvGrpSpPr/>
        <p:nvPr/>
      </p:nvGrpSpPr>
      <p:grpSpPr>
        <a:xfrm>
          <a:off x="0" y="0"/>
          <a:ext cx="0" cy="0"/>
          <a:chOff x="0" y="0"/>
          <a:chExt cx="0" cy="0"/>
        </a:xfrm>
      </p:grpSpPr>
      <p:sp>
        <p:nvSpPr>
          <p:cNvPr id="2" name="Shape 0"/>
          <p:cNvSpPr/>
          <p:nvPr/>
        </p:nvSpPr>
        <p:spPr>
          <a:xfrm>
            <a:off x="9692640" y="-1188720"/>
            <a:ext cx="3840480" cy="3840480"/>
          </a:xfrm>
          <a:prstGeom prst="ellipse">
            <a:avLst/>
          </a:prstGeom>
          <a:solidFill>
            <a:srgbClr val="0043CE"/>
          </a:solidFill>
          <a:ln/>
        </p:spPr>
      </p:sp>
      <p:sp>
        <p:nvSpPr>
          <p:cNvPr id="3" name="Shape 1"/>
          <p:cNvSpPr/>
          <p:nvPr/>
        </p:nvSpPr>
        <p:spPr>
          <a:xfrm>
            <a:off x="-1097280" y="5303520"/>
            <a:ext cx="2377440" cy="2377440"/>
          </a:xfrm>
          <a:prstGeom prst="ellipse">
            <a:avLst/>
          </a:prstGeom>
          <a:solidFill>
            <a:srgbClr val="0043CE"/>
          </a:solidFill>
          <a:ln/>
        </p:spPr>
      </p:sp>
      <p:sp>
        <p:nvSpPr>
          <p:cNvPr id="4" name="Text 2"/>
          <p:cNvSpPr/>
          <p:nvPr/>
        </p:nvSpPr>
        <p:spPr>
          <a:xfrm>
            <a:off x="548640" y="365760"/>
            <a:ext cx="105156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Best Practices, Career Scope &amp; Q&amp;A</a:t>
            </a:r>
            <a:endParaRPr lang="en-US" sz="2800" dirty="0"/>
          </a:p>
        </p:txBody>
      </p:sp>
      <p:sp>
        <p:nvSpPr>
          <p:cNvPr id="5" name="Shape 3"/>
          <p:cNvSpPr/>
          <p:nvPr/>
        </p:nvSpPr>
        <p:spPr>
          <a:xfrm>
            <a:off x="548640" y="1051560"/>
            <a:ext cx="11064240" cy="18288"/>
          </a:xfrm>
          <a:prstGeom prst="rect">
            <a:avLst/>
          </a:prstGeom>
          <a:solidFill>
            <a:srgbClr val="0043CE"/>
          </a:solidFill>
          <a:ln/>
        </p:spPr>
      </p:sp>
      <p:sp>
        <p:nvSpPr>
          <p:cNvPr id="6" name="Text 4"/>
          <p:cNvSpPr/>
          <p:nvPr/>
        </p:nvSpPr>
        <p:spPr>
          <a:xfrm>
            <a:off x="548640" y="1234440"/>
            <a:ext cx="3657600" cy="320040"/>
          </a:xfrm>
          <a:prstGeom prst="rect">
            <a:avLst/>
          </a:prstGeom>
          <a:noFill/>
          <a:ln/>
        </p:spPr>
        <p:txBody>
          <a:bodyPr wrap="square" rtlCol="0" anchor="ctr"/>
          <a:lstStyle/>
          <a:p>
            <a:pPr indent="0" marL="0">
              <a:buNone/>
            </a:pPr>
            <a:r>
              <a:rPr lang="en-US" sz="1400" b="1" dirty="0">
                <a:solidFill>
                  <a:srgbClr val="0F62FE"/>
                </a:solidFill>
                <a:latin typeface="Calibri" pitchFamily="34" charset="0"/>
                <a:ea typeface="Calibri" pitchFamily="34" charset="-122"/>
                <a:cs typeface="Calibri" pitchFamily="34" charset="-120"/>
              </a:rPr>
              <a:t>Best Practices</a:t>
            </a:r>
            <a:endParaRPr lang="en-US" sz="1400" dirty="0"/>
          </a:p>
        </p:txBody>
      </p:sp>
      <p:sp>
        <p:nvSpPr>
          <p:cNvPr id="7" name="Text 5"/>
          <p:cNvSpPr/>
          <p:nvPr/>
        </p:nvSpPr>
        <p:spPr>
          <a:xfrm>
            <a:off x="548640" y="1600200"/>
            <a:ext cx="3657600" cy="2194560"/>
          </a:xfrm>
          <a:prstGeom prst="rect">
            <a:avLst/>
          </a:prstGeom>
          <a:noFill/>
          <a:ln/>
        </p:spPr>
        <p:txBody>
          <a:bodyPr wrap="square" rtlCol="0" anchor="t"/>
          <a:lstStyle/>
          <a:p>
            <a:pPr marL="228600" indent="-228600">
              <a:spcAft>
                <a:spcPts val="800"/>
              </a:spcAft>
              <a:buSzPct val="100000"/>
              <a:buChar char="●"/>
            </a:pPr>
            <a:r>
              <a:rPr lang="en-US" sz="1100" dirty="0">
                <a:solidFill>
                  <a:srgbClr val="E0E0E0"/>
                </a:solidFill>
                <a:latin typeface="Calibri" pitchFamily="34" charset="0"/>
                <a:ea typeface="Calibri" pitchFamily="34" charset="-122"/>
                <a:cs typeface="Calibri" pitchFamily="34" charset="-120"/>
              </a:rPr>
              <a:t>Model once in Framework Manager/Data Modules, reuse everywhere</a:t>
            </a:r>
            <a:endParaRPr lang="en-US" sz="1100" dirty="0"/>
          </a:p>
          <a:p>
            <a:pPr marL="228600" indent="-228600">
              <a:spcAft>
                <a:spcPts val="800"/>
              </a:spcAft>
              <a:buSzPct val="100000"/>
              <a:buChar char="●"/>
            </a:pPr>
            <a:r>
              <a:rPr lang="en-US" sz="1100" dirty="0">
                <a:solidFill>
                  <a:srgbClr val="E0E0E0"/>
                </a:solidFill>
                <a:latin typeface="Calibri" pitchFamily="34" charset="0"/>
                <a:ea typeface="Calibri" pitchFamily="34" charset="-122"/>
                <a:cs typeface="Calibri" pitchFamily="34" charset="-120"/>
              </a:rPr>
              <a:t>Apply row-level security instead of duplicating reports per region</a:t>
            </a:r>
            <a:endParaRPr lang="en-US" sz="1100" dirty="0"/>
          </a:p>
          <a:p>
            <a:pPr marL="228600" indent="-228600">
              <a:spcAft>
                <a:spcPts val="800"/>
              </a:spcAft>
              <a:buSzPct val="100000"/>
              <a:buChar char="●"/>
            </a:pPr>
            <a:r>
              <a:rPr lang="en-US" sz="1100" dirty="0">
                <a:solidFill>
                  <a:srgbClr val="E0E0E0"/>
                </a:solidFill>
                <a:latin typeface="Calibri" pitchFamily="34" charset="0"/>
                <a:ea typeface="Calibri" pitchFamily="34" charset="-122"/>
                <a:cs typeface="Calibri" pitchFamily="34" charset="-120"/>
              </a:rPr>
              <a:t>Use prompts &amp; filters to keep queries fast</a:t>
            </a:r>
            <a:endParaRPr lang="en-US" sz="1100" dirty="0"/>
          </a:p>
          <a:p>
            <a:pPr marL="228600" indent="-228600">
              <a:spcAft>
                <a:spcPts val="800"/>
              </a:spcAft>
              <a:buSzPct val="100000"/>
              <a:buChar char="●"/>
            </a:pPr>
            <a:r>
              <a:rPr lang="en-US" sz="1100" dirty="0">
                <a:solidFill>
                  <a:srgbClr val="E0E0E0"/>
                </a:solidFill>
                <a:latin typeface="Calibri" pitchFamily="34" charset="0"/>
                <a:ea typeface="Calibri" pitchFamily="34" charset="-122"/>
                <a:cs typeface="Calibri" pitchFamily="34" charset="-120"/>
              </a:rPr>
              <a:t>Document packages and schedules for handover</a:t>
            </a:r>
            <a:endParaRPr lang="en-US" sz="1100" dirty="0"/>
          </a:p>
        </p:txBody>
      </p:sp>
      <p:sp>
        <p:nvSpPr>
          <p:cNvPr id="8" name="Text 6"/>
          <p:cNvSpPr/>
          <p:nvPr/>
        </p:nvSpPr>
        <p:spPr>
          <a:xfrm>
            <a:off x="4480560" y="1234440"/>
            <a:ext cx="3657600" cy="320040"/>
          </a:xfrm>
          <a:prstGeom prst="rect">
            <a:avLst/>
          </a:prstGeom>
          <a:noFill/>
          <a:ln/>
        </p:spPr>
        <p:txBody>
          <a:bodyPr wrap="square" rtlCol="0" anchor="ctr"/>
          <a:lstStyle/>
          <a:p>
            <a:pPr indent="0" marL="0">
              <a:buNone/>
            </a:pPr>
            <a:r>
              <a:rPr lang="en-US" sz="1400" b="1" dirty="0">
                <a:solidFill>
                  <a:srgbClr val="0F62FE"/>
                </a:solidFill>
                <a:latin typeface="Calibri" pitchFamily="34" charset="0"/>
                <a:ea typeface="Calibri" pitchFamily="34" charset="-122"/>
                <a:cs typeface="Calibri" pitchFamily="34" charset="-120"/>
              </a:rPr>
              <a:t>Common Interview Questions</a:t>
            </a:r>
            <a:endParaRPr lang="en-US" sz="1400" dirty="0"/>
          </a:p>
        </p:txBody>
      </p:sp>
      <p:sp>
        <p:nvSpPr>
          <p:cNvPr id="9" name="Text 7"/>
          <p:cNvSpPr/>
          <p:nvPr/>
        </p:nvSpPr>
        <p:spPr>
          <a:xfrm>
            <a:off x="4480560" y="1600200"/>
            <a:ext cx="3657600" cy="2194560"/>
          </a:xfrm>
          <a:prstGeom prst="rect">
            <a:avLst/>
          </a:prstGeom>
          <a:noFill/>
          <a:ln/>
        </p:spPr>
        <p:txBody>
          <a:bodyPr wrap="square" rtlCol="0" anchor="t"/>
          <a:lstStyle/>
          <a:p>
            <a:pPr marL="228600" indent="-228600">
              <a:spcAft>
                <a:spcPts val="800"/>
              </a:spcAft>
              <a:buSzPct val="100000"/>
              <a:buChar char="●"/>
            </a:pPr>
            <a:r>
              <a:rPr lang="en-US" sz="1100" dirty="0">
                <a:solidFill>
                  <a:srgbClr val="E0E0E0"/>
                </a:solidFill>
                <a:latin typeface="Calibri" pitchFamily="34" charset="0"/>
                <a:ea typeface="Calibri" pitchFamily="34" charset="-122"/>
                <a:cs typeface="Calibri" pitchFamily="34" charset="-120"/>
              </a:rPr>
              <a:t>"Explain the Cognos architecture end-to-end."</a:t>
            </a:r>
            <a:endParaRPr lang="en-US" sz="1100" dirty="0"/>
          </a:p>
          <a:p>
            <a:pPr marL="228600" indent="-228600">
              <a:spcAft>
                <a:spcPts val="800"/>
              </a:spcAft>
              <a:buSzPct val="100000"/>
              <a:buChar char="●"/>
            </a:pPr>
            <a:r>
              <a:rPr lang="en-US" sz="1100" dirty="0">
                <a:solidFill>
                  <a:srgbClr val="E0E0E0"/>
                </a:solidFill>
                <a:latin typeface="Calibri" pitchFamily="34" charset="0"/>
                <a:ea typeface="Calibri" pitchFamily="34" charset="-122"/>
                <a:cs typeface="Calibri" pitchFamily="34" charset="-120"/>
              </a:rPr>
              <a:t>"Difference between Framework Manager and Data Modules?"</a:t>
            </a:r>
            <a:endParaRPr lang="en-US" sz="1100" dirty="0"/>
          </a:p>
          <a:p>
            <a:pPr marL="228600" indent="-228600">
              <a:spcAft>
                <a:spcPts val="800"/>
              </a:spcAft>
              <a:buSzPct val="100000"/>
              <a:buChar char="●"/>
            </a:pPr>
            <a:r>
              <a:rPr lang="en-US" sz="1100" dirty="0">
                <a:solidFill>
                  <a:srgbClr val="E0E0E0"/>
                </a:solidFill>
                <a:latin typeface="Calibri" pitchFamily="34" charset="0"/>
                <a:ea typeface="Calibri" pitchFamily="34" charset="-122"/>
                <a:cs typeface="Calibri" pitchFamily="34" charset="-120"/>
              </a:rPr>
              <a:t>"How does row-level security work?"</a:t>
            </a:r>
            <a:endParaRPr lang="en-US" sz="1100" dirty="0"/>
          </a:p>
          <a:p>
            <a:pPr marL="228600" indent="-228600">
              <a:spcAft>
                <a:spcPts val="800"/>
              </a:spcAft>
              <a:buSzPct val="100000"/>
              <a:buChar char="●"/>
            </a:pPr>
            <a:r>
              <a:rPr lang="en-US" sz="1100" dirty="0">
                <a:solidFill>
                  <a:srgbClr val="E0E0E0"/>
                </a:solidFill>
                <a:latin typeface="Calibri" pitchFamily="34" charset="0"/>
                <a:ea typeface="Calibri" pitchFamily="34" charset="-122"/>
                <a:cs typeface="Calibri" pitchFamily="34" charset="-120"/>
              </a:rPr>
              <a:t>"What is bursting and when would you use it?"</a:t>
            </a:r>
            <a:endParaRPr lang="en-US" sz="1100" dirty="0"/>
          </a:p>
        </p:txBody>
      </p:sp>
      <p:sp>
        <p:nvSpPr>
          <p:cNvPr id="10" name="Text 8"/>
          <p:cNvSpPr/>
          <p:nvPr/>
        </p:nvSpPr>
        <p:spPr>
          <a:xfrm>
            <a:off x="8412480" y="1234440"/>
            <a:ext cx="3200400" cy="320040"/>
          </a:xfrm>
          <a:prstGeom prst="rect">
            <a:avLst/>
          </a:prstGeom>
          <a:noFill/>
          <a:ln/>
        </p:spPr>
        <p:txBody>
          <a:bodyPr wrap="square" rtlCol="0" anchor="ctr"/>
          <a:lstStyle/>
          <a:p>
            <a:pPr indent="0" marL="0">
              <a:buNone/>
            </a:pPr>
            <a:r>
              <a:rPr lang="en-US" sz="1400" b="1" dirty="0">
                <a:solidFill>
                  <a:srgbClr val="0F62FE"/>
                </a:solidFill>
                <a:latin typeface="Calibri" pitchFamily="34" charset="0"/>
                <a:ea typeface="Calibri" pitchFamily="34" charset="-122"/>
                <a:cs typeface="Calibri" pitchFamily="34" charset="-120"/>
              </a:rPr>
              <a:t>Career Roadmap</a:t>
            </a:r>
            <a:endParaRPr lang="en-US" sz="1400" dirty="0"/>
          </a:p>
        </p:txBody>
      </p:sp>
      <p:sp>
        <p:nvSpPr>
          <p:cNvPr id="11" name="Text 9"/>
          <p:cNvSpPr/>
          <p:nvPr/>
        </p:nvSpPr>
        <p:spPr>
          <a:xfrm>
            <a:off x="8412480" y="1627632"/>
            <a:ext cx="3291840" cy="365760"/>
          </a:xfrm>
          <a:prstGeom prst="rect">
            <a:avLst/>
          </a:prstGeom>
          <a:noFill/>
          <a:ln/>
        </p:spPr>
        <p:txBody>
          <a:bodyPr wrap="square" rtlCol="0" anchor="ctr"/>
          <a:lstStyle/>
          <a:p>
            <a:pPr indent="0" marL="0">
              <a:buNone/>
            </a:pPr>
            <a:r>
              <a:rPr lang="en-US" sz="1150" dirty="0">
                <a:solidFill>
                  <a:srgbClr val="E0E0E0"/>
                </a:solidFill>
                <a:latin typeface="Calibri" pitchFamily="34" charset="0"/>
                <a:ea typeface="Calibri" pitchFamily="34" charset="-122"/>
                <a:cs typeface="Calibri" pitchFamily="34" charset="-120"/>
              </a:rPr>
              <a:t>1. Report Author</a:t>
            </a:r>
            <a:endParaRPr lang="en-US" sz="1150" dirty="0"/>
          </a:p>
        </p:txBody>
      </p:sp>
      <p:sp>
        <p:nvSpPr>
          <p:cNvPr id="12" name="Text 10"/>
          <p:cNvSpPr/>
          <p:nvPr/>
        </p:nvSpPr>
        <p:spPr>
          <a:xfrm>
            <a:off x="8412480" y="2084832"/>
            <a:ext cx="3291840" cy="365760"/>
          </a:xfrm>
          <a:prstGeom prst="rect">
            <a:avLst/>
          </a:prstGeom>
          <a:noFill/>
          <a:ln/>
        </p:spPr>
        <p:txBody>
          <a:bodyPr wrap="square" rtlCol="0" anchor="ctr"/>
          <a:lstStyle/>
          <a:p>
            <a:pPr indent="0" marL="0">
              <a:buNone/>
            </a:pPr>
            <a:r>
              <a:rPr lang="en-US" sz="1150" dirty="0">
                <a:solidFill>
                  <a:srgbClr val="E0E0E0"/>
                </a:solidFill>
                <a:latin typeface="Calibri" pitchFamily="34" charset="0"/>
                <a:ea typeface="Calibri" pitchFamily="34" charset="-122"/>
                <a:cs typeface="Calibri" pitchFamily="34" charset="-120"/>
              </a:rPr>
              <a:t>2. BI Developer</a:t>
            </a:r>
            <a:endParaRPr lang="en-US" sz="1150" dirty="0"/>
          </a:p>
        </p:txBody>
      </p:sp>
      <p:sp>
        <p:nvSpPr>
          <p:cNvPr id="13" name="Text 11"/>
          <p:cNvSpPr/>
          <p:nvPr/>
        </p:nvSpPr>
        <p:spPr>
          <a:xfrm>
            <a:off x="8412480" y="2542032"/>
            <a:ext cx="3291840" cy="365760"/>
          </a:xfrm>
          <a:prstGeom prst="rect">
            <a:avLst/>
          </a:prstGeom>
          <a:noFill/>
          <a:ln/>
        </p:spPr>
        <p:txBody>
          <a:bodyPr wrap="square" rtlCol="0" anchor="ctr"/>
          <a:lstStyle/>
          <a:p>
            <a:pPr indent="0" marL="0">
              <a:buNone/>
            </a:pPr>
            <a:r>
              <a:rPr lang="en-US" sz="1150" dirty="0">
                <a:solidFill>
                  <a:srgbClr val="E0E0E0"/>
                </a:solidFill>
                <a:latin typeface="Calibri" pitchFamily="34" charset="0"/>
                <a:ea typeface="Calibri" pitchFamily="34" charset="-122"/>
                <a:cs typeface="Calibri" pitchFamily="34" charset="-120"/>
              </a:rPr>
              <a:t>3. Cognos Administrator</a:t>
            </a:r>
            <a:endParaRPr lang="en-US" sz="1150" dirty="0"/>
          </a:p>
        </p:txBody>
      </p:sp>
      <p:sp>
        <p:nvSpPr>
          <p:cNvPr id="14" name="Text 12"/>
          <p:cNvSpPr/>
          <p:nvPr/>
        </p:nvSpPr>
        <p:spPr>
          <a:xfrm>
            <a:off x="8412480" y="2999232"/>
            <a:ext cx="3291840" cy="365760"/>
          </a:xfrm>
          <a:prstGeom prst="rect">
            <a:avLst/>
          </a:prstGeom>
          <a:noFill/>
          <a:ln/>
        </p:spPr>
        <p:txBody>
          <a:bodyPr wrap="square" rtlCol="0" anchor="ctr"/>
          <a:lstStyle/>
          <a:p>
            <a:pPr indent="0" marL="0">
              <a:buNone/>
            </a:pPr>
            <a:r>
              <a:rPr lang="en-US" sz="1150" b="1" dirty="0">
                <a:solidFill>
                  <a:srgbClr val="E0E0E0"/>
                </a:solidFill>
                <a:latin typeface="Calibri" pitchFamily="34" charset="0"/>
                <a:ea typeface="Calibri" pitchFamily="34" charset="-122"/>
                <a:cs typeface="Calibri" pitchFamily="34" charset="-120"/>
              </a:rPr>
              <a:t>4. BI Architect / Lead</a:t>
            </a:r>
            <a:endParaRPr lang="en-US" sz="1150" dirty="0"/>
          </a:p>
        </p:txBody>
      </p:sp>
      <p:sp>
        <p:nvSpPr>
          <p:cNvPr id="15" name="Shape 13"/>
          <p:cNvSpPr/>
          <p:nvPr/>
        </p:nvSpPr>
        <p:spPr>
          <a:xfrm>
            <a:off x="548640" y="3977640"/>
            <a:ext cx="11064240" cy="0"/>
          </a:xfrm>
          <a:prstGeom prst="line">
            <a:avLst/>
          </a:prstGeom>
          <a:noFill/>
          <a:ln w="12700">
            <a:solidFill>
              <a:srgbClr val="0043CE"/>
            </a:solidFill>
            <a:prstDash val="solid"/>
          </a:ln>
        </p:spPr>
      </p:sp>
      <p:sp>
        <p:nvSpPr>
          <p:cNvPr id="16" name="Text 14"/>
          <p:cNvSpPr/>
          <p:nvPr/>
        </p:nvSpPr>
        <p:spPr>
          <a:xfrm>
            <a:off x="548640" y="4114800"/>
            <a:ext cx="5029200" cy="320040"/>
          </a:xfrm>
          <a:prstGeom prst="rect">
            <a:avLst/>
          </a:prstGeom>
          <a:noFill/>
          <a:ln/>
        </p:spPr>
        <p:txBody>
          <a:bodyPr wrap="square" rtlCol="0" anchor="ctr"/>
          <a:lstStyle/>
          <a:p>
            <a:pPr indent="0" marL="0">
              <a:buNone/>
            </a:pPr>
            <a:r>
              <a:rPr lang="en-US" sz="1400" b="1" dirty="0">
                <a:solidFill>
                  <a:srgbClr val="0F62FE"/>
                </a:solidFill>
                <a:latin typeface="Calibri" pitchFamily="34" charset="0"/>
                <a:ea typeface="Calibri" pitchFamily="34" charset="-122"/>
                <a:cs typeface="Calibri" pitchFamily="34" charset="-120"/>
              </a:rPr>
              <a:t>Learning Resources</a:t>
            </a:r>
            <a:endParaRPr lang="en-US" sz="1400" dirty="0"/>
          </a:p>
        </p:txBody>
      </p:sp>
      <p:sp>
        <p:nvSpPr>
          <p:cNvPr id="17" name="Text 15"/>
          <p:cNvSpPr/>
          <p:nvPr/>
        </p:nvSpPr>
        <p:spPr>
          <a:xfrm>
            <a:off x="548640" y="4480560"/>
            <a:ext cx="5120640" cy="1280160"/>
          </a:xfrm>
          <a:prstGeom prst="rect">
            <a:avLst/>
          </a:prstGeom>
          <a:noFill/>
          <a:ln/>
        </p:spPr>
        <p:txBody>
          <a:bodyPr wrap="square" rtlCol="0" anchor="t"/>
          <a:lstStyle/>
          <a:p>
            <a:pPr marL="228600" indent="-228600">
              <a:spcAft>
                <a:spcPts val="600"/>
              </a:spcAft>
              <a:buSzPct val="100000"/>
              <a:buChar char="●"/>
            </a:pPr>
            <a:r>
              <a:rPr lang="en-US" sz="1100" dirty="0">
                <a:solidFill>
                  <a:srgbClr val="E0E0E0"/>
                </a:solidFill>
                <a:latin typeface="Calibri" pitchFamily="34" charset="0"/>
                <a:ea typeface="Calibri" pitchFamily="34" charset="-122"/>
                <a:cs typeface="Calibri" pitchFamily="34" charset="-120"/>
              </a:rPr>
              <a:t>IBM Documentation (ibm.com/docs/cognos-analytics)</a:t>
            </a:r>
            <a:endParaRPr lang="en-US" sz="1100" dirty="0"/>
          </a:p>
          <a:p>
            <a:pPr marL="228600" indent="-228600">
              <a:spcAft>
                <a:spcPts val="600"/>
              </a:spcAft>
              <a:buSzPct val="100000"/>
              <a:buChar char="●"/>
            </a:pPr>
            <a:r>
              <a:rPr lang="en-US" sz="1100" dirty="0">
                <a:solidFill>
                  <a:srgbClr val="E0E0E0"/>
                </a:solidFill>
                <a:latin typeface="Calibri" pitchFamily="34" charset="0"/>
                <a:ea typeface="Calibri" pitchFamily="34" charset="-122"/>
                <a:cs typeface="Calibri" pitchFamily="34" charset="-120"/>
              </a:rPr>
              <a:t>IBM Cognos Analytics Community forums</a:t>
            </a:r>
            <a:endParaRPr lang="en-US" sz="1100" dirty="0"/>
          </a:p>
          <a:p>
            <a:pPr marL="228600" indent="-228600">
              <a:spcAft>
                <a:spcPts val="600"/>
              </a:spcAft>
              <a:buSzPct val="100000"/>
              <a:buChar char="●"/>
            </a:pPr>
            <a:r>
              <a:rPr lang="en-US" sz="1100" dirty="0">
                <a:solidFill>
                  <a:srgbClr val="E0E0E0"/>
                </a:solidFill>
                <a:latin typeface="Calibri" pitchFamily="34" charset="0"/>
                <a:ea typeface="Calibri" pitchFamily="34" charset="-122"/>
                <a:cs typeface="Calibri" pitchFamily="34" charset="-120"/>
              </a:rPr>
              <a:t>Internal KT recordings and this deck</a:t>
            </a:r>
            <a:endParaRPr lang="en-US" sz="1100" dirty="0"/>
          </a:p>
        </p:txBody>
      </p:sp>
      <p:sp>
        <p:nvSpPr>
          <p:cNvPr id="18" name="Shape 16"/>
          <p:cNvSpPr/>
          <p:nvPr/>
        </p:nvSpPr>
        <p:spPr>
          <a:xfrm>
            <a:off x="6126480" y="4114800"/>
            <a:ext cx="5486400" cy="2148840"/>
          </a:xfrm>
          <a:prstGeom prst="roundRect">
            <a:avLst>
              <a:gd name="adj" fmla="val 3404"/>
            </a:avLst>
          </a:prstGeom>
          <a:solidFill>
            <a:srgbClr val="0A2050"/>
          </a:solidFill>
          <a:ln w="9525">
            <a:solidFill>
              <a:srgbClr val="E0E0E0"/>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6355080" y="4315968"/>
            <a:ext cx="640080" cy="640080"/>
          </a:xfrm>
          <a:prstGeom prst="ellipse">
            <a:avLst/>
          </a:prstGeom>
          <a:solidFill>
            <a:srgbClr val="0F62FE"/>
          </a:solidFill>
          <a:ln/>
        </p:spPr>
      </p:sp>
      <p:pic>
        <p:nvPicPr>
          <p:cNvPr id="20" name="Image 0" descr="/home/claude/icons/question_FFFFFF.png">    </p:cNvPr>
          <p:cNvPicPr>
            <a:picLocks noChangeAspect="1"/>
          </p:cNvPicPr>
          <p:nvPr/>
        </p:nvPicPr>
        <p:blipFill>
          <a:blip r:embed="rId1"/>
          <a:stretch>
            <a:fillRect/>
          </a:stretch>
        </p:blipFill>
        <p:spPr>
          <a:xfrm>
            <a:off x="6521501" y="4482389"/>
            <a:ext cx="307238" cy="307238"/>
          </a:xfrm>
          <a:prstGeom prst="rect">
            <a:avLst/>
          </a:prstGeom>
        </p:spPr>
      </p:pic>
      <p:sp>
        <p:nvSpPr>
          <p:cNvPr id="21" name="Text 18"/>
          <p:cNvSpPr/>
          <p:nvPr/>
        </p:nvSpPr>
        <p:spPr>
          <a:xfrm>
            <a:off x="7132320" y="4370832"/>
            <a:ext cx="429768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Questions &amp; Discussion</a:t>
            </a:r>
            <a:endParaRPr lang="en-US" sz="1500" dirty="0"/>
          </a:p>
        </p:txBody>
      </p:sp>
      <p:sp>
        <p:nvSpPr>
          <p:cNvPr id="22" name="Text 19"/>
          <p:cNvSpPr/>
          <p:nvPr/>
        </p:nvSpPr>
        <p:spPr>
          <a:xfrm>
            <a:off x="6355080" y="4892040"/>
            <a:ext cx="5029200" cy="1188720"/>
          </a:xfrm>
          <a:prstGeom prst="rect">
            <a:avLst/>
          </a:prstGeom>
          <a:noFill/>
          <a:ln/>
        </p:spPr>
        <p:txBody>
          <a:bodyPr wrap="square" rtlCol="0" anchor="t"/>
          <a:lstStyle/>
          <a:p>
            <a:pPr indent="0" marL="0">
              <a:buNone/>
            </a:pPr>
            <a:r>
              <a:rPr lang="en-US" sz="1150" dirty="0">
                <a:solidFill>
                  <a:srgbClr val="E0E0E0"/>
                </a:solidFill>
                <a:latin typeface="Calibri" pitchFamily="34" charset="0"/>
                <a:ea typeface="Calibri" pitchFamily="34" charset="-122"/>
                <a:cs typeface="Calibri" pitchFamily="34" charset="-120"/>
              </a:rPr>
              <a:t>Thank you for attending! Feel free to ask questions now, or reach out afterward for follow-up sessions on hands-on report or dashboard building.</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2026-09-14T18:18:00Z</dcterms:created>
  <dcterms:modified xsi:type="dcterms:W3CDTF">2026-09-14T18:18:00Z</dcterms:modified>
</cp:coreProperties>
</file>